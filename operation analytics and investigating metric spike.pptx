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sldIdLst>
    <p:sldId id="257" r:id="rId2"/>
    <p:sldId id="274" r:id="rId3"/>
    <p:sldId id="263" r:id="rId4"/>
    <p:sldId id="279" r:id="rId5"/>
    <p:sldId id="285" r:id="rId6"/>
    <p:sldId id="276" r:id="rId7"/>
    <p:sldId id="280" r:id="rId8"/>
    <p:sldId id="277" r:id="rId9"/>
    <p:sldId id="281" r:id="rId10"/>
    <p:sldId id="282" r:id="rId11"/>
    <p:sldId id="283" r:id="rId12"/>
    <p:sldId id="284" r:id="rId13"/>
    <p:sldId id="286" r:id="rId14"/>
    <p:sldId id="287" r:id="rId15"/>
    <p:sldId id="289" r:id="rId16"/>
    <p:sldId id="288" r:id="rId17"/>
    <p:sldId id="290" r:id="rId18"/>
    <p:sldId id="292" r:id="rId19"/>
    <p:sldId id="291" r:id="rId20"/>
    <p:sldId id="298" r:id="rId21"/>
    <p:sldId id="299" r:id="rId22"/>
    <p:sldId id="300" r:id="rId23"/>
    <p:sldId id="293" r:id="rId24"/>
    <p:sldId id="302" r:id="rId25"/>
    <p:sldId id="301" r:id="rId26"/>
    <p:sldId id="294" r:id="rId27"/>
    <p:sldId id="296" r:id="rId28"/>
    <p:sldId id="295" r:id="rId29"/>
    <p:sldId id="309" r:id="rId30"/>
    <p:sldId id="297" r:id="rId31"/>
    <p:sldId id="303" r:id="rId32"/>
    <p:sldId id="304" r:id="rId33"/>
    <p:sldId id="305" r:id="rId34"/>
    <p:sldId id="312" r:id="rId35"/>
    <p:sldId id="317" r:id="rId36"/>
    <p:sldId id="310" r:id="rId37"/>
    <p:sldId id="311" r:id="rId38"/>
    <p:sldId id="308" r:id="rId39"/>
    <p:sldId id="313" r:id="rId40"/>
    <p:sldId id="306" r:id="rId41"/>
    <p:sldId id="314" r:id="rId42"/>
    <p:sldId id="260" r:id="rId43"/>
    <p:sldId id="262" r:id="rId44"/>
    <p:sldId id="316" r:id="rId45"/>
    <p:sldId id="318" r:id="rId46"/>
    <p:sldId id="319" r:id="rId47"/>
    <p:sldId id="320" r:id="rId48"/>
    <p:sldId id="26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40" userDrawn="1">
          <p15:clr>
            <a:srgbClr val="A4A3A4"/>
          </p15:clr>
        </p15:guide>
        <p15:guide id="6" orient="horz" pos="144" userDrawn="1">
          <p15:clr>
            <a:srgbClr val="A4A3A4"/>
          </p15:clr>
        </p15:guide>
        <p15:guide id="7" orient="horz" pos="4104" userDrawn="1">
          <p15:clr>
            <a:srgbClr val="A4A3A4"/>
          </p15:clr>
        </p15:guide>
        <p15:guide id="8" pos="7440" userDrawn="1">
          <p15:clr>
            <a:srgbClr val="A4A3A4"/>
          </p15:clr>
        </p15:guide>
        <p15:guide id="13" orient="horz" pos="1512" userDrawn="1">
          <p15:clr>
            <a:srgbClr val="A4A3A4"/>
          </p15:clr>
        </p15:guide>
        <p15:guide id="17" orient="horz" pos="2376" userDrawn="1">
          <p15:clr>
            <a:srgbClr val="A4A3A4"/>
          </p15:clr>
        </p15:guide>
        <p15:guide id="18" pos="4824" userDrawn="1">
          <p15:clr>
            <a:srgbClr val="A4A3A4"/>
          </p15:clr>
        </p15:guide>
        <p15:guide id="20" pos="2016" userDrawn="1">
          <p15:clr>
            <a:srgbClr val="A4A3A4"/>
          </p15:clr>
        </p15:guide>
        <p15:guide id="21" orient="horz" pos="1680" userDrawn="1">
          <p15:clr>
            <a:srgbClr val="A4A3A4"/>
          </p15:clr>
        </p15:guide>
        <p15:guide id="22" orient="horz" pos="1008" userDrawn="1">
          <p15:clr>
            <a:srgbClr val="A4A3A4"/>
          </p15:clr>
        </p15:guide>
        <p15:guide id="23" pos="408" userDrawn="1">
          <p15:clr>
            <a:srgbClr val="A4A3A4"/>
          </p15:clr>
        </p15:guide>
        <p15:guide id="24" orient="horz" pos="792" userDrawn="1">
          <p15:clr>
            <a:srgbClr val="A4A3A4"/>
          </p15:clr>
        </p15:guide>
        <p15:guide id="25" orient="horz" pos="2760" userDrawn="1">
          <p15:clr>
            <a:srgbClr val="A4A3A4"/>
          </p15:clr>
        </p15:guide>
        <p15:guide id="26" orient="horz" pos="3024" userDrawn="1">
          <p15:clr>
            <a:srgbClr val="A4A3A4"/>
          </p15:clr>
        </p15:guide>
        <p15:guide id="27" pos="3840" userDrawn="1">
          <p15:clr>
            <a:srgbClr val="A4A3A4"/>
          </p15:clr>
        </p15:guide>
        <p15:guide id="28" orient="horz" pos="22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9CAB"/>
    <a:srgbClr val="A0A8B5"/>
    <a:srgbClr val="DBDBDB"/>
    <a:srgbClr val="AFBBBD"/>
    <a:srgbClr val="43CDD9"/>
    <a:srgbClr val="5FD6DF"/>
    <a:srgbClr val="30353F"/>
    <a:srgbClr val="BABABA"/>
    <a:srgbClr val="667181"/>
    <a:srgbClr val="4D52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showGuides="1">
      <p:cViewPr varScale="1">
        <p:scale>
          <a:sx n="81" d="100"/>
          <a:sy n="81" d="100"/>
        </p:scale>
        <p:origin x="754" y="48"/>
      </p:cViewPr>
      <p:guideLst>
        <p:guide pos="240"/>
        <p:guide orient="horz" pos="144"/>
        <p:guide orient="horz" pos="4104"/>
        <p:guide pos="7440"/>
        <p:guide orient="horz" pos="1512"/>
        <p:guide orient="horz" pos="2376"/>
        <p:guide pos="4824"/>
        <p:guide pos="2016"/>
        <p:guide orient="horz" pos="1680"/>
        <p:guide orient="horz" pos="1008"/>
        <p:guide pos="408"/>
        <p:guide orient="horz" pos="792"/>
        <p:guide orient="horz" pos="2760"/>
        <p:guide orient="horz" pos="3024"/>
        <p:guide pos="3840"/>
        <p:guide orient="horz" pos="22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Series 1</c:v>
                </c:pt>
              </c:strCache>
            </c:strRef>
          </c:tx>
          <c:spPr>
            <a:ln w="28575" cap="rnd">
              <a:solidFill>
                <a:srgbClr val="43CDD9"/>
              </a:solidFill>
              <a:round/>
            </a:ln>
            <a:effectLst/>
          </c:spPr>
          <c:marker>
            <c:symbol val="circle"/>
            <c:size val="5"/>
            <c:spPr>
              <a:solidFill>
                <a:srgbClr val="43CDD9"/>
              </a:solidFill>
              <a:ln w="9525">
                <a:noFill/>
              </a:ln>
              <a:effectLst/>
            </c:spPr>
          </c:marker>
          <c:cat>
            <c:numRef>
              <c:f>Sheet1!$A$2:$A$5</c:f>
              <c:numCache>
                <c:formatCode>General</c:formatCode>
                <c:ptCount val="4"/>
                <c:pt idx="0">
                  <c:v>2021</c:v>
                </c:pt>
                <c:pt idx="1">
                  <c:v>2022</c:v>
                </c:pt>
                <c:pt idx="2">
                  <c:v>2023</c:v>
                </c:pt>
                <c:pt idx="3">
                  <c:v>2024</c:v>
                </c:pt>
              </c:numCache>
            </c:num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6652-49DB-8A4D-E053A3651D95}"/>
            </c:ext>
          </c:extLst>
        </c:ser>
        <c:ser>
          <c:idx val="1"/>
          <c:order val="1"/>
          <c:tx>
            <c:strRef>
              <c:f>Sheet1!$C$1</c:f>
              <c:strCache>
                <c:ptCount val="1"/>
                <c:pt idx="0">
                  <c:v>Series 2</c:v>
                </c:pt>
              </c:strCache>
            </c:strRef>
          </c:tx>
          <c:spPr>
            <a:ln w="28575" cap="rnd">
              <a:solidFill>
                <a:srgbClr val="667181"/>
              </a:solidFill>
              <a:round/>
            </a:ln>
            <a:effectLst/>
          </c:spPr>
          <c:marker>
            <c:symbol val="circle"/>
            <c:size val="5"/>
            <c:spPr>
              <a:solidFill>
                <a:srgbClr val="667181"/>
              </a:solidFill>
              <a:ln w="9525">
                <a:noFill/>
              </a:ln>
              <a:effectLst/>
            </c:spPr>
          </c:marker>
          <c:cat>
            <c:numRef>
              <c:f>Sheet1!$A$2:$A$5</c:f>
              <c:numCache>
                <c:formatCode>General</c:formatCode>
                <c:ptCount val="4"/>
                <c:pt idx="0">
                  <c:v>2021</c:v>
                </c:pt>
                <c:pt idx="1">
                  <c:v>2022</c:v>
                </c:pt>
                <c:pt idx="2">
                  <c:v>2023</c:v>
                </c:pt>
                <c:pt idx="3">
                  <c:v>2024</c:v>
                </c:pt>
              </c:numCache>
            </c:num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6652-49DB-8A4D-E053A3651D95}"/>
            </c:ext>
          </c:extLst>
        </c:ser>
        <c:ser>
          <c:idx val="2"/>
          <c:order val="2"/>
          <c:tx>
            <c:strRef>
              <c:f>Sheet1!$D$1</c:f>
              <c:strCache>
                <c:ptCount val="1"/>
                <c:pt idx="0">
                  <c:v>Series 3</c:v>
                </c:pt>
              </c:strCache>
            </c:strRef>
          </c:tx>
          <c:spPr>
            <a:ln w="28575" cap="rnd">
              <a:solidFill>
                <a:srgbClr val="30353F"/>
              </a:solidFill>
              <a:round/>
            </a:ln>
            <a:effectLst/>
          </c:spPr>
          <c:marker>
            <c:symbol val="circle"/>
            <c:size val="5"/>
            <c:spPr>
              <a:solidFill>
                <a:srgbClr val="30353F"/>
              </a:solidFill>
              <a:ln w="9525">
                <a:noFill/>
              </a:ln>
              <a:effectLst/>
            </c:spPr>
          </c:marker>
          <c:cat>
            <c:numRef>
              <c:f>Sheet1!$A$2:$A$5</c:f>
              <c:numCache>
                <c:formatCode>General</c:formatCode>
                <c:ptCount val="4"/>
                <c:pt idx="0">
                  <c:v>2021</c:v>
                </c:pt>
                <c:pt idx="1">
                  <c:v>2022</c:v>
                </c:pt>
                <c:pt idx="2">
                  <c:v>2023</c:v>
                </c:pt>
                <c:pt idx="3">
                  <c:v>2024</c:v>
                </c:pt>
              </c:numCache>
            </c:num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652-49DB-8A4D-E053A3651D95}"/>
            </c:ext>
          </c:extLst>
        </c:ser>
        <c:dLbls>
          <c:showLegendKey val="0"/>
          <c:showVal val="0"/>
          <c:showCatName val="0"/>
          <c:showSerName val="0"/>
          <c:showPercent val="0"/>
          <c:showBubbleSize val="0"/>
        </c:dLbls>
        <c:marker val="1"/>
        <c:smooth val="0"/>
        <c:axId val="-1670004176"/>
        <c:axId val="-1669996560"/>
      </c:lineChart>
      <c:catAx>
        <c:axId val="-1670004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30353F"/>
                </a:solidFill>
                <a:latin typeface="+mn-lt"/>
                <a:ea typeface="+mn-ea"/>
                <a:cs typeface="+mn-cs"/>
              </a:defRPr>
            </a:pPr>
            <a:endParaRPr lang="en-US"/>
          </a:p>
        </c:txPr>
        <c:crossAx val="-1669996560"/>
        <c:crosses val="autoZero"/>
        <c:auto val="1"/>
        <c:lblAlgn val="ctr"/>
        <c:lblOffset val="100"/>
        <c:noMultiLvlLbl val="0"/>
      </c:catAx>
      <c:valAx>
        <c:axId val="-1669996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30353F"/>
                </a:solidFill>
                <a:latin typeface="+mn-lt"/>
                <a:ea typeface="+mn-ea"/>
                <a:cs typeface="+mn-cs"/>
              </a:defRPr>
            </a:pPr>
            <a:endParaRPr lang="en-US"/>
          </a:p>
        </c:txPr>
        <c:crossAx val="-1670004176"/>
        <c:crosses val="autoZero"/>
        <c:crossBetween val="between"/>
      </c:valAx>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98A3AD"/>
              </a:solidFill>
              <a:ln>
                <a:noFill/>
              </a:ln>
              <a:effectLst/>
            </c:spPr>
            <c:extLst>
              <c:ext xmlns:c16="http://schemas.microsoft.com/office/drawing/2014/chart" uri="{C3380CC4-5D6E-409C-BE32-E72D297353CC}">
                <c16:uniqueId val="{00000001-51DE-481D-80B4-5A96AB882B40}"/>
              </c:ext>
            </c:extLst>
          </c:dPt>
          <c:dPt>
            <c:idx val="1"/>
            <c:invertIfNegative val="0"/>
            <c:bubble3D val="0"/>
            <c:spPr>
              <a:solidFill>
                <a:srgbClr val="667181"/>
              </a:solidFill>
              <a:ln>
                <a:noFill/>
              </a:ln>
              <a:effectLst/>
            </c:spPr>
            <c:extLst>
              <c:ext xmlns:c16="http://schemas.microsoft.com/office/drawing/2014/chart" uri="{C3380CC4-5D6E-409C-BE32-E72D297353CC}">
                <c16:uniqueId val="{00000003-51DE-481D-80B4-5A96AB882B40}"/>
              </c:ext>
            </c:extLst>
          </c:dPt>
          <c:dPt>
            <c:idx val="2"/>
            <c:invertIfNegative val="0"/>
            <c:bubble3D val="0"/>
            <c:spPr>
              <a:solidFill>
                <a:srgbClr val="30353F"/>
              </a:solidFill>
              <a:ln>
                <a:noFill/>
              </a:ln>
              <a:effectLst/>
            </c:spPr>
            <c:extLst>
              <c:ext xmlns:c16="http://schemas.microsoft.com/office/drawing/2014/chart" uri="{C3380CC4-5D6E-409C-BE32-E72D297353CC}">
                <c16:uniqueId val="{00000005-51DE-481D-80B4-5A96AB882B40}"/>
              </c:ext>
            </c:extLst>
          </c:dPt>
          <c:cat>
            <c:numRef>
              <c:f>Sheet1!$A$2:$A$4</c:f>
              <c:numCache>
                <c:formatCode>General</c:formatCode>
                <c:ptCount val="3"/>
              </c:numCache>
            </c:num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6-51DE-481D-80B4-5A96AB882B40}"/>
            </c:ext>
          </c:extLst>
        </c:ser>
        <c:ser>
          <c:idx val="1"/>
          <c:order val="1"/>
          <c:tx>
            <c:strRef>
              <c:f>Sheet1!$C$1</c:f>
              <c:strCache>
                <c:ptCount val="1"/>
                <c:pt idx="0">
                  <c:v>Column2</c:v>
                </c:pt>
              </c:strCache>
            </c:strRef>
          </c:tx>
          <c:spPr>
            <a:solidFill>
              <a:schemeClr val="accent2"/>
            </a:solidFill>
            <a:ln>
              <a:noFill/>
            </a:ln>
            <a:effectLst/>
          </c:spPr>
          <c:invertIfNegative val="0"/>
          <c:cat>
            <c:numRef>
              <c:f>Sheet1!$A$2:$A$4</c:f>
              <c:numCache>
                <c:formatCode>General</c:formatCode>
                <c:ptCount val="3"/>
              </c:numCache>
            </c:numRef>
          </c:cat>
          <c:val>
            <c:numRef>
              <c:f>Sheet1!$C$2:$C$4</c:f>
              <c:numCache>
                <c:formatCode>General</c:formatCode>
                <c:ptCount val="3"/>
              </c:numCache>
            </c:numRef>
          </c:val>
          <c:extLst>
            <c:ext xmlns:c16="http://schemas.microsoft.com/office/drawing/2014/chart" uri="{C3380CC4-5D6E-409C-BE32-E72D297353CC}">
              <c16:uniqueId val="{00000007-51DE-481D-80B4-5A96AB882B40}"/>
            </c:ext>
          </c:extLst>
        </c:ser>
        <c:ser>
          <c:idx val="2"/>
          <c:order val="2"/>
          <c:tx>
            <c:strRef>
              <c:f>Sheet1!$D$1</c:f>
              <c:strCache>
                <c:ptCount val="1"/>
                <c:pt idx="0">
                  <c:v>Column1</c:v>
                </c:pt>
              </c:strCache>
            </c:strRef>
          </c:tx>
          <c:spPr>
            <a:solidFill>
              <a:schemeClr val="accent3"/>
            </a:solidFill>
            <a:ln>
              <a:noFill/>
            </a:ln>
            <a:effectLst/>
          </c:spPr>
          <c:invertIfNegative val="0"/>
          <c:cat>
            <c:numRef>
              <c:f>Sheet1!$A$2:$A$4</c:f>
              <c:numCache>
                <c:formatCode>General</c:formatCode>
                <c:ptCount val="3"/>
              </c:numCache>
            </c:numRef>
          </c:cat>
          <c:val>
            <c:numRef>
              <c:f>Sheet1!$D$2:$D$4</c:f>
              <c:numCache>
                <c:formatCode>General</c:formatCode>
                <c:ptCount val="3"/>
              </c:numCache>
            </c:numRef>
          </c:val>
          <c:extLst>
            <c:ext xmlns:c16="http://schemas.microsoft.com/office/drawing/2014/chart" uri="{C3380CC4-5D6E-409C-BE32-E72D297353CC}">
              <c16:uniqueId val="{00000008-51DE-481D-80B4-5A96AB882B40}"/>
            </c:ext>
          </c:extLst>
        </c:ser>
        <c:dLbls>
          <c:showLegendKey val="0"/>
          <c:showVal val="0"/>
          <c:showCatName val="0"/>
          <c:showSerName val="0"/>
          <c:showPercent val="0"/>
          <c:showBubbleSize val="0"/>
        </c:dLbls>
        <c:gapWidth val="88"/>
        <c:overlap val="100"/>
        <c:axId val="-1735754960"/>
        <c:axId val="-1735756048"/>
      </c:barChart>
      <c:catAx>
        <c:axId val="-173575496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5756048"/>
        <c:crosses val="autoZero"/>
        <c:auto val="1"/>
        <c:lblAlgn val="ctr"/>
        <c:lblOffset val="100"/>
        <c:noMultiLvlLbl val="0"/>
      </c:catAx>
      <c:valAx>
        <c:axId val="-17357560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57549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102166714642698E-2"/>
          <c:y val="0.1979778088639573"/>
          <c:w val="0.73881045085364139"/>
          <c:h val="0.70755949885013336"/>
        </c:manualLayout>
      </c:layout>
      <c:barChart>
        <c:barDir val="col"/>
        <c:grouping val="clustered"/>
        <c:varyColors val="0"/>
        <c:ser>
          <c:idx val="0"/>
          <c:order val="0"/>
          <c:tx>
            <c:strRef>
              <c:f>Sheet1!$B$1</c:f>
              <c:strCache>
                <c:ptCount val="1"/>
                <c:pt idx="0">
                  <c:v>Percentage used</c:v>
                </c:pt>
              </c:strCache>
            </c:strRef>
          </c:tx>
          <c:spPr>
            <a:solidFill>
              <a:srgbClr val="30353F"/>
            </a:solidFill>
            <a:ln>
              <a:noFill/>
            </a:ln>
            <a:effectLst/>
          </c:spPr>
          <c:invertIfNegative val="0"/>
          <c:cat>
            <c:strRef>
              <c:f>Sheet1!$A$2:$A$7</c:f>
              <c:strCache>
                <c:ptCount val="6"/>
                <c:pt idx="0">
                  <c:v>English</c:v>
                </c:pt>
                <c:pt idx="1">
                  <c:v>Arabic</c:v>
                </c:pt>
                <c:pt idx="2">
                  <c:v>Persian</c:v>
                </c:pt>
                <c:pt idx="3">
                  <c:v>Hindi</c:v>
                </c:pt>
                <c:pt idx="4">
                  <c:v>French</c:v>
                </c:pt>
                <c:pt idx="5">
                  <c:v>Italian</c:v>
                </c:pt>
              </c:strCache>
            </c:strRef>
          </c:cat>
          <c:val>
            <c:numRef>
              <c:f>Sheet1!$B$2:$B$7</c:f>
              <c:numCache>
                <c:formatCode>General</c:formatCode>
                <c:ptCount val="6"/>
                <c:pt idx="0">
                  <c:v>12.5</c:v>
                </c:pt>
                <c:pt idx="1">
                  <c:v>12.5</c:v>
                </c:pt>
                <c:pt idx="2">
                  <c:v>37.5</c:v>
                </c:pt>
                <c:pt idx="3">
                  <c:v>12.5</c:v>
                </c:pt>
                <c:pt idx="4">
                  <c:v>12.5</c:v>
                </c:pt>
                <c:pt idx="5">
                  <c:v>12.5</c:v>
                </c:pt>
              </c:numCache>
            </c:numRef>
          </c:val>
          <c:extLst>
            <c:ext xmlns:c16="http://schemas.microsoft.com/office/drawing/2014/chart" uri="{C3380CC4-5D6E-409C-BE32-E72D297353CC}">
              <c16:uniqueId val="{00000000-31BF-4464-BD60-19D69D00ACB3}"/>
            </c:ext>
          </c:extLst>
        </c:ser>
        <c:dLbls>
          <c:showLegendKey val="0"/>
          <c:showVal val="0"/>
          <c:showCatName val="0"/>
          <c:showSerName val="0"/>
          <c:showPercent val="0"/>
          <c:showBubbleSize val="0"/>
        </c:dLbls>
        <c:gapWidth val="150"/>
        <c:axId val="-1735762032"/>
        <c:axId val="-1735761488"/>
      </c:barChart>
      <c:catAx>
        <c:axId val="-173576203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5761488"/>
        <c:crosses val="autoZero"/>
        <c:auto val="1"/>
        <c:lblAlgn val="ctr"/>
        <c:lblOffset val="100"/>
        <c:noMultiLvlLbl val="0"/>
      </c:catAx>
      <c:valAx>
        <c:axId val="-1735761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30353F"/>
                </a:solidFill>
                <a:latin typeface="+mn-lt"/>
                <a:ea typeface="+mn-ea"/>
                <a:cs typeface="+mn-cs"/>
              </a:defRPr>
            </a:pPr>
            <a:endParaRPr lang="en-US"/>
          </a:p>
        </c:txPr>
        <c:crossAx val="-173576203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7038903880042673E-2"/>
          <c:y val="6.9222932474602858E-2"/>
          <c:w val="0.85429971515211311"/>
          <c:h val="0.78089967444087716"/>
        </c:manualLayout>
      </c:layout>
      <c:barChart>
        <c:barDir val="col"/>
        <c:grouping val="stacked"/>
        <c:varyColors val="0"/>
        <c:dLbls>
          <c:showLegendKey val="0"/>
          <c:showVal val="0"/>
          <c:showCatName val="0"/>
          <c:showSerName val="0"/>
          <c:showPercent val="0"/>
          <c:showBubbleSize val="0"/>
        </c:dLbls>
        <c:gapWidth val="150"/>
        <c:overlap val="100"/>
        <c:axId val="-1781335632"/>
        <c:axId val="-1781335088"/>
      </c:barChart>
      <c:catAx>
        <c:axId val="-1781335632"/>
        <c:scaling>
          <c:orientation val="minMax"/>
        </c:scaling>
        <c:delete val="1"/>
        <c:axPos val="b"/>
        <c:numFmt formatCode="General" sourceLinked="1"/>
        <c:majorTickMark val="none"/>
        <c:minorTickMark val="none"/>
        <c:tickLblPos val="nextTo"/>
        <c:crossAx val="-1781335088"/>
        <c:crosses val="autoZero"/>
        <c:auto val="1"/>
        <c:lblAlgn val="ctr"/>
        <c:lblOffset val="100"/>
        <c:noMultiLvlLbl val="0"/>
      </c:catAx>
      <c:valAx>
        <c:axId val="-1781335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30353F"/>
                </a:solidFill>
                <a:latin typeface="+mn-lt"/>
                <a:ea typeface="+mn-ea"/>
                <a:cs typeface="+mn-cs"/>
              </a:defRPr>
            </a:pPr>
            <a:endParaRPr lang="en-US"/>
          </a:p>
        </c:txPr>
        <c:crossAx val="-1781335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30353F"/>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98A3AD"/>
              </a:solidFill>
              <a:ln w="19050">
                <a:noFill/>
              </a:ln>
              <a:effectLst/>
            </c:spPr>
            <c:extLst>
              <c:ext xmlns:c16="http://schemas.microsoft.com/office/drawing/2014/chart" uri="{C3380CC4-5D6E-409C-BE32-E72D297353CC}">
                <c16:uniqueId val="{00000001-619B-4A14-9400-6B387354EC86}"/>
              </c:ext>
            </c:extLst>
          </c:dPt>
          <c:dPt>
            <c:idx val="1"/>
            <c:bubble3D val="0"/>
            <c:spPr>
              <a:solidFill>
                <a:srgbClr val="E6E6E6"/>
              </a:solidFill>
              <a:ln w="19050">
                <a:noFill/>
              </a:ln>
              <a:effectLst/>
            </c:spPr>
            <c:extLst>
              <c:ext xmlns:c16="http://schemas.microsoft.com/office/drawing/2014/chart" uri="{C3380CC4-5D6E-409C-BE32-E72D297353CC}">
                <c16:uniqueId val="{00000003-619B-4A14-9400-6B387354EC86}"/>
              </c:ext>
            </c:extLst>
          </c:dPt>
          <c:dPt>
            <c:idx val="2"/>
            <c:bubble3D val="0"/>
            <c:spPr>
              <a:solidFill>
                <a:schemeClr val="accent3"/>
              </a:solidFill>
              <a:ln w="19050">
                <a:noFill/>
              </a:ln>
              <a:effectLst/>
            </c:spPr>
            <c:extLst>
              <c:ext xmlns:c16="http://schemas.microsoft.com/office/drawing/2014/chart" uri="{C3380CC4-5D6E-409C-BE32-E72D297353CC}">
                <c16:uniqueId val="{00000005-619B-4A14-9400-6B387354EC86}"/>
              </c:ext>
            </c:extLst>
          </c:dPt>
          <c:dPt>
            <c:idx val="3"/>
            <c:bubble3D val="0"/>
            <c:spPr>
              <a:solidFill>
                <a:schemeClr val="accent4"/>
              </a:solidFill>
              <a:ln w="19050">
                <a:noFill/>
              </a:ln>
              <a:effectLst/>
            </c:spPr>
            <c:extLst>
              <c:ext xmlns:c16="http://schemas.microsoft.com/office/drawing/2014/chart" uri="{C3380CC4-5D6E-409C-BE32-E72D297353CC}">
                <c16:uniqueId val="{00000007-619B-4A14-9400-6B387354EC86}"/>
              </c:ext>
            </c:extLst>
          </c:dPt>
          <c:cat>
            <c:strRef>
              <c:f>Sheet1!$A$2:$A$5</c:f>
              <c:strCache>
                <c:ptCount val="2"/>
                <c:pt idx="0">
                  <c:v>1st Qtr</c:v>
                </c:pt>
                <c:pt idx="1">
                  <c:v>2nd Qtr</c:v>
                </c:pt>
              </c:strCache>
            </c:strRef>
          </c:cat>
          <c:val>
            <c:numRef>
              <c:f>Sheet1!$B$2:$B$5</c:f>
              <c:numCache>
                <c:formatCode>General</c:formatCode>
                <c:ptCount val="4"/>
                <c:pt idx="0">
                  <c:v>8</c:v>
                </c:pt>
                <c:pt idx="1">
                  <c:v>4</c:v>
                </c:pt>
              </c:numCache>
            </c:numRef>
          </c:val>
          <c:extLst>
            <c:ext xmlns:c16="http://schemas.microsoft.com/office/drawing/2014/chart" uri="{C3380CC4-5D6E-409C-BE32-E72D297353CC}">
              <c16:uniqueId val="{00000008-619B-4A14-9400-6B387354EC86}"/>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30353F"/>
              </a:solidFill>
              <a:ln w="19050">
                <a:noFill/>
              </a:ln>
              <a:effectLst/>
            </c:spPr>
            <c:extLst>
              <c:ext xmlns:c16="http://schemas.microsoft.com/office/drawing/2014/chart" uri="{C3380CC4-5D6E-409C-BE32-E72D297353CC}">
                <c16:uniqueId val="{00000001-1B5D-43C7-BD04-42EB7B4BC708}"/>
              </c:ext>
            </c:extLst>
          </c:dPt>
          <c:dPt>
            <c:idx val="1"/>
            <c:bubble3D val="0"/>
            <c:spPr>
              <a:solidFill>
                <a:srgbClr val="E6E6E6"/>
              </a:solidFill>
              <a:ln w="19050">
                <a:noFill/>
              </a:ln>
              <a:effectLst/>
            </c:spPr>
            <c:extLst>
              <c:ext xmlns:c16="http://schemas.microsoft.com/office/drawing/2014/chart" uri="{C3380CC4-5D6E-409C-BE32-E72D297353CC}">
                <c16:uniqueId val="{00000003-1B5D-43C7-BD04-42EB7B4BC708}"/>
              </c:ext>
            </c:extLst>
          </c:dPt>
          <c:dPt>
            <c:idx val="2"/>
            <c:bubble3D val="0"/>
            <c:spPr>
              <a:solidFill>
                <a:schemeClr val="accent3"/>
              </a:solidFill>
              <a:ln w="19050">
                <a:noFill/>
              </a:ln>
              <a:effectLst/>
            </c:spPr>
            <c:extLst>
              <c:ext xmlns:c16="http://schemas.microsoft.com/office/drawing/2014/chart" uri="{C3380CC4-5D6E-409C-BE32-E72D297353CC}">
                <c16:uniqueId val="{00000005-1B5D-43C7-BD04-42EB7B4BC708}"/>
              </c:ext>
            </c:extLst>
          </c:dPt>
          <c:dPt>
            <c:idx val="3"/>
            <c:bubble3D val="0"/>
            <c:spPr>
              <a:solidFill>
                <a:schemeClr val="accent4"/>
              </a:solidFill>
              <a:ln w="19050">
                <a:noFill/>
              </a:ln>
              <a:effectLst/>
            </c:spPr>
            <c:extLst>
              <c:ext xmlns:c16="http://schemas.microsoft.com/office/drawing/2014/chart" uri="{C3380CC4-5D6E-409C-BE32-E72D297353CC}">
                <c16:uniqueId val="{00000007-1B5D-43C7-BD04-42EB7B4BC708}"/>
              </c:ext>
            </c:extLst>
          </c:dPt>
          <c:cat>
            <c:strRef>
              <c:f>Sheet1!$A$2:$A$5</c:f>
              <c:strCache>
                <c:ptCount val="2"/>
                <c:pt idx="0">
                  <c:v>1st Qtr</c:v>
                </c:pt>
                <c:pt idx="1">
                  <c:v>2nd Qtr</c:v>
                </c:pt>
              </c:strCache>
            </c:strRef>
          </c:cat>
          <c:val>
            <c:numRef>
              <c:f>Sheet1!$B$2:$B$5</c:f>
              <c:numCache>
                <c:formatCode>General</c:formatCode>
                <c:ptCount val="4"/>
                <c:pt idx="0">
                  <c:v>9</c:v>
                </c:pt>
                <c:pt idx="1">
                  <c:v>1</c:v>
                </c:pt>
              </c:numCache>
            </c:numRef>
          </c:val>
          <c:extLst>
            <c:ext xmlns:c16="http://schemas.microsoft.com/office/drawing/2014/chart" uri="{C3380CC4-5D6E-409C-BE32-E72D297353CC}">
              <c16:uniqueId val="{00000008-1B5D-43C7-BD04-42EB7B4BC708}"/>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BABABA"/>
              </a:solidFill>
              <a:ln w="19050">
                <a:noFill/>
              </a:ln>
              <a:effectLst/>
            </c:spPr>
            <c:extLst>
              <c:ext xmlns:c16="http://schemas.microsoft.com/office/drawing/2014/chart" uri="{C3380CC4-5D6E-409C-BE32-E72D297353CC}">
                <c16:uniqueId val="{00000001-5BA3-4B8D-89E2-DE51B1803F47}"/>
              </c:ext>
            </c:extLst>
          </c:dPt>
          <c:dPt>
            <c:idx val="1"/>
            <c:bubble3D val="0"/>
            <c:spPr>
              <a:solidFill>
                <a:srgbClr val="E6E6E6"/>
              </a:solidFill>
              <a:ln w="19050">
                <a:noFill/>
              </a:ln>
              <a:effectLst/>
            </c:spPr>
            <c:extLst>
              <c:ext xmlns:c16="http://schemas.microsoft.com/office/drawing/2014/chart" uri="{C3380CC4-5D6E-409C-BE32-E72D297353CC}">
                <c16:uniqueId val="{00000003-5BA3-4B8D-89E2-DE51B1803F47}"/>
              </c:ext>
            </c:extLst>
          </c:dPt>
          <c:dPt>
            <c:idx val="2"/>
            <c:bubble3D val="0"/>
            <c:spPr>
              <a:solidFill>
                <a:schemeClr val="accent3"/>
              </a:solidFill>
              <a:ln w="19050">
                <a:noFill/>
              </a:ln>
              <a:effectLst/>
            </c:spPr>
            <c:extLst>
              <c:ext xmlns:c16="http://schemas.microsoft.com/office/drawing/2014/chart" uri="{C3380CC4-5D6E-409C-BE32-E72D297353CC}">
                <c16:uniqueId val="{00000005-5BA3-4B8D-89E2-DE51B1803F47}"/>
              </c:ext>
            </c:extLst>
          </c:dPt>
          <c:dPt>
            <c:idx val="3"/>
            <c:bubble3D val="0"/>
            <c:spPr>
              <a:solidFill>
                <a:schemeClr val="accent4"/>
              </a:solidFill>
              <a:ln w="19050">
                <a:noFill/>
              </a:ln>
              <a:effectLst/>
            </c:spPr>
            <c:extLst>
              <c:ext xmlns:c16="http://schemas.microsoft.com/office/drawing/2014/chart" uri="{C3380CC4-5D6E-409C-BE32-E72D297353CC}">
                <c16:uniqueId val="{00000007-5BA3-4B8D-89E2-DE51B1803F47}"/>
              </c:ext>
            </c:extLst>
          </c:dPt>
          <c:cat>
            <c:strRef>
              <c:f>Sheet1!$A$2:$A$5</c:f>
              <c:strCache>
                <c:ptCount val="2"/>
                <c:pt idx="0">
                  <c:v>1st Qtr</c:v>
                </c:pt>
                <c:pt idx="1">
                  <c:v>2nd Qtr</c:v>
                </c:pt>
              </c:strCache>
            </c:strRef>
          </c:cat>
          <c:val>
            <c:numRef>
              <c:f>Sheet1!$B$2:$B$5</c:f>
              <c:numCache>
                <c:formatCode>General</c:formatCode>
                <c:ptCount val="4"/>
                <c:pt idx="0">
                  <c:v>3</c:v>
                </c:pt>
                <c:pt idx="1">
                  <c:v>7</c:v>
                </c:pt>
              </c:numCache>
            </c:numRef>
          </c:val>
          <c:extLst>
            <c:ext xmlns:c16="http://schemas.microsoft.com/office/drawing/2014/chart" uri="{C3380CC4-5D6E-409C-BE32-E72D297353CC}">
              <c16:uniqueId val="{00000008-5BA3-4B8D-89E2-DE51B1803F47}"/>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iphone 5</cx:pt>
          <cx:pt idx="1">macbook air</cx:pt>
          <cx:pt idx="2">macbook pro</cx:pt>
          <cx:pt idx="3">samsung galaxy S4</cx:pt>
          <cx:pt idx="4">lenovo thinkpad</cx:pt>
        </cx:lvl>
      </cx:strDim>
      <cx:numDim type="size">
        <cx:f>Sheet1!$B$2:$B$6</cx:f>
        <cx:lvl ptCount="5" formatCode="General">
          <cx:pt idx="0">2340</cx:pt>
          <cx:pt idx="1">2340</cx:pt>
          <cx:pt idx="2">4943</cx:pt>
          <cx:pt idx="3">1740</cx:pt>
          <cx:pt idx="4">3286</cx:pt>
        </cx:lvl>
      </cx:numDim>
    </cx:data>
  </cx:chartData>
  <cx:chart>
    <cx:title pos="t" align="ctr" overlay="0">
      <cx:tx>
        <cx:txData>
          <cx:v>Tree Map of total number of users per device</cx:v>
        </cx:txData>
      </cx:tx>
      <cx:txPr>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IN" sz="1862" b="0" i="0" u="none" strike="noStrike" kern="1200" cap="none" spc="0" normalizeH="0" baseline="0" noProof="0" dirty="0">
              <a:ln>
                <a:noFill/>
              </a:ln>
              <a:solidFill>
                <a:prstClr val="black">
                  <a:lumMod val="65000"/>
                  <a:lumOff val="35000"/>
                </a:prstClr>
              </a:solidFill>
              <a:effectLst/>
              <a:uLnTx/>
              <a:uFillTx/>
              <a:latin typeface="Segoe UI Light"/>
            </a:rPr>
            <a:t>Tree Map of </a:t>
          </a:r>
          <a:br>
            <a:rPr kumimoji="0" lang="en-IN" sz="1862" b="0" i="0" u="none" strike="noStrike" kern="1200" cap="none" spc="0" normalizeH="0" baseline="0" noProof="0" dirty="0">
              <a:ln>
                <a:noFill/>
              </a:ln>
              <a:solidFill>
                <a:prstClr val="black">
                  <a:lumMod val="65000"/>
                  <a:lumOff val="35000"/>
                </a:prstClr>
              </a:solidFill>
              <a:effectLst/>
              <a:uLnTx/>
              <a:uFillTx/>
              <a:latin typeface="Segoe UI Light"/>
            </a:rPr>
          </a:br>
          <a:r>
            <a:rPr kumimoji="0" lang="en-IN" sz="1862" b="0" i="0" u="none" strike="noStrike" kern="1200" cap="none" spc="0" normalizeH="0" baseline="0" noProof="0" dirty="0">
              <a:ln>
                <a:noFill/>
              </a:ln>
              <a:solidFill>
                <a:prstClr val="black">
                  <a:lumMod val="65000"/>
                  <a:lumOff val="35000"/>
                </a:prstClr>
              </a:solidFill>
              <a:effectLst/>
              <a:uLnTx/>
              <a:uFillTx/>
              <a:latin typeface="Segoe UI Light"/>
            </a:rPr>
            <a:t>total number of users per device</a:t>
          </a:r>
        </a:p>
      </cx:txPr>
    </cx:title>
    <cx:plotArea>
      <cx:plotAreaRegion>
        <cx:series layoutId="treemap" uniqueId="{1ADBC8BC-7595-4C3A-89CE-37890D6AA00C}" formatIdx="0">
          <cx:tx>
            <cx:txData>
              <cx:f>Sheet1!$B$1</cx:f>
              <cx:v>Total Users</cx:v>
            </cx:txData>
          </cx:tx>
          <cx:dataLabels>
            <cx:spPr>
              <a:solidFill>
                <a:schemeClr val="bg1"/>
              </a:solidFill>
              <a:ln>
                <a:solidFill>
                  <a:schemeClr val="bg1">
                    <a:lumMod val="95000"/>
                  </a:schemeClr>
                </a:solidFill>
              </a:ln>
            </cx:spPr>
          </cx:dataLabels>
          <cx:dataId val="0"/>
          <cx:layoutPr/>
        </cx:series>
      </cx:plotAreaRegion>
    </cx:plotArea>
    <cx:legend pos="t" align="ctr"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725221-8370-44AA-91E0-A1D0D53B6D3F}"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IN"/>
        </a:p>
      </dgm:t>
    </dgm:pt>
    <dgm:pt modelId="{8977D2C0-C6E0-4149-9540-EBC88F3751B8}">
      <dgm:prSet phldrT="[Text]" custT="1"/>
      <dgm:spPr/>
      <dgm:t>
        <a:bodyPr/>
        <a:lstStyle/>
        <a:p>
          <a:r>
            <a:rPr lang="en-IN" sz="2000" dirty="0"/>
            <a:t>Email open rate = 33.5 % </a:t>
          </a:r>
        </a:p>
      </dgm:t>
    </dgm:pt>
    <dgm:pt modelId="{78D2132B-6B1E-486A-B7D6-D61782CD62CF}" type="parTrans" cxnId="{B5EAB2FE-3DCA-40B1-B853-A831C69C2D27}">
      <dgm:prSet/>
      <dgm:spPr/>
      <dgm:t>
        <a:bodyPr/>
        <a:lstStyle/>
        <a:p>
          <a:endParaRPr lang="en-IN"/>
        </a:p>
      </dgm:t>
    </dgm:pt>
    <dgm:pt modelId="{F10554EF-9697-4789-B217-55DDDDCD0B21}" type="sibTrans" cxnId="{B5EAB2FE-3DCA-40B1-B853-A831C69C2D27}">
      <dgm:prSet/>
      <dgm:spPr/>
      <dgm:t>
        <a:bodyPr/>
        <a:lstStyle/>
        <a:p>
          <a:endParaRPr lang="en-IN"/>
        </a:p>
      </dgm:t>
    </dgm:pt>
    <dgm:pt modelId="{09A0ED2D-B8F4-48C2-B479-AD80A6705D9E}">
      <dgm:prSet phldrT="[Text]"/>
      <dgm:spPr/>
      <dgm:t>
        <a:bodyPr/>
        <a:lstStyle/>
        <a:p>
          <a:r>
            <a:rPr lang="en-IN" dirty="0"/>
            <a:t>Email click rate =  14.78 %</a:t>
          </a:r>
        </a:p>
      </dgm:t>
    </dgm:pt>
    <dgm:pt modelId="{DD0804CB-5DB2-4F78-AC08-C833E5BE04B9}" type="parTrans" cxnId="{8AC52610-5ED6-412B-A260-F850FBFA8A96}">
      <dgm:prSet/>
      <dgm:spPr/>
      <dgm:t>
        <a:bodyPr/>
        <a:lstStyle/>
        <a:p>
          <a:endParaRPr lang="en-IN"/>
        </a:p>
      </dgm:t>
    </dgm:pt>
    <dgm:pt modelId="{49631F38-6F2F-45B7-BF0C-DD781EB0E81F}" type="sibTrans" cxnId="{8AC52610-5ED6-412B-A260-F850FBFA8A96}">
      <dgm:prSet/>
      <dgm:spPr/>
      <dgm:t>
        <a:bodyPr/>
        <a:lstStyle/>
        <a:p>
          <a:endParaRPr lang="en-IN"/>
        </a:p>
      </dgm:t>
    </dgm:pt>
    <dgm:pt modelId="{84BDA7EB-F6F7-453E-8E3C-5253F5EC67F0}" type="pres">
      <dgm:prSet presAssocID="{ED725221-8370-44AA-91E0-A1D0D53B6D3F}" presName="compositeShape" presStyleCnt="0">
        <dgm:presLayoutVars>
          <dgm:chMax val="2"/>
          <dgm:dir/>
          <dgm:resizeHandles val="exact"/>
        </dgm:presLayoutVars>
      </dgm:prSet>
      <dgm:spPr/>
    </dgm:pt>
    <dgm:pt modelId="{ADE1940C-2D1F-4F51-B37F-BB4D6C35A767}" type="pres">
      <dgm:prSet presAssocID="{ED725221-8370-44AA-91E0-A1D0D53B6D3F}" presName="ribbon" presStyleLbl="node1" presStyleIdx="0" presStyleCnt="1"/>
      <dgm:spPr>
        <a:solidFill>
          <a:srgbClr val="939CAB"/>
        </a:solidFill>
      </dgm:spPr>
    </dgm:pt>
    <dgm:pt modelId="{0457D5A5-D83D-461A-A478-FFF78E3AC7AC}" type="pres">
      <dgm:prSet presAssocID="{ED725221-8370-44AA-91E0-A1D0D53B6D3F}" presName="leftArrowText" presStyleLbl="node1" presStyleIdx="0" presStyleCnt="1">
        <dgm:presLayoutVars>
          <dgm:chMax val="0"/>
          <dgm:bulletEnabled val="1"/>
        </dgm:presLayoutVars>
      </dgm:prSet>
      <dgm:spPr/>
    </dgm:pt>
    <dgm:pt modelId="{A29B11B5-E0A0-4E18-8698-C1A201D69E12}" type="pres">
      <dgm:prSet presAssocID="{ED725221-8370-44AA-91E0-A1D0D53B6D3F}" presName="rightArrowText" presStyleLbl="node1" presStyleIdx="0" presStyleCnt="1">
        <dgm:presLayoutVars>
          <dgm:chMax val="0"/>
          <dgm:bulletEnabled val="1"/>
        </dgm:presLayoutVars>
      </dgm:prSet>
      <dgm:spPr/>
    </dgm:pt>
  </dgm:ptLst>
  <dgm:cxnLst>
    <dgm:cxn modelId="{E10E090A-0115-49E4-9708-F412EFD8B375}" type="presOf" srcId="{09A0ED2D-B8F4-48C2-B479-AD80A6705D9E}" destId="{A29B11B5-E0A0-4E18-8698-C1A201D69E12}" srcOrd="0" destOrd="0" presId="urn:microsoft.com/office/officeart/2005/8/layout/arrow6"/>
    <dgm:cxn modelId="{8AC52610-5ED6-412B-A260-F850FBFA8A96}" srcId="{ED725221-8370-44AA-91E0-A1D0D53B6D3F}" destId="{09A0ED2D-B8F4-48C2-B479-AD80A6705D9E}" srcOrd="1" destOrd="0" parTransId="{DD0804CB-5DB2-4F78-AC08-C833E5BE04B9}" sibTransId="{49631F38-6F2F-45B7-BF0C-DD781EB0E81F}"/>
    <dgm:cxn modelId="{069B39A4-125A-4233-8FDD-A0E9A59A7CD4}" type="presOf" srcId="{8977D2C0-C6E0-4149-9540-EBC88F3751B8}" destId="{0457D5A5-D83D-461A-A478-FFF78E3AC7AC}" srcOrd="0" destOrd="0" presId="urn:microsoft.com/office/officeart/2005/8/layout/arrow6"/>
    <dgm:cxn modelId="{AAB4C1C9-43CE-421E-95E6-4EE2FC6256D4}" type="presOf" srcId="{ED725221-8370-44AA-91E0-A1D0D53B6D3F}" destId="{84BDA7EB-F6F7-453E-8E3C-5253F5EC67F0}" srcOrd="0" destOrd="0" presId="urn:microsoft.com/office/officeart/2005/8/layout/arrow6"/>
    <dgm:cxn modelId="{B5EAB2FE-3DCA-40B1-B853-A831C69C2D27}" srcId="{ED725221-8370-44AA-91E0-A1D0D53B6D3F}" destId="{8977D2C0-C6E0-4149-9540-EBC88F3751B8}" srcOrd="0" destOrd="0" parTransId="{78D2132B-6B1E-486A-B7D6-D61782CD62CF}" sibTransId="{F10554EF-9697-4789-B217-55DDDDCD0B21}"/>
    <dgm:cxn modelId="{FB81E9F5-E487-4F01-AD74-15141D72FD0D}" type="presParOf" srcId="{84BDA7EB-F6F7-453E-8E3C-5253F5EC67F0}" destId="{ADE1940C-2D1F-4F51-B37F-BB4D6C35A767}" srcOrd="0" destOrd="0" presId="urn:microsoft.com/office/officeart/2005/8/layout/arrow6"/>
    <dgm:cxn modelId="{23909086-4913-4965-B0F8-8E7565A6E156}" type="presParOf" srcId="{84BDA7EB-F6F7-453E-8E3C-5253F5EC67F0}" destId="{0457D5A5-D83D-461A-A478-FFF78E3AC7AC}" srcOrd="1" destOrd="0" presId="urn:microsoft.com/office/officeart/2005/8/layout/arrow6"/>
    <dgm:cxn modelId="{24149886-587B-4D3D-9EDA-1516B1557FF7}" type="presParOf" srcId="{84BDA7EB-F6F7-453E-8E3C-5253F5EC67F0}" destId="{A29B11B5-E0A0-4E18-8698-C1A201D69E12}"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1940C-2D1F-4F51-B37F-BB4D6C35A767}">
      <dsp:nvSpPr>
        <dsp:cNvPr id="0" name=""/>
        <dsp:cNvSpPr/>
      </dsp:nvSpPr>
      <dsp:spPr>
        <a:xfrm>
          <a:off x="0" y="793204"/>
          <a:ext cx="4466842" cy="1786737"/>
        </a:xfrm>
        <a:prstGeom prst="leftRightRibbon">
          <a:avLst/>
        </a:prstGeom>
        <a:solidFill>
          <a:srgbClr val="939CA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57D5A5-D83D-461A-A478-FFF78E3AC7AC}">
      <dsp:nvSpPr>
        <dsp:cNvPr id="0" name=""/>
        <dsp:cNvSpPr/>
      </dsp:nvSpPr>
      <dsp:spPr>
        <a:xfrm>
          <a:off x="536021" y="1105883"/>
          <a:ext cx="1474058" cy="87550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en-IN" sz="2000" kern="1200" dirty="0"/>
            <a:t>Email open rate = 33.5 % </a:t>
          </a:r>
        </a:p>
      </dsp:txBody>
      <dsp:txXfrm>
        <a:off x="536021" y="1105883"/>
        <a:ext cx="1474058" cy="875501"/>
      </dsp:txXfrm>
    </dsp:sp>
    <dsp:sp modelId="{A29B11B5-E0A0-4E18-8698-C1A201D69E12}">
      <dsp:nvSpPr>
        <dsp:cNvPr id="0" name=""/>
        <dsp:cNvSpPr/>
      </dsp:nvSpPr>
      <dsp:spPr>
        <a:xfrm>
          <a:off x="2233421" y="1391761"/>
          <a:ext cx="1742068" cy="87550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8232" rIns="0" bIns="83820" numCol="1" spcCol="1270" anchor="ctr" anchorCtr="0">
          <a:noAutofit/>
        </a:bodyPr>
        <a:lstStyle/>
        <a:p>
          <a:pPr marL="0" lvl="0" indent="0" algn="ctr" defTabSz="977900">
            <a:lnSpc>
              <a:spcPct val="90000"/>
            </a:lnSpc>
            <a:spcBef>
              <a:spcPct val="0"/>
            </a:spcBef>
            <a:spcAft>
              <a:spcPct val="35000"/>
            </a:spcAft>
            <a:buNone/>
          </a:pPr>
          <a:r>
            <a:rPr lang="en-IN" sz="2200" kern="1200" dirty="0"/>
            <a:t>Email click rate =  14.78 %</a:t>
          </a:r>
        </a:p>
      </dsp:txBody>
      <dsp:txXfrm>
        <a:off x="2233421" y="1391761"/>
        <a:ext cx="1742068" cy="875501"/>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C655F-54C7-4D03-AD26-E0C40F01563A}" type="datetimeFigureOut">
              <a:rPr lang="id-ID" smtClean="0"/>
              <a:t>28/06/2025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34AC2-3728-4A8B-B58F-6888FAEC3D20}" type="slidenum">
              <a:rPr lang="id-ID" smtClean="0"/>
              <a:t>‹#›</a:t>
            </a:fld>
            <a:endParaRPr lang="id-ID"/>
          </a:p>
        </p:txBody>
      </p:sp>
    </p:spTree>
    <p:extLst>
      <p:ext uri="{BB962C8B-B14F-4D97-AF65-F5344CB8AC3E}">
        <p14:creationId xmlns:p14="http://schemas.microsoft.com/office/powerpoint/2010/main" val="108617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635058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30239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620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03483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4561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43264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75332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3B832CC-E04A-47A7-966D-475AEA6409AB}"/>
              </a:ext>
            </a:extLst>
          </p:cNvPr>
          <p:cNvSpPr>
            <a:spLocks noGrp="1"/>
          </p:cNvSpPr>
          <p:nvPr>
            <p:ph type="pic" sz="quarter" idx="13"/>
          </p:nvPr>
        </p:nvSpPr>
        <p:spPr>
          <a:xfrm>
            <a:off x="4689139"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dirty="0"/>
              <a:t>Click icon to add picture</a:t>
            </a:r>
          </a:p>
        </p:txBody>
      </p:sp>
      <p:sp>
        <p:nvSpPr>
          <p:cNvPr id="2" name="Date Placeholder 1"/>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
        <p:nvSpPr>
          <p:cNvPr id="6" name="Freeform: Shape 7">
            <a:extLst>
              <a:ext uri="{FF2B5EF4-FFF2-40B4-BE49-F238E27FC236}">
                <a16:creationId xmlns:a16="http://schemas.microsoft.com/office/drawing/2014/main" id="{23B832CC-E04A-47A7-966D-475AEA6409AB}"/>
              </a:ext>
            </a:extLst>
          </p:cNvPr>
          <p:cNvSpPr>
            <a:spLocks noGrp="1"/>
          </p:cNvSpPr>
          <p:nvPr>
            <p:ph type="pic" sz="quarter" idx="14"/>
          </p:nvPr>
        </p:nvSpPr>
        <p:spPr>
          <a:xfrm>
            <a:off x="1125882"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dirty="0"/>
              <a:t>Click icon to add picture</a:t>
            </a:r>
          </a:p>
        </p:txBody>
      </p:sp>
      <p:sp>
        <p:nvSpPr>
          <p:cNvPr id="7" name="Freeform: Shape 7">
            <a:extLst>
              <a:ext uri="{FF2B5EF4-FFF2-40B4-BE49-F238E27FC236}">
                <a16:creationId xmlns:a16="http://schemas.microsoft.com/office/drawing/2014/main" id="{23B832CC-E04A-47A7-966D-475AEA6409AB}"/>
              </a:ext>
            </a:extLst>
          </p:cNvPr>
          <p:cNvSpPr>
            <a:spLocks noGrp="1"/>
          </p:cNvSpPr>
          <p:nvPr>
            <p:ph type="pic" sz="quarter" idx="15"/>
          </p:nvPr>
        </p:nvSpPr>
        <p:spPr>
          <a:xfrm>
            <a:off x="8252396"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dirty="0"/>
              <a:t>Click icon to add picture</a:t>
            </a:r>
          </a:p>
        </p:txBody>
      </p:sp>
    </p:spTree>
    <p:extLst>
      <p:ext uri="{BB962C8B-B14F-4D97-AF65-F5344CB8AC3E}">
        <p14:creationId xmlns:p14="http://schemas.microsoft.com/office/powerpoint/2010/main" val="159699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001594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77954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39420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6/28/2025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032131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96FE2-9E77-4834-9C6B-212E1056298F}" type="datetimeFigureOut">
              <a:rPr lang="en-US" smtClean="0"/>
              <a:t>6/28/2025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28E537-E56B-49CA-B596-52598082FBE8}" type="slidenum">
              <a:rPr lang="en-US" smtClean="0"/>
              <a:t>‹#›</a:t>
            </a:fld>
            <a:endParaRPr lang="en-US" dirty="0"/>
          </a:p>
        </p:txBody>
      </p:sp>
    </p:spTree>
    <p:extLst>
      <p:ext uri="{BB962C8B-B14F-4D97-AF65-F5344CB8AC3E}">
        <p14:creationId xmlns:p14="http://schemas.microsoft.com/office/powerpoint/2010/main" val="28447593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4"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5.emf"/><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chart" Target="../charts/char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8" Type="http://schemas.microsoft.com/office/2014/relationships/chartEx" Target="../charts/chartEx1.xml"/><Relationship Id="rId3" Type="http://schemas.openxmlformats.org/officeDocument/2006/relationships/image" Target="../media/image7.png"/><Relationship Id="rId7" Type="http://schemas.openxmlformats.org/officeDocument/2006/relationships/chart" Target="../charts/chart4.xml"/><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7.png"/><Relationship Id="rId7" Type="http://schemas.openxmlformats.org/officeDocument/2006/relationships/image" Target="../media/image35.png"/><Relationship Id="rId12" Type="http://schemas.openxmlformats.org/officeDocument/2006/relationships/hyperlink" Target="https://pl.wikipedia.org/wiki/Google_Chrome" TargetMode="External"/><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34.png"/><Relationship Id="rId11" Type="http://schemas.openxmlformats.org/officeDocument/2006/relationships/image" Target="../media/image38.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9.png"/><Relationship Id="rId9" Type="http://schemas.openxmlformats.org/officeDocument/2006/relationships/hyperlink" Target="https://www.flickr.com/photos/48533436@N02/15856103516/" TargetMode="External"/></Relationships>
</file>

<file path=ppt/slides/_rels/slide4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6.xml"/><Relationship Id="rId4" Type="http://schemas.openxmlformats.org/officeDocument/2006/relationships/chart" Target="../charts/chart7.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chart" Target="../charts/chart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 black and white photo of a city&#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9" name="Rectangle 18">
            <a:extLs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0">
            <a:gsLst>
              <a:gs pos="100000">
                <a:srgbClr val="1F2229">
                  <a:alpha val="60000"/>
                </a:srgbClr>
              </a:gs>
              <a:gs pos="2000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2595850" y="3444079"/>
            <a:ext cx="7000314" cy="1354217"/>
          </a:xfrm>
          <a:prstGeom prst="rect">
            <a:avLst/>
          </a:prstGeom>
          <a:noFill/>
        </p:spPr>
        <p:txBody>
          <a:bodyPr wrap="none" lIns="0" tIns="0" rIns="0" bIns="0" rtlCol="0">
            <a:spAutoFit/>
          </a:bodyPr>
          <a:lstStyle/>
          <a:p>
            <a:pPr algn="ctr">
              <a:tabLst>
                <a:tab pos="347663" algn="l"/>
              </a:tabLst>
            </a:pPr>
            <a:r>
              <a:rPr lang="en-US" sz="4400" b="1" dirty="0">
                <a:solidFill>
                  <a:schemeClr val="bg1"/>
                </a:solidFill>
                <a:latin typeface="+mj-lt"/>
              </a:rPr>
              <a:t>Operation Analytics &amp; </a:t>
            </a:r>
          </a:p>
          <a:p>
            <a:pPr algn="ctr">
              <a:tabLst>
                <a:tab pos="347663" algn="l"/>
              </a:tabLst>
            </a:pPr>
            <a:r>
              <a:rPr lang="en-US" sz="4400" b="1" dirty="0">
                <a:solidFill>
                  <a:schemeClr val="bg1"/>
                </a:solidFill>
                <a:latin typeface="+mj-lt"/>
              </a:rPr>
              <a:t>Investigating Metric Spike</a:t>
            </a:r>
          </a:p>
        </p:txBody>
      </p:sp>
      <p:sp>
        <p:nvSpPr>
          <p:cNvPr id="21" name="TextBox 20"/>
          <p:cNvSpPr txBox="1"/>
          <p:nvPr/>
        </p:nvSpPr>
        <p:spPr>
          <a:xfrm>
            <a:off x="4645472" y="5275698"/>
            <a:ext cx="2901051" cy="800219"/>
          </a:xfrm>
          <a:prstGeom prst="rect">
            <a:avLst/>
          </a:prstGeom>
          <a:noFill/>
        </p:spPr>
        <p:txBody>
          <a:bodyPr wrap="none" lIns="0" tIns="0" rIns="0" bIns="0" rtlCol="0">
            <a:spAutoFit/>
          </a:bodyPr>
          <a:lstStyle/>
          <a:p>
            <a:pPr algn="ctr">
              <a:tabLst>
                <a:tab pos="347663" algn="l"/>
              </a:tabLst>
            </a:pPr>
            <a:r>
              <a:rPr lang="en-US" sz="2000" dirty="0">
                <a:solidFill>
                  <a:schemeClr val="bg1"/>
                </a:solidFill>
              </a:rPr>
              <a:t>Trainity Project 3</a:t>
            </a:r>
          </a:p>
          <a:p>
            <a:pPr algn="ctr">
              <a:tabLst>
                <a:tab pos="347663" algn="l"/>
              </a:tabLst>
            </a:pPr>
            <a:r>
              <a:rPr lang="en-US" sz="3200" b="1" dirty="0">
                <a:solidFill>
                  <a:schemeClr val="bg1"/>
                </a:solidFill>
              </a:rPr>
              <a:t>Darshani Kirtiwar</a:t>
            </a:r>
          </a:p>
        </p:txBody>
      </p:sp>
      <p:sp>
        <p:nvSpPr>
          <p:cNvPr id="2" name="Oval 1">
            <a:extLst>
              <a:ext uri="{C183D7F6-B498-43B3-948B-1728B52AA6E4}">
                <adec:decorative xmlns:adec="http://schemas.microsoft.com/office/drawing/2017/decorative" val="1"/>
              </a:ext>
            </a:extLst>
          </p:cNvPr>
          <p:cNvSpPr/>
          <p:nvPr/>
        </p:nvSpPr>
        <p:spPr>
          <a:xfrm>
            <a:off x="5657640" y="2479683"/>
            <a:ext cx="876722" cy="876720"/>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Oval 9">
            <a:extLst>
              <a:ext uri="{C183D7F6-B498-43B3-948B-1728B52AA6E4}">
                <adec:decorative xmlns:adec="http://schemas.microsoft.com/office/drawing/2017/decorative" val="1"/>
              </a:ext>
            </a:extLst>
          </p:cNvPr>
          <p:cNvSpPr/>
          <p:nvPr/>
        </p:nvSpPr>
        <p:spPr>
          <a:xfrm>
            <a:off x="6043971" y="2565407"/>
            <a:ext cx="705274" cy="705272"/>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C183D7F6-B498-43B3-948B-1728B52AA6E4}">
                <adec:decorative xmlns:adec="http://schemas.microsoft.com/office/drawing/2017/decorative" val="1"/>
              </a:ext>
            </a:extLst>
          </p:cNvPr>
          <p:cNvSpPr/>
          <p:nvPr/>
        </p:nvSpPr>
        <p:spPr>
          <a:xfrm>
            <a:off x="5442756" y="2565407"/>
            <a:ext cx="705274" cy="705272"/>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hidden="1">
            <a:extLst>
              <a:ext uri="{FF2B5EF4-FFF2-40B4-BE49-F238E27FC236}">
                <a16:creationId xmlns:a16="http://schemas.microsoft.com/office/drawing/2014/main" id="{80AA5C56-EC57-4914-8118-68854697E0F3}"/>
              </a:ext>
            </a:extLst>
          </p:cNvPr>
          <p:cNvSpPr>
            <a:spLocks noGrp="1"/>
          </p:cNvSpPr>
          <p:nvPr>
            <p:ph type="title"/>
          </p:nvPr>
        </p:nvSpPr>
        <p:spPr/>
        <p:txBody>
          <a:bodyPr/>
          <a:lstStyle/>
          <a:p>
            <a:r>
              <a:rPr lang="en-US" dirty="0"/>
              <a:t>Slide 1</a:t>
            </a:r>
          </a:p>
        </p:txBody>
      </p:sp>
    </p:spTree>
    <p:extLst>
      <p:ext uri="{BB962C8B-B14F-4D97-AF65-F5344CB8AC3E}">
        <p14:creationId xmlns:p14="http://schemas.microsoft.com/office/powerpoint/2010/main" val="735082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A25E4-5C71-6504-3A30-E593D8FD3BED}"/>
            </a:ext>
          </a:extLst>
        </p:cNvPr>
        <p:cNvGrpSpPr/>
        <p:nvPr/>
      </p:nvGrpSpPr>
      <p:grpSpPr>
        <a:xfrm>
          <a:off x="0" y="0"/>
          <a:ext cx="0" cy="0"/>
          <a:chOff x="0" y="0"/>
          <a:chExt cx="0" cy="0"/>
        </a:xfrm>
      </p:grpSpPr>
      <p:sp>
        <p:nvSpPr>
          <p:cNvPr id="104" name="Rectangle 103">
            <a:extLst>
              <a:ext uri="{FF2B5EF4-FFF2-40B4-BE49-F238E27FC236}">
                <a16:creationId xmlns:a16="http://schemas.microsoft.com/office/drawing/2014/main" id="{C44A87EA-757F-3A75-391E-401BC9A3385D}"/>
              </a:ext>
              <a:ext uri="{C183D7F6-B498-43B3-948B-1728B52AA6E4}">
                <adec:decorative xmlns:adec="http://schemas.microsoft.com/office/drawing/2017/decorative" val="1"/>
              </a:ext>
            </a:extLst>
          </p:cNvPr>
          <p:cNvSpPr/>
          <p:nvPr/>
        </p:nvSpPr>
        <p:spPr>
          <a:xfrm>
            <a:off x="0" y="0"/>
            <a:ext cx="6096000" cy="6857999"/>
          </a:xfrm>
          <a:prstGeom prst="rect">
            <a:avLst/>
          </a:prstGeom>
          <a:solidFill>
            <a:srgbClr val="30353F">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9933D381-384D-37DF-F402-90A7C4517C77}"/>
              </a:ext>
              <a:ext uri="{C183D7F6-B498-43B3-948B-1728B52AA6E4}">
                <adec:decorative xmlns:adec="http://schemas.microsoft.com/office/drawing/2017/decorative" val="1"/>
              </a:ext>
            </a:extLst>
          </p:cNvPr>
          <p:cNvGrpSpPr/>
          <p:nvPr/>
        </p:nvGrpSpPr>
        <p:grpSpPr>
          <a:xfrm>
            <a:off x="9912263" y="2010673"/>
            <a:ext cx="1281512" cy="487738"/>
            <a:chOff x="9912263" y="2010673"/>
            <a:chExt cx="1281512" cy="487738"/>
          </a:xfrm>
          <a:effectLst>
            <a:outerShdw blurRad="50800" dist="38100" dir="8100000" algn="tr" rotWithShape="0">
              <a:prstClr val="black">
                <a:alpha val="40000"/>
              </a:prstClr>
            </a:outerShdw>
          </a:effectLst>
        </p:grpSpPr>
        <p:sp>
          <p:nvSpPr>
            <p:cNvPr id="55" name="Freeform 54">
              <a:extLst>
                <a:ext uri="{FF2B5EF4-FFF2-40B4-BE49-F238E27FC236}">
                  <a16:creationId xmlns:a16="http://schemas.microsoft.com/office/drawing/2014/main" id="{7F967BE8-1171-7B58-2026-07E8D8668012}"/>
                </a:ext>
              </a:extLst>
            </p:cNvPr>
            <p:cNvSpPr/>
            <p:nvPr/>
          </p:nvSpPr>
          <p:spPr>
            <a:xfrm>
              <a:off x="9912263" y="2010673"/>
              <a:ext cx="1281512" cy="487738"/>
            </a:xfrm>
            <a:custGeom>
              <a:avLst/>
              <a:gdLst>
                <a:gd name="connsiteX0" fmla="*/ 0 w 1281512"/>
                <a:gd name="connsiteY0" fmla="*/ 0 h 487738"/>
                <a:gd name="connsiteX1" fmla="*/ 1024517 w 1281512"/>
                <a:gd name="connsiteY1" fmla="*/ 0 h 487738"/>
                <a:gd name="connsiteX2" fmla="*/ 1024517 w 1281512"/>
                <a:gd name="connsiteY2" fmla="*/ 1323 h 487738"/>
                <a:gd name="connsiteX3" fmla="*/ 1037643 w 1281512"/>
                <a:gd name="connsiteY3" fmla="*/ 0 h 487738"/>
                <a:gd name="connsiteX4" fmla="*/ 1281512 w 1281512"/>
                <a:gd name="connsiteY4" fmla="*/ 243869 h 487738"/>
                <a:gd name="connsiteX5" fmla="*/ 1037643 w 1281512"/>
                <a:gd name="connsiteY5" fmla="*/ 487738 h 487738"/>
                <a:gd name="connsiteX6" fmla="*/ 1024517 w 1281512"/>
                <a:gd name="connsiteY6" fmla="*/ 486415 h 487738"/>
                <a:gd name="connsiteX7" fmla="*/ 1024517 w 1281512"/>
                <a:gd name="connsiteY7" fmla="*/ 487737 h 487738"/>
                <a:gd name="connsiteX8" fmla="*/ 0 w 1281512"/>
                <a:gd name="connsiteY8" fmla="*/ 487737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512" h="487738">
                  <a:moveTo>
                    <a:pt x="0" y="0"/>
                  </a:moveTo>
                  <a:lnTo>
                    <a:pt x="1024517" y="0"/>
                  </a:lnTo>
                  <a:lnTo>
                    <a:pt x="1024517" y="1323"/>
                  </a:lnTo>
                  <a:lnTo>
                    <a:pt x="1037643" y="0"/>
                  </a:lnTo>
                  <a:cubicBezTo>
                    <a:pt x="1172328" y="0"/>
                    <a:pt x="1281512" y="109184"/>
                    <a:pt x="1281512" y="243869"/>
                  </a:cubicBezTo>
                  <a:cubicBezTo>
                    <a:pt x="1281512" y="378554"/>
                    <a:pt x="1172328" y="487738"/>
                    <a:pt x="1037643" y="487738"/>
                  </a:cubicBezTo>
                  <a:lnTo>
                    <a:pt x="1024517" y="486415"/>
                  </a:lnTo>
                  <a:lnTo>
                    <a:pt x="1024517" y="487737"/>
                  </a:lnTo>
                  <a:lnTo>
                    <a:pt x="0" y="487737"/>
                  </a:lnTo>
                  <a:close/>
                </a:path>
              </a:pathLst>
            </a:custGeom>
            <a:solidFill>
              <a:srgbClr val="30353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3" name="Group 72">
              <a:extLst>
                <a:ext uri="{FF2B5EF4-FFF2-40B4-BE49-F238E27FC236}">
                  <a16:creationId xmlns:a16="http://schemas.microsoft.com/office/drawing/2014/main" id="{EDA0E681-E266-796C-3CA0-7343B3CCCDF2}"/>
                </a:ext>
              </a:extLst>
            </p:cNvPr>
            <p:cNvGrpSpPr/>
            <p:nvPr/>
          </p:nvGrpSpPr>
          <p:grpSpPr>
            <a:xfrm flipH="1">
              <a:off x="10838597" y="2143232"/>
              <a:ext cx="222620" cy="222620"/>
              <a:chOff x="1389063" y="3748088"/>
              <a:chExt cx="336550" cy="336550"/>
            </a:xfrm>
            <a:solidFill>
              <a:schemeClr val="bg1"/>
            </a:solidFill>
          </p:grpSpPr>
          <p:sp>
            <p:nvSpPr>
              <p:cNvPr id="74" name="Freeform 5">
                <a:extLst>
                  <a:ext uri="{FF2B5EF4-FFF2-40B4-BE49-F238E27FC236}">
                    <a16:creationId xmlns:a16="http://schemas.microsoft.com/office/drawing/2014/main" id="{D81D7012-EA18-2F91-AD84-FC65E403804F}"/>
                  </a:ext>
                </a:extLst>
              </p:cNvPr>
              <p:cNvSpPr>
                <a:spLocks/>
              </p:cNvSpPr>
              <p:nvPr/>
            </p:nvSpPr>
            <p:spPr bwMode="auto">
              <a:xfrm>
                <a:off x="1547813" y="3787776"/>
                <a:ext cx="58738" cy="60325"/>
              </a:xfrm>
              <a:custGeom>
                <a:avLst/>
                <a:gdLst>
                  <a:gd name="T0" fmla="*/ 300 w 360"/>
                  <a:gd name="T1" fmla="*/ 244 h 364"/>
                  <a:gd name="T2" fmla="*/ 120 w 360"/>
                  <a:gd name="T3" fmla="*/ 244 h 364"/>
                  <a:gd name="T4" fmla="*/ 120 w 360"/>
                  <a:gd name="T5" fmla="*/ 60 h 364"/>
                  <a:gd name="T6" fmla="*/ 60 w 360"/>
                  <a:gd name="T7" fmla="*/ 0 h 364"/>
                  <a:gd name="T8" fmla="*/ 0 w 360"/>
                  <a:gd name="T9" fmla="*/ 60 h 364"/>
                  <a:gd name="T10" fmla="*/ 0 w 360"/>
                  <a:gd name="T11" fmla="*/ 304 h 364"/>
                  <a:gd name="T12" fmla="*/ 60 w 360"/>
                  <a:gd name="T13" fmla="*/ 364 h 364"/>
                  <a:gd name="T14" fmla="*/ 300 w 360"/>
                  <a:gd name="T15" fmla="*/ 364 h 364"/>
                  <a:gd name="T16" fmla="*/ 360 w 360"/>
                  <a:gd name="T17" fmla="*/ 304 h 364"/>
                  <a:gd name="T18" fmla="*/ 300 w 360"/>
                  <a:gd name="T19" fmla="*/ 24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364">
                    <a:moveTo>
                      <a:pt x="300" y="244"/>
                    </a:moveTo>
                    <a:cubicBezTo>
                      <a:pt x="120" y="244"/>
                      <a:pt x="120" y="244"/>
                      <a:pt x="120" y="244"/>
                    </a:cubicBezTo>
                    <a:cubicBezTo>
                      <a:pt x="120" y="60"/>
                      <a:pt x="120" y="60"/>
                      <a:pt x="120" y="60"/>
                    </a:cubicBezTo>
                    <a:cubicBezTo>
                      <a:pt x="120" y="27"/>
                      <a:pt x="93" y="0"/>
                      <a:pt x="60" y="0"/>
                    </a:cubicBezTo>
                    <a:cubicBezTo>
                      <a:pt x="27" y="0"/>
                      <a:pt x="0" y="27"/>
                      <a:pt x="0" y="60"/>
                    </a:cubicBezTo>
                    <a:cubicBezTo>
                      <a:pt x="0" y="304"/>
                      <a:pt x="0" y="304"/>
                      <a:pt x="0" y="304"/>
                    </a:cubicBezTo>
                    <a:cubicBezTo>
                      <a:pt x="0" y="337"/>
                      <a:pt x="27" y="364"/>
                      <a:pt x="60" y="364"/>
                    </a:cubicBezTo>
                    <a:cubicBezTo>
                      <a:pt x="300" y="364"/>
                      <a:pt x="300" y="364"/>
                      <a:pt x="300" y="364"/>
                    </a:cubicBezTo>
                    <a:cubicBezTo>
                      <a:pt x="333" y="364"/>
                      <a:pt x="360" y="337"/>
                      <a:pt x="360" y="304"/>
                    </a:cubicBezTo>
                    <a:cubicBezTo>
                      <a:pt x="360" y="271"/>
                      <a:pt x="333" y="244"/>
                      <a:pt x="300" y="2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6">
                <a:extLst>
                  <a:ext uri="{FF2B5EF4-FFF2-40B4-BE49-F238E27FC236}">
                    <a16:creationId xmlns:a16="http://schemas.microsoft.com/office/drawing/2014/main" id="{EC688CA5-A693-4A0E-72B7-A3D31F606A6F}"/>
                  </a:ext>
                </a:extLst>
              </p:cNvPr>
              <p:cNvSpPr>
                <a:spLocks noEditPoints="1"/>
              </p:cNvSpPr>
              <p:nvPr/>
            </p:nvSpPr>
            <p:spPr bwMode="auto">
              <a:xfrm>
                <a:off x="1389063" y="3748088"/>
                <a:ext cx="336550" cy="336550"/>
              </a:xfrm>
              <a:custGeom>
                <a:avLst/>
                <a:gdLst>
                  <a:gd name="T0" fmla="*/ 1808 w 2048"/>
                  <a:gd name="T1" fmla="*/ 1454 h 2048"/>
                  <a:gd name="T2" fmla="*/ 1808 w 2048"/>
                  <a:gd name="T3" fmla="*/ 1388 h 2048"/>
                  <a:gd name="T4" fmla="*/ 1628 w 2048"/>
                  <a:gd name="T5" fmla="*/ 1208 h 2048"/>
                  <a:gd name="T6" fmla="*/ 1084 w 2048"/>
                  <a:gd name="T7" fmla="*/ 1208 h 2048"/>
                  <a:gd name="T8" fmla="*/ 1084 w 2048"/>
                  <a:gd name="T9" fmla="*/ 1085 h 2048"/>
                  <a:gd name="T10" fmla="*/ 1564 w 2048"/>
                  <a:gd name="T11" fmla="*/ 544 h 2048"/>
                  <a:gd name="T12" fmla="*/ 1024 w 2048"/>
                  <a:gd name="T13" fmla="*/ 0 h 2048"/>
                  <a:gd name="T14" fmla="*/ 484 w 2048"/>
                  <a:gd name="T15" fmla="*/ 544 h 2048"/>
                  <a:gd name="T16" fmla="*/ 964 w 2048"/>
                  <a:gd name="T17" fmla="*/ 1085 h 2048"/>
                  <a:gd name="T18" fmla="*/ 964 w 2048"/>
                  <a:gd name="T19" fmla="*/ 1208 h 2048"/>
                  <a:gd name="T20" fmla="*/ 420 w 2048"/>
                  <a:gd name="T21" fmla="*/ 1208 h 2048"/>
                  <a:gd name="T22" fmla="*/ 240 w 2048"/>
                  <a:gd name="T23" fmla="*/ 1388 h 2048"/>
                  <a:gd name="T24" fmla="*/ 240 w 2048"/>
                  <a:gd name="T25" fmla="*/ 1454 h 2048"/>
                  <a:gd name="T26" fmla="*/ 0 w 2048"/>
                  <a:gd name="T27" fmla="*/ 1748 h 2048"/>
                  <a:gd name="T28" fmla="*/ 300 w 2048"/>
                  <a:gd name="T29" fmla="*/ 2048 h 2048"/>
                  <a:gd name="T30" fmla="*/ 600 w 2048"/>
                  <a:gd name="T31" fmla="*/ 1748 h 2048"/>
                  <a:gd name="T32" fmla="*/ 360 w 2048"/>
                  <a:gd name="T33" fmla="*/ 1454 h 2048"/>
                  <a:gd name="T34" fmla="*/ 360 w 2048"/>
                  <a:gd name="T35" fmla="*/ 1388 h 2048"/>
                  <a:gd name="T36" fmla="*/ 420 w 2048"/>
                  <a:gd name="T37" fmla="*/ 1328 h 2048"/>
                  <a:gd name="T38" fmla="*/ 964 w 2048"/>
                  <a:gd name="T39" fmla="*/ 1328 h 2048"/>
                  <a:gd name="T40" fmla="*/ 964 w 2048"/>
                  <a:gd name="T41" fmla="*/ 1454 h 2048"/>
                  <a:gd name="T42" fmla="*/ 724 w 2048"/>
                  <a:gd name="T43" fmla="*/ 1748 h 2048"/>
                  <a:gd name="T44" fmla="*/ 1024 w 2048"/>
                  <a:gd name="T45" fmla="*/ 2048 h 2048"/>
                  <a:gd name="T46" fmla="*/ 1324 w 2048"/>
                  <a:gd name="T47" fmla="*/ 1748 h 2048"/>
                  <a:gd name="T48" fmla="*/ 1084 w 2048"/>
                  <a:gd name="T49" fmla="*/ 1454 h 2048"/>
                  <a:gd name="T50" fmla="*/ 1084 w 2048"/>
                  <a:gd name="T51" fmla="*/ 1328 h 2048"/>
                  <a:gd name="T52" fmla="*/ 1628 w 2048"/>
                  <a:gd name="T53" fmla="*/ 1328 h 2048"/>
                  <a:gd name="T54" fmla="*/ 1688 w 2048"/>
                  <a:gd name="T55" fmla="*/ 1388 h 2048"/>
                  <a:gd name="T56" fmla="*/ 1688 w 2048"/>
                  <a:gd name="T57" fmla="*/ 1454 h 2048"/>
                  <a:gd name="T58" fmla="*/ 1448 w 2048"/>
                  <a:gd name="T59" fmla="*/ 1748 h 2048"/>
                  <a:gd name="T60" fmla="*/ 1748 w 2048"/>
                  <a:gd name="T61" fmla="*/ 2048 h 2048"/>
                  <a:gd name="T62" fmla="*/ 2048 w 2048"/>
                  <a:gd name="T63" fmla="*/ 1748 h 2048"/>
                  <a:gd name="T64" fmla="*/ 1808 w 2048"/>
                  <a:gd name="T65" fmla="*/ 1454 h 2048"/>
                  <a:gd name="T66" fmla="*/ 480 w 2048"/>
                  <a:gd name="T67" fmla="*/ 1748 h 2048"/>
                  <a:gd name="T68" fmla="*/ 300 w 2048"/>
                  <a:gd name="T69" fmla="*/ 1928 h 2048"/>
                  <a:gd name="T70" fmla="*/ 120 w 2048"/>
                  <a:gd name="T71" fmla="*/ 1748 h 2048"/>
                  <a:gd name="T72" fmla="*/ 300 w 2048"/>
                  <a:gd name="T73" fmla="*/ 1568 h 2048"/>
                  <a:gd name="T74" fmla="*/ 480 w 2048"/>
                  <a:gd name="T75" fmla="*/ 1748 h 2048"/>
                  <a:gd name="T76" fmla="*/ 1204 w 2048"/>
                  <a:gd name="T77" fmla="*/ 1748 h 2048"/>
                  <a:gd name="T78" fmla="*/ 1024 w 2048"/>
                  <a:gd name="T79" fmla="*/ 1928 h 2048"/>
                  <a:gd name="T80" fmla="*/ 844 w 2048"/>
                  <a:gd name="T81" fmla="*/ 1748 h 2048"/>
                  <a:gd name="T82" fmla="*/ 1024 w 2048"/>
                  <a:gd name="T83" fmla="*/ 1568 h 2048"/>
                  <a:gd name="T84" fmla="*/ 1204 w 2048"/>
                  <a:gd name="T85" fmla="*/ 1748 h 2048"/>
                  <a:gd name="T86" fmla="*/ 1024 w 2048"/>
                  <a:gd name="T87" fmla="*/ 968 h 2048"/>
                  <a:gd name="T88" fmla="*/ 604 w 2048"/>
                  <a:gd name="T89" fmla="*/ 544 h 2048"/>
                  <a:gd name="T90" fmla="*/ 1024 w 2048"/>
                  <a:gd name="T91" fmla="*/ 120 h 2048"/>
                  <a:gd name="T92" fmla="*/ 1444 w 2048"/>
                  <a:gd name="T93" fmla="*/ 544 h 2048"/>
                  <a:gd name="T94" fmla="*/ 1024 w 2048"/>
                  <a:gd name="T95" fmla="*/ 968 h 2048"/>
                  <a:gd name="T96" fmla="*/ 1748 w 2048"/>
                  <a:gd name="T97" fmla="*/ 1928 h 2048"/>
                  <a:gd name="T98" fmla="*/ 1568 w 2048"/>
                  <a:gd name="T99" fmla="*/ 1748 h 2048"/>
                  <a:gd name="T100" fmla="*/ 1748 w 2048"/>
                  <a:gd name="T101" fmla="*/ 1568 h 2048"/>
                  <a:gd name="T102" fmla="*/ 1928 w 2048"/>
                  <a:gd name="T103" fmla="*/ 1748 h 2048"/>
                  <a:gd name="T104" fmla="*/ 1748 w 2048"/>
                  <a:gd name="T105" fmla="*/ 192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48" h="2048">
                    <a:moveTo>
                      <a:pt x="1808" y="1454"/>
                    </a:moveTo>
                    <a:cubicBezTo>
                      <a:pt x="1808" y="1388"/>
                      <a:pt x="1808" y="1388"/>
                      <a:pt x="1808" y="1388"/>
                    </a:cubicBezTo>
                    <a:cubicBezTo>
                      <a:pt x="1808" y="1289"/>
                      <a:pt x="1727" y="1208"/>
                      <a:pt x="1628" y="1208"/>
                    </a:cubicBezTo>
                    <a:cubicBezTo>
                      <a:pt x="1084" y="1208"/>
                      <a:pt x="1084" y="1208"/>
                      <a:pt x="1084" y="1208"/>
                    </a:cubicBezTo>
                    <a:cubicBezTo>
                      <a:pt x="1084" y="1085"/>
                      <a:pt x="1084" y="1085"/>
                      <a:pt x="1084" y="1085"/>
                    </a:cubicBezTo>
                    <a:cubicBezTo>
                      <a:pt x="1354" y="1054"/>
                      <a:pt x="1564" y="824"/>
                      <a:pt x="1564" y="544"/>
                    </a:cubicBezTo>
                    <a:cubicBezTo>
                      <a:pt x="1564" y="244"/>
                      <a:pt x="1322" y="0"/>
                      <a:pt x="1024" y="0"/>
                    </a:cubicBezTo>
                    <a:cubicBezTo>
                      <a:pt x="726" y="0"/>
                      <a:pt x="484" y="244"/>
                      <a:pt x="484" y="544"/>
                    </a:cubicBezTo>
                    <a:cubicBezTo>
                      <a:pt x="484" y="824"/>
                      <a:pt x="694" y="1054"/>
                      <a:pt x="964" y="1085"/>
                    </a:cubicBezTo>
                    <a:cubicBezTo>
                      <a:pt x="964" y="1208"/>
                      <a:pt x="964" y="1208"/>
                      <a:pt x="964" y="1208"/>
                    </a:cubicBezTo>
                    <a:cubicBezTo>
                      <a:pt x="420" y="1208"/>
                      <a:pt x="420" y="1208"/>
                      <a:pt x="420" y="1208"/>
                    </a:cubicBezTo>
                    <a:cubicBezTo>
                      <a:pt x="321" y="1208"/>
                      <a:pt x="240" y="1289"/>
                      <a:pt x="240" y="1388"/>
                    </a:cubicBezTo>
                    <a:cubicBezTo>
                      <a:pt x="240" y="1454"/>
                      <a:pt x="240" y="1454"/>
                      <a:pt x="240" y="1454"/>
                    </a:cubicBezTo>
                    <a:cubicBezTo>
                      <a:pt x="103" y="1482"/>
                      <a:pt x="0" y="1603"/>
                      <a:pt x="0" y="1748"/>
                    </a:cubicBezTo>
                    <a:cubicBezTo>
                      <a:pt x="0" y="1913"/>
                      <a:pt x="135" y="2048"/>
                      <a:pt x="300" y="2048"/>
                    </a:cubicBezTo>
                    <a:cubicBezTo>
                      <a:pt x="465" y="2048"/>
                      <a:pt x="600" y="1913"/>
                      <a:pt x="600" y="1748"/>
                    </a:cubicBezTo>
                    <a:cubicBezTo>
                      <a:pt x="600" y="1603"/>
                      <a:pt x="497" y="1482"/>
                      <a:pt x="360" y="1454"/>
                    </a:cubicBezTo>
                    <a:cubicBezTo>
                      <a:pt x="360" y="1388"/>
                      <a:pt x="360" y="1388"/>
                      <a:pt x="360" y="1388"/>
                    </a:cubicBezTo>
                    <a:cubicBezTo>
                      <a:pt x="360" y="1355"/>
                      <a:pt x="387" y="1328"/>
                      <a:pt x="420" y="1328"/>
                    </a:cubicBezTo>
                    <a:cubicBezTo>
                      <a:pt x="964" y="1328"/>
                      <a:pt x="964" y="1328"/>
                      <a:pt x="964" y="1328"/>
                    </a:cubicBezTo>
                    <a:cubicBezTo>
                      <a:pt x="964" y="1454"/>
                      <a:pt x="964" y="1454"/>
                      <a:pt x="964" y="1454"/>
                    </a:cubicBezTo>
                    <a:cubicBezTo>
                      <a:pt x="827" y="1482"/>
                      <a:pt x="724" y="1603"/>
                      <a:pt x="724" y="1748"/>
                    </a:cubicBezTo>
                    <a:cubicBezTo>
                      <a:pt x="724" y="1913"/>
                      <a:pt x="859" y="2048"/>
                      <a:pt x="1024" y="2048"/>
                    </a:cubicBezTo>
                    <a:cubicBezTo>
                      <a:pt x="1189" y="2048"/>
                      <a:pt x="1324" y="1913"/>
                      <a:pt x="1324" y="1748"/>
                    </a:cubicBezTo>
                    <a:cubicBezTo>
                      <a:pt x="1324" y="1603"/>
                      <a:pt x="1221" y="1482"/>
                      <a:pt x="1084" y="1454"/>
                    </a:cubicBezTo>
                    <a:cubicBezTo>
                      <a:pt x="1084" y="1328"/>
                      <a:pt x="1084" y="1328"/>
                      <a:pt x="1084" y="1328"/>
                    </a:cubicBezTo>
                    <a:cubicBezTo>
                      <a:pt x="1628" y="1328"/>
                      <a:pt x="1628" y="1328"/>
                      <a:pt x="1628" y="1328"/>
                    </a:cubicBezTo>
                    <a:cubicBezTo>
                      <a:pt x="1661" y="1328"/>
                      <a:pt x="1688" y="1355"/>
                      <a:pt x="1688" y="1388"/>
                    </a:cubicBezTo>
                    <a:cubicBezTo>
                      <a:pt x="1688" y="1454"/>
                      <a:pt x="1688" y="1454"/>
                      <a:pt x="1688" y="1454"/>
                    </a:cubicBezTo>
                    <a:cubicBezTo>
                      <a:pt x="1551" y="1482"/>
                      <a:pt x="1448" y="1603"/>
                      <a:pt x="1448" y="1748"/>
                    </a:cubicBezTo>
                    <a:cubicBezTo>
                      <a:pt x="1448" y="1913"/>
                      <a:pt x="1583" y="2048"/>
                      <a:pt x="1748" y="2048"/>
                    </a:cubicBezTo>
                    <a:cubicBezTo>
                      <a:pt x="1913" y="2048"/>
                      <a:pt x="2048" y="1913"/>
                      <a:pt x="2048" y="1748"/>
                    </a:cubicBezTo>
                    <a:cubicBezTo>
                      <a:pt x="2048" y="1603"/>
                      <a:pt x="1945" y="1482"/>
                      <a:pt x="1808" y="1454"/>
                    </a:cubicBezTo>
                    <a:close/>
                    <a:moveTo>
                      <a:pt x="480" y="1748"/>
                    </a:moveTo>
                    <a:cubicBezTo>
                      <a:pt x="480" y="1847"/>
                      <a:pt x="399" y="1928"/>
                      <a:pt x="300" y="1928"/>
                    </a:cubicBezTo>
                    <a:cubicBezTo>
                      <a:pt x="201" y="1928"/>
                      <a:pt x="120" y="1847"/>
                      <a:pt x="120" y="1748"/>
                    </a:cubicBezTo>
                    <a:cubicBezTo>
                      <a:pt x="120" y="1649"/>
                      <a:pt x="201" y="1568"/>
                      <a:pt x="300" y="1568"/>
                    </a:cubicBezTo>
                    <a:cubicBezTo>
                      <a:pt x="399" y="1568"/>
                      <a:pt x="480" y="1649"/>
                      <a:pt x="480" y="1748"/>
                    </a:cubicBezTo>
                    <a:close/>
                    <a:moveTo>
                      <a:pt x="1204" y="1748"/>
                    </a:moveTo>
                    <a:cubicBezTo>
                      <a:pt x="1204" y="1847"/>
                      <a:pt x="1123" y="1928"/>
                      <a:pt x="1024" y="1928"/>
                    </a:cubicBezTo>
                    <a:cubicBezTo>
                      <a:pt x="925" y="1928"/>
                      <a:pt x="844" y="1847"/>
                      <a:pt x="844" y="1748"/>
                    </a:cubicBezTo>
                    <a:cubicBezTo>
                      <a:pt x="844" y="1649"/>
                      <a:pt x="925" y="1568"/>
                      <a:pt x="1024" y="1568"/>
                    </a:cubicBezTo>
                    <a:cubicBezTo>
                      <a:pt x="1123" y="1568"/>
                      <a:pt x="1204" y="1649"/>
                      <a:pt x="1204" y="1748"/>
                    </a:cubicBezTo>
                    <a:close/>
                    <a:moveTo>
                      <a:pt x="1024" y="968"/>
                    </a:moveTo>
                    <a:cubicBezTo>
                      <a:pt x="792" y="968"/>
                      <a:pt x="604" y="778"/>
                      <a:pt x="604" y="544"/>
                    </a:cubicBezTo>
                    <a:cubicBezTo>
                      <a:pt x="604" y="310"/>
                      <a:pt x="792" y="120"/>
                      <a:pt x="1024" y="120"/>
                    </a:cubicBezTo>
                    <a:cubicBezTo>
                      <a:pt x="1256" y="120"/>
                      <a:pt x="1444" y="310"/>
                      <a:pt x="1444" y="544"/>
                    </a:cubicBezTo>
                    <a:cubicBezTo>
                      <a:pt x="1444" y="778"/>
                      <a:pt x="1256" y="968"/>
                      <a:pt x="1024" y="968"/>
                    </a:cubicBezTo>
                    <a:close/>
                    <a:moveTo>
                      <a:pt x="1748" y="1928"/>
                    </a:moveTo>
                    <a:cubicBezTo>
                      <a:pt x="1649" y="1928"/>
                      <a:pt x="1568" y="1847"/>
                      <a:pt x="1568" y="1748"/>
                    </a:cubicBezTo>
                    <a:cubicBezTo>
                      <a:pt x="1568" y="1649"/>
                      <a:pt x="1649" y="1568"/>
                      <a:pt x="1748" y="1568"/>
                    </a:cubicBezTo>
                    <a:cubicBezTo>
                      <a:pt x="1847" y="1568"/>
                      <a:pt x="1928" y="1649"/>
                      <a:pt x="1928" y="1748"/>
                    </a:cubicBezTo>
                    <a:cubicBezTo>
                      <a:pt x="1928" y="1847"/>
                      <a:pt x="1847" y="1928"/>
                      <a:pt x="1748" y="19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7" name="Group 6">
            <a:extLst>
              <a:ext uri="{FF2B5EF4-FFF2-40B4-BE49-F238E27FC236}">
                <a16:creationId xmlns:a16="http://schemas.microsoft.com/office/drawing/2014/main" id="{A0B7A152-1924-0881-3E5A-B6003223BD63}"/>
              </a:ext>
              <a:ext uri="{C183D7F6-B498-43B3-948B-1728B52AA6E4}">
                <adec:decorative xmlns:adec="http://schemas.microsoft.com/office/drawing/2017/decorative" val="1"/>
              </a:ext>
            </a:extLst>
          </p:cNvPr>
          <p:cNvGrpSpPr/>
          <p:nvPr/>
        </p:nvGrpSpPr>
        <p:grpSpPr>
          <a:xfrm>
            <a:off x="9912263" y="2954121"/>
            <a:ext cx="1281512" cy="487738"/>
            <a:chOff x="9912263" y="3185130"/>
            <a:chExt cx="1281512" cy="487738"/>
          </a:xfrm>
          <a:effectLst>
            <a:outerShdw blurRad="50800" dist="38100" dir="8100000" algn="tr" rotWithShape="0">
              <a:prstClr val="black">
                <a:alpha val="40000"/>
              </a:prstClr>
            </a:outerShdw>
          </a:effectLst>
        </p:grpSpPr>
        <p:sp>
          <p:nvSpPr>
            <p:cNvPr id="54" name="Freeform 53">
              <a:extLst>
                <a:ext uri="{FF2B5EF4-FFF2-40B4-BE49-F238E27FC236}">
                  <a16:creationId xmlns:a16="http://schemas.microsoft.com/office/drawing/2014/main" id="{F3AE0761-BFD8-BE1B-9424-4E29B1571C3F}"/>
                </a:ext>
              </a:extLst>
            </p:cNvPr>
            <p:cNvSpPr/>
            <p:nvPr/>
          </p:nvSpPr>
          <p:spPr>
            <a:xfrm>
              <a:off x="9912263" y="3185130"/>
              <a:ext cx="1281512" cy="487738"/>
            </a:xfrm>
            <a:custGeom>
              <a:avLst/>
              <a:gdLst>
                <a:gd name="connsiteX0" fmla="*/ 0 w 1281512"/>
                <a:gd name="connsiteY0" fmla="*/ 0 h 487738"/>
                <a:gd name="connsiteX1" fmla="*/ 1024517 w 1281512"/>
                <a:gd name="connsiteY1" fmla="*/ 0 h 487738"/>
                <a:gd name="connsiteX2" fmla="*/ 1024517 w 1281512"/>
                <a:gd name="connsiteY2" fmla="*/ 1323 h 487738"/>
                <a:gd name="connsiteX3" fmla="*/ 1037643 w 1281512"/>
                <a:gd name="connsiteY3" fmla="*/ 0 h 487738"/>
                <a:gd name="connsiteX4" fmla="*/ 1281512 w 1281512"/>
                <a:gd name="connsiteY4" fmla="*/ 243869 h 487738"/>
                <a:gd name="connsiteX5" fmla="*/ 1037643 w 1281512"/>
                <a:gd name="connsiteY5" fmla="*/ 487738 h 487738"/>
                <a:gd name="connsiteX6" fmla="*/ 1024517 w 1281512"/>
                <a:gd name="connsiteY6" fmla="*/ 486415 h 487738"/>
                <a:gd name="connsiteX7" fmla="*/ 1024517 w 1281512"/>
                <a:gd name="connsiteY7" fmla="*/ 487737 h 487738"/>
                <a:gd name="connsiteX8" fmla="*/ 0 w 1281512"/>
                <a:gd name="connsiteY8" fmla="*/ 487737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512" h="487738">
                  <a:moveTo>
                    <a:pt x="0" y="0"/>
                  </a:moveTo>
                  <a:lnTo>
                    <a:pt x="1024517" y="0"/>
                  </a:lnTo>
                  <a:lnTo>
                    <a:pt x="1024517" y="1323"/>
                  </a:lnTo>
                  <a:lnTo>
                    <a:pt x="1037643" y="0"/>
                  </a:lnTo>
                  <a:cubicBezTo>
                    <a:pt x="1172328" y="0"/>
                    <a:pt x="1281512" y="109184"/>
                    <a:pt x="1281512" y="243869"/>
                  </a:cubicBezTo>
                  <a:cubicBezTo>
                    <a:pt x="1281512" y="378554"/>
                    <a:pt x="1172328" y="487738"/>
                    <a:pt x="1037643" y="487738"/>
                  </a:cubicBezTo>
                  <a:lnTo>
                    <a:pt x="1024517" y="486415"/>
                  </a:lnTo>
                  <a:lnTo>
                    <a:pt x="1024517" y="487737"/>
                  </a:lnTo>
                  <a:lnTo>
                    <a:pt x="0" y="487737"/>
                  </a:lnTo>
                  <a:close/>
                </a:path>
              </a:pathLst>
            </a:custGeom>
            <a:solidFill>
              <a:srgbClr val="9BA2A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0" name="Group 79">
              <a:extLst>
                <a:ext uri="{FF2B5EF4-FFF2-40B4-BE49-F238E27FC236}">
                  <a16:creationId xmlns:a16="http://schemas.microsoft.com/office/drawing/2014/main" id="{F685A3C1-BF50-D0A0-95E7-75A353B0C837}"/>
                </a:ext>
              </a:extLst>
            </p:cNvPr>
            <p:cNvGrpSpPr/>
            <p:nvPr/>
          </p:nvGrpSpPr>
          <p:grpSpPr>
            <a:xfrm flipH="1">
              <a:off x="10822976" y="3302068"/>
              <a:ext cx="253863" cy="253863"/>
              <a:chOff x="3613150" y="3706813"/>
              <a:chExt cx="420688" cy="420687"/>
            </a:xfrm>
          </p:grpSpPr>
          <p:sp>
            <p:nvSpPr>
              <p:cNvPr id="81" name="Freeform 10">
                <a:extLst>
                  <a:ext uri="{FF2B5EF4-FFF2-40B4-BE49-F238E27FC236}">
                    <a16:creationId xmlns:a16="http://schemas.microsoft.com/office/drawing/2014/main" id="{0DAF874C-3DAC-FB73-6677-A1CF31F8452C}"/>
                  </a:ext>
                </a:extLst>
              </p:cNvPr>
              <p:cNvSpPr>
                <a:spLocks noEditPoints="1"/>
              </p:cNvSpPr>
              <p:nvPr/>
            </p:nvSpPr>
            <p:spPr bwMode="auto">
              <a:xfrm>
                <a:off x="3613150" y="3930650"/>
                <a:ext cx="420688" cy="196850"/>
              </a:xfrm>
              <a:custGeom>
                <a:avLst/>
                <a:gdLst>
                  <a:gd name="T0" fmla="*/ 1823 w 2048"/>
                  <a:gd name="T1" fmla="*/ 528 h 960"/>
                  <a:gd name="T2" fmla="*/ 1928 w 2048"/>
                  <a:gd name="T3" fmla="*/ 300 h 960"/>
                  <a:gd name="T4" fmla="*/ 1628 w 2048"/>
                  <a:gd name="T5" fmla="*/ 0 h 960"/>
                  <a:gd name="T6" fmla="*/ 1324 w 2048"/>
                  <a:gd name="T7" fmla="*/ 300 h 960"/>
                  <a:gd name="T8" fmla="*/ 1432 w 2048"/>
                  <a:gd name="T9" fmla="*/ 528 h 960"/>
                  <a:gd name="T10" fmla="*/ 1324 w 2048"/>
                  <a:gd name="T11" fmla="*/ 606 h 960"/>
                  <a:gd name="T12" fmla="*/ 1219 w 2048"/>
                  <a:gd name="T13" fmla="*/ 528 h 960"/>
                  <a:gd name="T14" fmla="*/ 1324 w 2048"/>
                  <a:gd name="T15" fmla="*/ 300 h 960"/>
                  <a:gd name="T16" fmla="*/ 1024 w 2048"/>
                  <a:gd name="T17" fmla="*/ 0 h 960"/>
                  <a:gd name="T18" fmla="*/ 724 w 2048"/>
                  <a:gd name="T19" fmla="*/ 300 h 960"/>
                  <a:gd name="T20" fmla="*/ 829 w 2048"/>
                  <a:gd name="T21" fmla="*/ 528 h 960"/>
                  <a:gd name="T22" fmla="*/ 724 w 2048"/>
                  <a:gd name="T23" fmla="*/ 606 h 960"/>
                  <a:gd name="T24" fmla="*/ 619 w 2048"/>
                  <a:gd name="T25" fmla="*/ 528 h 960"/>
                  <a:gd name="T26" fmla="*/ 724 w 2048"/>
                  <a:gd name="T27" fmla="*/ 300 h 960"/>
                  <a:gd name="T28" fmla="*/ 424 w 2048"/>
                  <a:gd name="T29" fmla="*/ 0 h 960"/>
                  <a:gd name="T30" fmla="*/ 124 w 2048"/>
                  <a:gd name="T31" fmla="*/ 300 h 960"/>
                  <a:gd name="T32" fmla="*/ 229 w 2048"/>
                  <a:gd name="T33" fmla="*/ 527 h 960"/>
                  <a:gd name="T34" fmla="*/ 0 w 2048"/>
                  <a:gd name="T35" fmla="*/ 900 h 960"/>
                  <a:gd name="T36" fmla="*/ 60 w 2048"/>
                  <a:gd name="T37" fmla="*/ 960 h 960"/>
                  <a:gd name="T38" fmla="*/ 1988 w 2048"/>
                  <a:gd name="T39" fmla="*/ 960 h 960"/>
                  <a:gd name="T40" fmla="*/ 2048 w 2048"/>
                  <a:gd name="T41" fmla="*/ 900 h 960"/>
                  <a:gd name="T42" fmla="*/ 1823 w 2048"/>
                  <a:gd name="T43" fmla="*/ 528 h 960"/>
                  <a:gd name="T44" fmla="*/ 424 w 2048"/>
                  <a:gd name="T45" fmla="*/ 120 h 960"/>
                  <a:gd name="T46" fmla="*/ 604 w 2048"/>
                  <a:gd name="T47" fmla="*/ 300 h 960"/>
                  <a:gd name="T48" fmla="*/ 424 w 2048"/>
                  <a:gd name="T49" fmla="*/ 480 h 960"/>
                  <a:gd name="T50" fmla="*/ 244 w 2048"/>
                  <a:gd name="T51" fmla="*/ 300 h 960"/>
                  <a:gd name="T52" fmla="*/ 424 w 2048"/>
                  <a:gd name="T53" fmla="*/ 120 h 960"/>
                  <a:gd name="T54" fmla="*/ 608 w 2048"/>
                  <a:gd name="T55" fmla="*/ 840 h 960"/>
                  <a:gd name="T56" fmla="*/ 126 w 2048"/>
                  <a:gd name="T57" fmla="*/ 840 h 960"/>
                  <a:gd name="T58" fmla="*/ 424 w 2048"/>
                  <a:gd name="T59" fmla="*/ 600 h 960"/>
                  <a:gd name="T60" fmla="*/ 652 w 2048"/>
                  <a:gd name="T61" fmla="*/ 705 h 960"/>
                  <a:gd name="T62" fmla="*/ 608 w 2048"/>
                  <a:gd name="T63" fmla="*/ 840 h 960"/>
                  <a:gd name="T64" fmla="*/ 1024 w 2048"/>
                  <a:gd name="T65" fmla="*/ 120 h 960"/>
                  <a:gd name="T66" fmla="*/ 1204 w 2048"/>
                  <a:gd name="T67" fmla="*/ 300 h 960"/>
                  <a:gd name="T68" fmla="*/ 1024 w 2048"/>
                  <a:gd name="T69" fmla="*/ 480 h 960"/>
                  <a:gd name="T70" fmla="*/ 844 w 2048"/>
                  <a:gd name="T71" fmla="*/ 300 h 960"/>
                  <a:gd name="T72" fmla="*/ 1024 w 2048"/>
                  <a:gd name="T73" fmla="*/ 120 h 960"/>
                  <a:gd name="T74" fmla="*/ 730 w 2048"/>
                  <a:gd name="T75" fmla="*/ 840 h 960"/>
                  <a:gd name="T76" fmla="*/ 1024 w 2048"/>
                  <a:gd name="T77" fmla="*/ 600 h 960"/>
                  <a:gd name="T78" fmla="*/ 1318 w 2048"/>
                  <a:gd name="T79" fmla="*/ 840 h 960"/>
                  <a:gd name="T80" fmla="*/ 730 w 2048"/>
                  <a:gd name="T81" fmla="*/ 840 h 960"/>
                  <a:gd name="T82" fmla="*/ 1628 w 2048"/>
                  <a:gd name="T83" fmla="*/ 120 h 960"/>
                  <a:gd name="T84" fmla="*/ 1808 w 2048"/>
                  <a:gd name="T85" fmla="*/ 300 h 960"/>
                  <a:gd name="T86" fmla="*/ 1628 w 2048"/>
                  <a:gd name="T87" fmla="*/ 480 h 960"/>
                  <a:gd name="T88" fmla="*/ 1444 w 2048"/>
                  <a:gd name="T89" fmla="*/ 300 h 960"/>
                  <a:gd name="T90" fmla="*/ 1628 w 2048"/>
                  <a:gd name="T91" fmla="*/ 120 h 960"/>
                  <a:gd name="T92" fmla="*/ 1440 w 2048"/>
                  <a:gd name="T93" fmla="*/ 840 h 960"/>
                  <a:gd name="T94" fmla="*/ 1396 w 2048"/>
                  <a:gd name="T95" fmla="*/ 705 h 960"/>
                  <a:gd name="T96" fmla="*/ 1628 w 2048"/>
                  <a:gd name="T97" fmla="*/ 600 h 960"/>
                  <a:gd name="T98" fmla="*/ 1922 w 2048"/>
                  <a:gd name="T99" fmla="*/ 840 h 960"/>
                  <a:gd name="T100" fmla="*/ 1440 w 2048"/>
                  <a:gd name="T101" fmla="*/ 840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48" h="960">
                    <a:moveTo>
                      <a:pt x="1823" y="528"/>
                    </a:moveTo>
                    <a:cubicBezTo>
                      <a:pt x="1887" y="473"/>
                      <a:pt x="1928" y="391"/>
                      <a:pt x="1928" y="300"/>
                    </a:cubicBezTo>
                    <a:cubicBezTo>
                      <a:pt x="1928" y="135"/>
                      <a:pt x="1793" y="0"/>
                      <a:pt x="1628" y="0"/>
                    </a:cubicBezTo>
                    <a:cubicBezTo>
                      <a:pt x="1462" y="0"/>
                      <a:pt x="1324" y="134"/>
                      <a:pt x="1324" y="300"/>
                    </a:cubicBezTo>
                    <a:cubicBezTo>
                      <a:pt x="1324" y="387"/>
                      <a:pt x="1362" y="469"/>
                      <a:pt x="1432" y="528"/>
                    </a:cubicBezTo>
                    <a:cubicBezTo>
                      <a:pt x="1392" y="548"/>
                      <a:pt x="1355" y="575"/>
                      <a:pt x="1324" y="606"/>
                    </a:cubicBezTo>
                    <a:cubicBezTo>
                      <a:pt x="1293" y="575"/>
                      <a:pt x="1258" y="549"/>
                      <a:pt x="1219" y="528"/>
                    </a:cubicBezTo>
                    <a:cubicBezTo>
                      <a:pt x="1283" y="473"/>
                      <a:pt x="1324" y="391"/>
                      <a:pt x="1324" y="300"/>
                    </a:cubicBezTo>
                    <a:cubicBezTo>
                      <a:pt x="1324" y="135"/>
                      <a:pt x="1189" y="0"/>
                      <a:pt x="1024" y="0"/>
                    </a:cubicBezTo>
                    <a:cubicBezTo>
                      <a:pt x="859" y="0"/>
                      <a:pt x="724" y="135"/>
                      <a:pt x="724" y="300"/>
                    </a:cubicBezTo>
                    <a:cubicBezTo>
                      <a:pt x="724" y="391"/>
                      <a:pt x="765" y="473"/>
                      <a:pt x="829" y="528"/>
                    </a:cubicBezTo>
                    <a:cubicBezTo>
                      <a:pt x="790" y="548"/>
                      <a:pt x="755" y="575"/>
                      <a:pt x="724" y="606"/>
                    </a:cubicBezTo>
                    <a:cubicBezTo>
                      <a:pt x="693" y="574"/>
                      <a:pt x="658" y="548"/>
                      <a:pt x="619" y="528"/>
                    </a:cubicBezTo>
                    <a:cubicBezTo>
                      <a:pt x="683" y="473"/>
                      <a:pt x="724" y="391"/>
                      <a:pt x="724" y="300"/>
                    </a:cubicBezTo>
                    <a:cubicBezTo>
                      <a:pt x="724" y="135"/>
                      <a:pt x="589" y="0"/>
                      <a:pt x="424" y="0"/>
                    </a:cubicBezTo>
                    <a:cubicBezTo>
                      <a:pt x="259" y="0"/>
                      <a:pt x="124" y="135"/>
                      <a:pt x="124" y="300"/>
                    </a:cubicBezTo>
                    <a:cubicBezTo>
                      <a:pt x="124" y="391"/>
                      <a:pt x="165" y="472"/>
                      <a:pt x="229" y="527"/>
                    </a:cubicBezTo>
                    <a:cubicBezTo>
                      <a:pt x="93" y="597"/>
                      <a:pt x="0" y="738"/>
                      <a:pt x="0" y="900"/>
                    </a:cubicBezTo>
                    <a:cubicBezTo>
                      <a:pt x="0" y="933"/>
                      <a:pt x="27" y="960"/>
                      <a:pt x="60" y="960"/>
                    </a:cubicBezTo>
                    <a:cubicBezTo>
                      <a:pt x="70" y="960"/>
                      <a:pt x="1948" y="960"/>
                      <a:pt x="1988" y="960"/>
                    </a:cubicBezTo>
                    <a:cubicBezTo>
                      <a:pt x="2021" y="960"/>
                      <a:pt x="2048" y="933"/>
                      <a:pt x="2048" y="900"/>
                    </a:cubicBezTo>
                    <a:cubicBezTo>
                      <a:pt x="2048" y="739"/>
                      <a:pt x="1957" y="598"/>
                      <a:pt x="1823" y="528"/>
                    </a:cubicBezTo>
                    <a:close/>
                    <a:moveTo>
                      <a:pt x="424" y="120"/>
                    </a:moveTo>
                    <a:cubicBezTo>
                      <a:pt x="523" y="120"/>
                      <a:pt x="604" y="201"/>
                      <a:pt x="604" y="300"/>
                    </a:cubicBezTo>
                    <a:cubicBezTo>
                      <a:pt x="604" y="399"/>
                      <a:pt x="523" y="480"/>
                      <a:pt x="424" y="480"/>
                    </a:cubicBezTo>
                    <a:cubicBezTo>
                      <a:pt x="325" y="480"/>
                      <a:pt x="244" y="399"/>
                      <a:pt x="244" y="300"/>
                    </a:cubicBezTo>
                    <a:cubicBezTo>
                      <a:pt x="244" y="201"/>
                      <a:pt x="325" y="120"/>
                      <a:pt x="424" y="120"/>
                    </a:cubicBezTo>
                    <a:close/>
                    <a:moveTo>
                      <a:pt x="608" y="840"/>
                    </a:moveTo>
                    <a:cubicBezTo>
                      <a:pt x="126" y="840"/>
                      <a:pt x="126" y="840"/>
                      <a:pt x="126" y="840"/>
                    </a:cubicBezTo>
                    <a:cubicBezTo>
                      <a:pt x="154" y="703"/>
                      <a:pt x="277" y="600"/>
                      <a:pt x="424" y="600"/>
                    </a:cubicBezTo>
                    <a:cubicBezTo>
                      <a:pt x="512" y="600"/>
                      <a:pt x="595" y="639"/>
                      <a:pt x="652" y="705"/>
                    </a:cubicBezTo>
                    <a:cubicBezTo>
                      <a:pt x="630" y="746"/>
                      <a:pt x="615" y="792"/>
                      <a:pt x="608" y="840"/>
                    </a:cubicBezTo>
                    <a:close/>
                    <a:moveTo>
                      <a:pt x="1024" y="120"/>
                    </a:moveTo>
                    <a:cubicBezTo>
                      <a:pt x="1123" y="120"/>
                      <a:pt x="1204" y="201"/>
                      <a:pt x="1204" y="300"/>
                    </a:cubicBezTo>
                    <a:cubicBezTo>
                      <a:pt x="1204" y="399"/>
                      <a:pt x="1123" y="480"/>
                      <a:pt x="1024" y="480"/>
                    </a:cubicBezTo>
                    <a:cubicBezTo>
                      <a:pt x="925" y="480"/>
                      <a:pt x="844" y="399"/>
                      <a:pt x="844" y="300"/>
                    </a:cubicBezTo>
                    <a:cubicBezTo>
                      <a:pt x="844" y="201"/>
                      <a:pt x="925" y="120"/>
                      <a:pt x="1024" y="120"/>
                    </a:cubicBezTo>
                    <a:close/>
                    <a:moveTo>
                      <a:pt x="730" y="840"/>
                    </a:moveTo>
                    <a:cubicBezTo>
                      <a:pt x="758" y="703"/>
                      <a:pt x="879" y="600"/>
                      <a:pt x="1024" y="600"/>
                    </a:cubicBezTo>
                    <a:cubicBezTo>
                      <a:pt x="1169" y="600"/>
                      <a:pt x="1290" y="703"/>
                      <a:pt x="1318" y="840"/>
                    </a:cubicBezTo>
                    <a:cubicBezTo>
                      <a:pt x="1298" y="840"/>
                      <a:pt x="755" y="840"/>
                      <a:pt x="730" y="840"/>
                    </a:cubicBezTo>
                    <a:close/>
                    <a:moveTo>
                      <a:pt x="1628" y="120"/>
                    </a:moveTo>
                    <a:cubicBezTo>
                      <a:pt x="1727" y="120"/>
                      <a:pt x="1808" y="201"/>
                      <a:pt x="1808" y="300"/>
                    </a:cubicBezTo>
                    <a:cubicBezTo>
                      <a:pt x="1808" y="399"/>
                      <a:pt x="1727" y="480"/>
                      <a:pt x="1628" y="480"/>
                    </a:cubicBezTo>
                    <a:cubicBezTo>
                      <a:pt x="1528" y="480"/>
                      <a:pt x="1444" y="398"/>
                      <a:pt x="1444" y="300"/>
                    </a:cubicBezTo>
                    <a:cubicBezTo>
                      <a:pt x="1444" y="202"/>
                      <a:pt x="1528" y="120"/>
                      <a:pt x="1628" y="120"/>
                    </a:cubicBezTo>
                    <a:close/>
                    <a:moveTo>
                      <a:pt x="1440" y="840"/>
                    </a:moveTo>
                    <a:cubicBezTo>
                      <a:pt x="1433" y="792"/>
                      <a:pt x="1418" y="747"/>
                      <a:pt x="1396" y="705"/>
                    </a:cubicBezTo>
                    <a:cubicBezTo>
                      <a:pt x="1453" y="640"/>
                      <a:pt x="1539" y="600"/>
                      <a:pt x="1628" y="600"/>
                    </a:cubicBezTo>
                    <a:cubicBezTo>
                      <a:pt x="1773" y="600"/>
                      <a:pt x="1894" y="703"/>
                      <a:pt x="1922" y="840"/>
                    </a:cubicBezTo>
                    <a:lnTo>
                      <a:pt x="1440" y="8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11">
                <a:extLst>
                  <a:ext uri="{FF2B5EF4-FFF2-40B4-BE49-F238E27FC236}">
                    <a16:creationId xmlns:a16="http://schemas.microsoft.com/office/drawing/2014/main" id="{F21D106F-F3F5-3FFA-5E46-0048B0CD0840}"/>
                  </a:ext>
                </a:extLst>
              </p:cNvPr>
              <p:cNvSpPr>
                <a:spLocks/>
              </p:cNvSpPr>
              <p:nvPr/>
            </p:nvSpPr>
            <p:spPr bwMode="auto">
              <a:xfrm>
                <a:off x="3784600" y="3768725"/>
                <a:ext cx="101600" cy="74612"/>
              </a:xfrm>
              <a:custGeom>
                <a:avLst/>
                <a:gdLst>
                  <a:gd name="T0" fmla="*/ 468 w 492"/>
                  <a:gd name="T1" fmla="*/ 24 h 366"/>
                  <a:gd name="T2" fmla="*/ 384 w 492"/>
                  <a:gd name="T3" fmla="*/ 24 h 366"/>
                  <a:gd name="T4" fmla="*/ 186 w 492"/>
                  <a:gd name="T5" fmla="*/ 221 h 366"/>
                  <a:gd name="T6" fmla="*/ 108 w 492"/>
                  <a:gd name="T7" fmla="*/ 144 h 366"/>
                  <a:gd name="T8" fmla="*/ 24 w 492"/>
                  <a:gd name="T9" fmla="*/ 144 h 366"/>
                  <a:gd name="T10" fmla="*/ 24 w 492"/>
                  <a:gd name="T11" fmla="*/ 228 h 366"/>
                  <a:gd name="T12" fmla="*/ 144 w 492"/>
                  <a:gd name="T13" fmla="*/ 348 h 366"/>
                  <a:gd name="T14" fmla="*/ 186 w 492"/>
                  <a:gd name="T15" fmla="*/ 366 h 366"/>
                  <a:gd name="T16" fmla="*/ 228 w 492"/>
                  <a:gd name="T17" fmla="*/ 348 h 366"/>
                  <a:gd name="T18" fmla="*/ 468 w 492"/>
                  <a:gd name="T19" fmla="*/ 108 h 366"/>
                  <a:gd name="T20" fmla="*/ 468 w 492"/>
                  <a:gd name="T21" fmla="*/ 24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2" h="366">
                    <a:moveTo>
                      <a:pt x="468" y="24"/>
                    </a:moveTo>
                    <a:cubicBezTo>
                      <a:pt x="445" y="0"/>
                      <a:pt x="407" y="0"/>
                      <a:pt x="384" y="24"/>
                    </a:cubicBezTo>
                    <a:cubicBezTo>
                      <a:pt x="186" y="221"/>
                      <a:pt x="186" y="221"/>
                      <a:pt x="186" y="221"/>
                    </a:cubicBezTo>
                    <a:cubicBezTo>
                      <a:pt x="108" y="144"/>
                      <a:pt x="108" y="144"/>
                      <a:pt x="108" y="144"/>
                    </a:cubicBezTo>
                    <a:cubicBezTo>
                      <a:pt x="85" y="120"/>
                      <a:pt x="47" y="120"/>
                      <a:pt x="24" y="144"/>
                    </a:cubicBezTo>
                    <a:cubicBezTo>
                      <a:pt x="0" y="167"/>
                      <a:pt x="0" y="205"/>
                      <a:pt x="24" y="228"/>
                    </a:cubicBezTo>
                    <a:cubicBezTo>
                      <a:pt x="144" y="348"/>
                      <a:pt x="144" y="348"/>
                      <a:pt x="144" y="348"/>
                    </a:cubicBezTo>
                    <a:cubicBezTo>
                      <a:pt x="155" y="360"/>
                      <a:pt x="171" y="366"/>
                      <a:pt x="186" y="366"/>
                    </a:cubicBezTo>
                    <a:cubicBezTo>
                      <a:pt x="201" y="366"/>
                      <a:pt x="217" y="360"/>
                      <a:pt x="228" y="348"/>
                    </a:cubicBezTo>
                    <a:cubicBezTo>
                      <a:pt x="468" y="108"/>
                      <a:pt x="468" y="108"/>
                      <a:pt x="468" y="108"/>
                    </a:cubicBezTo>
                    <a:cubicBezTo>
                      <a:pt x="492" y="85"/>
                      <a:pt x="492" y="47"/>
                      <a:pt x="468"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12">
                <a:extLst>
                  <a:ext uri="{FF2B5EF4-FFF2-40B4-BE49-F238E27FC236}">
                    <a16:creationId xmlns:a16="http://schemas.microsoft.com/office/drawing/2014/main" id="{B153A73D-540E-EB14-208B-D7E3CE201D58}"/>
                  </a:ext>
                </a:extLst>
              </p:cNvPr>
              <p:cNvSpPr>
                <a:spLocks noEditPoints="1"/>
              </p:cNvSpPr>
              <p:nvPr/>
            </p:nvSpPr>
            <p:spPr bwMode="auto">
              <a:xfrm>
                <a:off x="3736975" y="3706813"/>
                <a:ext cx="198438" cy="198437"/>
              </a:xfrm>
              <a:custGeom>
                <a:avLst/>
                <a:gdLst>
                  <a:gd name="T0" fmla="*/ 480 w 964"/>
                  <a:gd name="T1" fmla="*/ 0 h 968"/>
                  <a:gd name="T2" fmla="*/ 0 w 964"/>
                  <a:gd name="T3" fmla="*/ 484 h 968"/>
                  <a:gd name="T4" fmla="*/ 480 w 964"/>
                  <a:gd name="T5" fmla="*/ 968 h 968"/>
                  <a:gd name="T6" fmla="*/ 964 w 964"/>
                  <a:gd name="T7" fmla="*/ 484 h 968"/>
                  <a:gd name="T8" fmla="*/ 480 w 964"/>
                  <a:gd name="T9" fmla="*/ 0 h 968"/>
                  <a:gd name="T10" fmla="*/ 480 w 964"/>
                  <a:gd name="T11" fmla="*/ 848 h 968"/>
                  <a:gd name="T12" fmla="*/ 120 w 964"/>
                  <a:gd name="T13" fmla="*/ 484 h 968"/>
                  <a:gd name="T14" fmla="*/ 480 w 964"/>
                  <a:gd name="T15" fmla="*/ 120 h 968"/>
                  <a:gd name="T16" fmla="*/ 844 w 964"/>
                  <a:gd name="T17" fmla="*/ 484 h 968"/>
                  <a:gd name="T18" fmla="*/ 480 w 964"/>
                  <a:gd name="T19" fmla="*/ 848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4" h="968">
                    <a:moveTo>
                      <a:pt x="480" y="0"/>
                    </a:moveTo>
                    <a:cubicBezTo>
                      <a:pt x="215" y="0"/>
                      <a:pt x="0" y="217"/>
                      <a:pt x="0" y="484"/>
                    </a:cubicBezTo>
                    <a:cubicBezTo>
                      <a:pt x="0" y="751"/>
                      <a:pt x="215" y="968"/>
                      <a:pt x="480" y="968"/>
                    </a:cubicBezTo>
                    <a:cubicBezTo>
                      <a:pt x="745" y="968"/>
                      <a:pt x="964" y="750"/>
                      <a:pt x="964" y="484"/>
                    </a:cubicBezTo>
                    <a:cubicBezTo>
                      <a:pt x="964" y="219"/>
                      <a:pt x="746" y="0"/>
                      <a:pt x="480" y="0"/>
                    </a:cubicBezTo>
                    <a:close/>
                    <a:moveTo>
                      <a:pt x="480" y="848"/>
                    </a:moveTo>
                    <a:cubicBezTo>
                      <a:pt x="281" y="848"/>
                      <a:pt x="120" y="685"/>
                      <a:pt x="120" y="484"/>
                    </a:cubicBezTo>
                    <a:cubicBezTo>
                      <a:pt x="120" y="283"/>
                      <a:pt x="281" y="120"/>
                      <a:pt x="480" y="120"/>
                    </a:cubicBezTo>
                    <a:cubicBezTo>
                      <a:pt x="677" y="120"/>
                      <a:pt x="844" y="287"/>
                      <a:pt x="844" y="484"/>
                    </a:cubicBezTo>
                    <a:cubicBezTo>
                      <a:pt x="844" y="681"/>
                      <a:pt x="677" y="848"/>
                      <a:pt x="480" y="84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6" name="Group 5">
            <a:extLst>
              <a:ext uri="{FF2B5EF4-FFF2-40B4-BE49-F238E27FC236}">
                <a16:creationId xmlns:a16="http://schemas.microsoft.com/office/drawing/2014/main" id="{1B2E4C60-4AC8-4227-7B70-C929B5CC1FEE}"/>
              </a:ext>
              <a:ext uri="{C183D7F6-B498-43B3-948B-1728B52AA6E4}">
                <adec:decorative xmlns:adec="http://schemas.microsoft.com/office/drawing/2017/decorative" val="1"/>
              </a:ext>
            </a:extLst>
          </p:cNvPr>
          <p:cNvGrpSpPr/>
          <p:nvPr/>
        </p:nvGrpSpPr>
        <p:grpSpPr>
          <a:xfrm>
            <a:off x="9912263" y="3897569"/>
            <a:ext cx="1281512" cy="487738"/>
            <a:chOff x="9912263" y="3897569"/>
            <a:chExt cx="1281512" cy="487738"/>
          </a:xfrm>
          <a:effectLst>
            <a:outerShdw blurRad="50800" dist="38100" dir="8100000" algn="tr" rotWithShape="0">
              <a:prstClr val="black">
                <a:alpha val="40000"/>
              </a:prstClr>
            </a:outerShdw>
          </a:effectLst>
        </p:grpSpPr>
        <p:sp>
          <p:nvSpPr>
            <p:cNvPr id="53" name="Freeform 52">
              <a:extLst>
                <a:ext uri="{FF2B5EF4-FFF2-40B4-BE49-F238E27FC236}">
                  <a16:creationId xmlns:a16="http://schemas.microsoft.com/office/drawing/2014/main" id="{D4084951-EDB2-C7D4-CE43-4178CAF39176}"/>
                </a:ext>
              </a:extLst>
            </p:cNvPr>
            <p:cNvSpPr/>
            <p:nvPr/>
          </p:nvSpPr>
          <p:spPr>
            <a:xfrm flipH="1">
              <a:off x="9912263" y="3897569"/>
              <a:ext cx="1281512" cy="487738"/>
            </a:xfrm>
            <a:custGeom>
              <a:avLst/>
              <a:gdLst>
                <a:gd name="connsiteX0" fmla="*/ 1281512 w 1281512"/>
                <a:gd name="connsiteY0" fmla="*/ 0 h 487738"/>
                <a:gd name="connsiteX1" fmla="*/ 256995 w 1281512"/>
                <a:gd name="connsiteY1" fmla="*/ 0 h 487738"/>
                <a:gd name="connsiteX2" fmla="*/ 256995 w 1281512"/>
                <a:gd name="connsiteY2" fmla="*/ 1323 h 487738"/>
                <a:gd name="connsiteX3" fmla="*/ 243869 w 1281512"/>
                <a:gd name="connsiteY3" fmla="*/ 0 h 487738"/>
                <a:gd name="connsiteX4" fmla="*/ 0 w 1281512"/>
                <a:gd name="connsiteY4" fmla="*/ 243869 h 487738"/>
                <a:gd name="connsiteX5" fmla="*/ 243869 w 1281512"/>
                <a:gd name="connsiteY5" fmla="*/ 487738 h 487738"/>
                <a:gd name="connsiteX6" fmla="*/ 256995 w 1281512"/>
                <a:gd name="connsiteY6" fmla="*/ 486415 h 487738"/>
                <a:gd name="connsiteX7" fmla="*/ 256995 w 1281512"/>
                <a:gd name="connsiteY7" fmla="*/ 487737 h 487738"/>
                <a:gd name="connsiteX8" fmla="*/ 1281512 w 1281512"/>
                <a:gd name="connsiteY8" fmla="*/ 487737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512" h="487738">
                  <a:moveTo>
                    <a:pt x="1281512" y="0"/>
                  </a:moveTo>
                  <a:lnTo>
                    <a:pt x="256995" y="0"/>
                  </a:lnTo>
                  <a:lnTo>
                    <a:pt x="256995" y="1323"/>
                  </a:lnTo>
                  <a:lnTo>
                    <a:pt x="243869" y="0"/>
                  </a:lnTo>
                  <a:cubicBezTo>
                    <a:pt x="109184" y="0"/>
                    <a:pt x="0" y="109184"/>
                    <a:pt x="0" y="243869"/>
                  </a:cubicBezTo>
                  <a:cubicBezTo>
                    <a:pt x="0" y="378554"/>
                    <a:pt x="109184" y="487738"/>
                    <a:pt x="243869" y="487738"/>
                  </a:cubicBezTo>
                  <a:lnTo>
                    <a:pt x="256995" y="486415"/>
                  </a:lnTo>
                  <a:lnTo>
                    <a:pt x="256995" y="487737"/>
                  </a:lnTo>
                  <a:lnTo>
                    <a:pt x="1281512" y="487737"/>
                  </a:lnTo>
                  <a:close/>
                </a:path>
              </a:pathLst>
            </a:custGeom>
            <a:solidFill>
              <a:srgbClr val="4FD0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0" name="Group 39">
              <a:extLst>
                <a:ext uri="{FF2B5EF4-FFF2-40B4-BE49-F238E27FC236}">
                  <a16:creationId xmlns:a16="http://schemas.microsoft.com/office/drawing/2014/main" id="{84637ABA-AE73-991F-B223-075E05BFE26E}"/>
                </a:ext>
              </a:extLst>
            </p:cNvPr>
            <p:cNvGrpSpPr/>
            <p:nvPr/>
          </p:nvGrpSpPr>
          <p:grpSpPr>
            <a:xfrm>
              <a:off x="10813249" y="4076466"/>
              <a:ext cx="273316" cy="129944"/>
              <a:chOff x="4254500" y="2100263"/>
              <a:chExt cx="1906588" cy="906463"/>
            </a:xfrm>
          </p:grpSpPr>
          <p:sp>
            <p:nvSpPr>
              <p:cNvPr id="41" name="Freeform 5">
                <a:extLst>
                  <a:ext uri="{FF2B5EF4-FFF2-40B4-BE49-F238E27FC236}">
                    <a16:creationId xmlns:a16="http://schemas.microsoft.com/office/drawing/2014/main" id="{A6E680BD-E22D-652F-B560-535358A5ECD8}"/>
                  </a:ext>
                </a:extLst>
              </p:cNvPr>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6">
                <a:extLst>
                  <a:ext uri="{FF2B5EF4-FFF2-40B4-BE49-F238E27FC236}">
                    <a16:creationId xmlns:a16="http://schemas.microsoft.com/office/drawing/2014/main" id="{8F51AE7B-2C7B-5578-32DF-083B97B22E1B}"/>
                  </a:ext>
                </a:extLst>
              </p:cNvPr>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7">
                <a:extLst>
                  <a:ext uri="{FF2B5EF4-FFF2-40B4-BE49-F238E27FC236}">
                    <a16:creationId xmlns:a16="http://schemas.microsoft.com/office/drawing/2014/main" id="{25F13E51-89F1-3975-FF34-E7DDA783C97F}"/>
                  </a:ext>
                </a:extLst>
              </p:cNvPr>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pic>
        <p:nvPicPr>
          <p:cNvPr id="4" name="Picture 3">
            <a:extLst>
              <a:ext uri="{FF2B5EF4-FFF2-40B4-BE49-F238E27FC236}">
                <a16:creationId xmlns:a16="http://schemas.microsoft.com/office/drawing/2014/main" id="{8EECFC7C-447B-EB33-EB99-21959D1F563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695" y="901070"/>
            <a:ext cx="8908616" cy="5480887"/>
          </a:xfrm>
          <a:prstGeom prst="rect">
            <a:avLst/>
          </a:prstGeom>
        </p:spPr>
      </p:pic>
      <p:sp>
        <p:nvSpPr>
          <p:cNvPr id="2" name="Freeform 1">
            <a:extLst>
              <a:ext uri="{FF2B5EF4-FFF2-40B4-BE49-F238E27FC236}">
                <a16:creationId xmlns:a16="http://schemas.microsoft.com/office/drawing/2014/main" id="{EAFB3403-BFA2-43F2-CD0F-1ED7A0377EAB}"/>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 name="TextBox 2">
            <a:extLst>
              <a:ext uri="{FF2B5EF4-FFF2-40B4-BE49-F238E27FC236}">
                <a16:creationId xmlns:a16="http://schemas.microsoft.com/office/drawing/2014/main" id="{666D3A13-2BCC-0991-ABBF-ADA8D8DD927E}"/>
              </a:ext>
            </a:extLst>
          </p:cNvPr>
          <p:cNvSpPr txBox="1"/>
          <p:nvPr/>
        </p:nvSpPr>
        <p:spPr>
          <a:xfrm>
            <a:off x="11857440" y="6481180"/>
            <a:ext cx="277640" cy="307777"/>
          </a:xfrm>
          <a:prstGeom prst="rect">
            <a:avLst/>
          </a:prstGeom>
          <a:noFill/>
        </p:spPr>
        <p:txBody>
          <a:bodyPr wrap="none" rtlCol="0">
            <a:spAutoFit/>
          </a:bodyPr>
          <a:lstStyle/>
          <a:p>
            <a:r>
              <a:rPr lang="en-US" sz="1400" b="1" dirty="0">
                <a:solidFill>
                  <a:schemeClr val="bg1"/>
                </a:solidFill>
              </a:rPr>
              <a:t>2</a:t>
            </a:r>
          </a:p>
        </p:txBody>
      </p:sp>
      <p:sp>
        <p:nvSpPr>
          <p:cNvPr id="36" name="Rectangle 35">
            <a:extLst>
              <a:ext uri="{FF2B5EF4-FFF2-40B4-BE49-F238E27FC236}">
                <a16:creationId xmlns:a16="http://schemas.microsoft.com/office/drawing/2014/main" id="{4C44590B-9A39-7EF8-54F4-ACEE3BB3FE3F}"/>
              </a:ext>
              <a:ext uri="{C183D7F6-B498-43B3-948B-1728B52AA6E4}">
                <adec:decorative xmlns:adec="http://schemas.microsoft.com/office/drawing/2017/decorative" val="1"/>
              </a:ext>
            </a:extLst>
          </p:cNvPr>
          <p:cNvSpPr/>
          <p:nvPr/>
        </p:nvSpPr>
        <p:spPr>
          <a:xfrm>
            <a:off x="4211960" y="1543243"/>
            <a:ext cx="5700304" cy="35545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6" name="Chart 15" descr="This is a chart. ">
            <a:extLst>
              <a:ext uri="{FF2B5EF4-FFF2-40B4-BE49-F238E27FC236}">
                <a16:creationId xmlns:a16="http://schemas.microsoft.com/office/drawing/2014/main" id="{CC7FB946-1D43-62A8-9FFA-D262FED8812E}"/>
              </a:ext>
            </a:extLst>
          </p:cNvPr>
          <p:cNvGraphicFramePr/>
          <p:nvPr>
            <p:extLst>
              <p:ext uri="{D42A27DB-BD31-4B8C-83A1-F6EECF244321}">
                <p14:modId xmlns:p14="http://schemas.microsoft.com/office/powerpoint/2010/main" val="1465815271"/>
              </p:ext>
            </p:extLst>
          </p:nvPr>
        </p:nvGraphicFramePr>
        <p:xfrm>
          <a:off x="4775828" y="1796308"/>
          <a:ext cx="4572565" cy="3048376"/>
        </p:xfrm>
        <a:graphic>
          <a:graphicData uri="http://schemas.openxmlformats.org/drawingml/2006/chart">
            <c:chart xmlns:c="http://schemas.openxmlformats.org/drawingml/2006/chart" xmlns:r="http://schemas.openxmlformats.org/officeDocument/2006/relationships" r:id="rId3"/>
          </a:graphicData>
        </a:graphic>
      </p:graphicFrame>
      <p:sp>
        <p:nvSpPr>
          <p:cNvPr id="102" name="TextBox 101">
            <a:extLst>
              <a:ext uri="{FF2B5EF4-FFF2-40B4-BE49-F238E27FC236}">
                <a16:creationId xmlns:a16="http://schemas.microsoft.com/office/drawing/2014/main" id="{854D1ACC-61F5-2463-384F-FAD43B83BA5A}"/>
              </a:ext>
            </a:extLst>
          </p:cNvPr>
          <p:cNvSpPr txBox="1"/>
          <p:nvPr/>
        </p:nvSpPr>
        <p:spPr>
          <a:xfrm>
            <a:off x="395696" y="2716307"/>
            <a:ext cx="2847577" cy="3200876"/>
          </a:xfrm>
          <a:prstGeom prst="rect">
            <a:avLst/>
          </a:prstGeom>
          <a:noFill/>
        </p:spPr>
        <p:txBody>
          <a:bodyPr wrap="square" lIns="0" tIns="0" rIns="0" bIns="0" rtlCol="0">
            <a:spAutoFit/>
          </a:bodyPr>
          <a:lstStyle/>
          <a:p>
            <a:r>
              <a:rPr lang="en-US" sz="1600" dirty="0">
                <a:solidFill>
                  <a:schemeClr val="bg1"/>
                </a:solidFill>
              </a:rPr>
              <a:t>The objective of the “Operation Analytics and Investigating Metric spike” project is understanding and explaining changes in key metrics such as a dip in daily user engagement and a drop in sales. </a:t>
            </a:r>
          </a:p>
          <a:p>
            <a:endParaRPr lang="en-US" sz="1600" dirty="0">
              <a:solidFill>
                <a:schemeClr val="bg1"/>
              </a:solidFill>
            </a:endParaRPr>
          </a:p>
          <a:p>
            <a:r>
              <a:rPr lang="en-US" sz="1600" dirty="0">
                <a:solidFill>
                  <a:schemeClr val="bg1"/>
                </a:solidFill>
              </a:rPr>
              <a:t>This project is mainly aimed at providing valuable insights using advanced SQL to derive insights from the given data. The end goal is to improve company’s operations and overall profit.</a:t>
            </a:r>
          </a:p>
        </p:txBody>
      </p:sp>
      <p:sp>
        <p:nvSpPr>
          <p:cNvPr id="103" name="TextBox 102">
            <a:extLst>
              <a:ext uri="{FF2B5EF4-FFF2-40B4-BE49-F238E27FC236}">
                <a16:creationId xmlns:a16="http://schemas.microsoft.com/office/drawing/2014/main" id="{0BF7B738-27B5-9BEF-B0F0-7F86E3A29DB3}"/>
              </a:ext>
            </a:extLst>
          </p:cNvPr>
          <p:cNvSpPr txBox="1"/>
          <p:nvPr/>
        </p:nvSpPr>
        <p:spPr>
          <a:xfrm>
            <a:off x="646421" y="1389021"/>
            <a:ext cx="3001668" cy="984885"/>
          </a:xfrm>
          <a:prstGeom prst="rect">
            <a:avLst/>
          </a:prstGeom>
          <a:noFill/>
        </p:spPr>
        <p:txBody>
          <a:bodyPr wrap="square" lIns="0" tIns="0" rIns="0" bIns="0" rtlCol="0">
            <a:spAutoFit/>
          </a:bodyPr>
          <a:lstStyle/>
          <a:p>
            <a:pPr>
              <a:tabLst>
                <a:tab pos="347663" algn="l"/>
              </a:tabLst>
            </a:pPr>
            <a:r>
              <a:rPr lang="en-US" sz="3200" b="1" dirty="0">
                <a:solidFill>
                  <a:srgbClr val="FFFFFF"/>
                </a:solidFill>
                <a:latin typeface="+mj-lt"/>
              </a:rPr>
              <a:t>PROJECT </a:t>
            </a:r>
          </a:p>
          <a:p>
            <a:pPr>
              <a:tabLst>
                <a:tab pos="347663" algn="l"/>
              </a:tabLst>
            </a:pPr>
            <a:r>
              <a:rPr lang="en-US" sz="3200" b="1" dirty="0">
                <a:solidFill>
                  <a:srgbClr val="FFFFFF"/>
                </a:solidFill>
                <a:latin typeface="+mj-lt"/>
              </a:rPr>
              <a:t>DESCRIPTION</a:t>
            </a:r>
          </a:p>
        </p:txBody>
      </p:sp>
      <p:cxnSp>
        <p:nvCxnSpPr>
          <p:cNvPr id="105" name="Straight Connector 104">
            <a:extLst>
              <a:ext uri="{FF2B5EF4-FFF2-40B4-BE49-F238E27FC236}">
                <a16:creationId xmlns:a16="http://schemas.microsoft.com/office/drawing/2014/main" id="{11385F54-4B9E-1D8D-3F8B-8DCA8DEC9B5A}"/>
              </a:ext>
              <a:ext uri="{C183D7F6-B498-43B3-948B-1728B52AA6E4}">
                <adec:decorative xmlns:adec="http://schemas.microsoft.com/office/drawing/2017/decorative" val="1"/>
              </a:ext>
            </a:extLst>
          </p:cNvPr>
          <p:cNvCxnSpPr/>
          <p:nvPr/>
        </p:nvCxnSpPr>
        <p:spPr>
          <a:xfrm>
            <a:off x="685686" y="2631729"/>
            <a:ext cx="146304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EF336E8B-23F6-67E4-980D-3B1932991407}"/>
              </a:ext>
              <a:ext uri="{C183D7F6-B498-43B3-948B-1728B52AA6E4}">
                <adec:decorative xmlns:adec="http://schemas.microsoft.com/office/drawing/2017/decorative" val="1"/>
              </a:ext>
            </a:extLst>
          </p:cNvPr>
          <p:cNvGrpSpPr/>
          <p:nvPr/>
        </p:nvGrpSpPr>
        <p:grpSpPr>
          <a:xfrm>
            <a:off x="8881068" y="3621085"/>
            <a:ext cx="414478" cy="197058"/>
            <a:chOff x="4254500" y="2100263"/>
            <a:chExt cx="1906588" cy="906463"/>
          </a:xfrm>
        </p:grpSpPr>
        <p:sp>
          <p:nvSpPr>
            <p:cNvPr id="35" name="Freeform 5">
              <a:extLst>
                <a:ext uri="{FF2B5EF4-FFF2-40B4-BE49-F238E27FC236}">
                  <a16:creationId xmlns:a16="http://schemas.microsoft.com/office/drawing/2014/main" id="{72FE23D9-3E76-A8C2-63B8-D5EA02DD8E0A}"/>
                </a:ext>
              </a:extLst>
            </p:cNvPr>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6">
              <a:extLst>
                <a:ext uri="{FF2B5EF4-FFF2-40B4-BE49-F238E27FC236}">
                  <a16:creationId xmlns:a16="http://schemas.microsoft.com/office/drawing/2014/main" id="{144B98E6-D9D4-E06E-7F5B-5A64924FA11E}"/>
                </a:ext>
              </a:extLst>
            </p:cNvPr>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7">
              <a:extLst>
                <a:ext uri="{FF2B5EF4-FFF2-40B4-BE49-F238E27FC236}">
                  <a16:creationId xmlns:a16="http://schemas.microsoft.com/office/drawing/2014/main" id="{A4B890CE-12B0-FEB0-6FC9-72807BCF2E2E}"/>
                </a:ext>
              </a:extLst>
            </p:cNvPr>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 name="Title 4" hidden="1">
            <a:extLst>
              <a:ext uri="{FF2B5EF4-FFF2-40B4-BE49-F238E27FC236}">
                <a16:creationId xmlns:a16="http://schemas.microsoft.com/office/drawing/2014/main" id="{6D4AA886-103B-F2E8-34CA-74161A7CE509}"/>
              </a:ext>
            </a:extLst>
          </p:cNvPr>
          <p:cNvSpPr>
            <a:spLocks noGrp="1"/>
          </p:cNvSpPr>
          <p:nvPr>
            <p:ph type="title"/>
          </p:nvPr>
        </p:nvSpPr>
        <p:spPr/>
        <p:txBody>
          <a:bodyPr/>
          <a:lstStyle/>
          <a:p>
            <a:r>
              <a:rPr lang="en-US" dirty="0"/>
              <a:t>Slide 10</a:t>
            </a:r>
          </a:p>
        </p:txBody>
      </p:sp>
    </p:spTree>
    <p:extLst>
      <p:ext uri="{BB962C8B-B14F-4D97-AF65-F5344CB8AC3E}">
        <p14:creationId xmlns:p14="http://schemas.microsoft.com/office/powerpoint/2010/main" val="3081846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val 36">
            <a:extLst>
              <a:ext uri="{C183D7F6-B498-43B3-948B-1728B52AA6E4}">
                <adec:decorative xmlns:adec="http://schemas.microsoft.com/office/drawing/2017/decorative" val="1"/>
              </a:ext>
            </a:extLst>
          </p:cNvPr>
          <p:cNvSpPr/>
          <p:nvPr/>
        </p:nvSpPr>
        <p:spPr>
          <a:xfrm flipH="1">
            <a:off x="632820" y="2084749"/>
            <a:ext cx="588011" cy="588011"/>
          </a:xfrm>
          <a:prstGeom prst="ellipse">
            <a:avLst/>
          </a:prstGeom>
          <a:solidFill>
            <a:srgbClr val="667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C183D7F6-B498-43B3-948B-1728B52AA6E4}">
                <adec:decorative xmlns:adec="http://schemas.microsoft.com/office/drawing/2017/decorative" val="1"/>
              </a:ext>
            </a:extLst>
          </p:cNvPr>
          <p:cNvSpPr/>
          <p:nvPr/>
        </p:nvSpPr>
        <p:spPr>
          <a:xfrm flipH="1">
            <a:off x="632820" y="1002988"/>
            <a:ext cx="588011" cy="588011"/>
          </a:xfrm>
          <a:prstGeom prst="ellipse">
            <a:avLst/>
          </a:prstGeom>
          <a:solidFill>
            <a:srgbClr val="303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1" name="Group 120">
            <a:extLst>
              <a:ext uri="{C183D7F6-B498-43B3-948B-1728B52AA6E4}">
                <adec:decorative xmlns:adec="http://schemas.microsoft.com/office/drawing/2017/decorative" val="1"/>
              </a:ext>
            </a:extLst>
          </p:cNvPr>
          <p:cNvGrpSpPr/>
          <p:nvPr/>
        </p:nvGrpSpPr>
        <p:grpSpPr>
          <a:xfrm>
            <a:off x="1639745" y="342312"/>
            <a:ext cx="6969382" cy="6003511"/>
            <a:chOff x="223691" y="1455469"/>
            <a:chExt cx="5660167" cy="4679192"/>
          </a:xfrm>
        </p:grpSpPr>
        <p:pic>
          <p:nvPicPr>
            <p:cNvPr id="122" name="Picture 121" descr="This is a computer monito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3691" y="1455469"/>
              <a:ext cx="5660167" cy="4679192"/>
            </a:xfrm>
            <a:prstGeom prst="rect">
              <a:avLst/>
            </a:prstGeom>
          </p:spPr>
        </p:pic>
        <p:sp>
          <p:nvSpPr>
            <p:cNvPr id="123" name="Rectangle 122"/>
            <p:cNvSpPr/>
            <p:nvPr/>
          </p:nvSpPr>
          <p:spPr>
            <a:xfrm>
              <a:off x="2779454" y="4900079"/>
              <a:ext cx="548640" cy="326575"/>
            </a:xfrm>
            <a:prstGeom prst="rect">
              <a:avLst/>
            </a:prstGeom>
            <a:gradFill flip="none" rotWithShape="1">
              <a:gsLst>
                <a:gs pos="0">
                  <a:srgbClr val="C7C8CB"/>
                </a:gs>
                <a:gs pos="100000">
                  <a:srgbClr val="BCBD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Oval 45">
            <a:extLst>
              <a:ext uri="{C183D7F6-B498-43B3-948B-1728B52AA6E4}">
                <adec:decorative xmlns:adec="http://schemas.microsoft.com/office/drawing/2017/decorative" val="1"/>
              </a:ext>
            </a:extLst>
          </p:cNvPr>
          <p:cNvSpPr/>
          <p:nvPr/>
        </p:nvSpPr>
        <p:spPr>
          <a:xfrm flipH="1">
            <a:off x="632818" y="3183890"/>
            <a:ext cx="588011" cy="588011"/>
          </a:xfrm>
          <a:prstGeom prst="ellipse">
            <a:avLst/>
          </a:prstGeom>
          <a:solidFill>
            <a:srgbClr val="98A3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C183D7F6-B498-43B3-948B-1728B52AA6E4}">
                <adec:decorative xmlns:adec="http://schemas.microsoft.com/office/drawing/2017/decorative" val="1"/>
              </a:ext>
            </a:extLst>
          </p:cNvPr>
          <p:cNvSpPr/>
          <p:nvPr/>
        </p:nvSpPr>
        <p:spPr>
          <a:xfrm>
            <a:off x="925562" y="3183890"/>
            <a:ext cx="1000689" cy="588010"/>
          </a:xfrm>
          <a:prstGeom prst="rect">
            <a:avLst/>
          </a:prstGeom>
          <a:solidFill>
            <a:srgbClr val="98A3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Rectangle 131">
            <a:extLst>
              <a:ext uri="{C183D7F6-B498-43B3-948B-1728B52AA6E4}">
                <adec:decorative xmlns:adec="http://schemas.microsoft.com/office/drawing/2017/decorative" val="1"/>
              </a:ext>
            </a:extLst>
          </p:cNvPr>
          <p:cNvSpPr/>
          <p:nvPr/>
        </p:nvSpPr>
        <p:spPr>
          <a:xfrm>
            <a:off x="925564" y="2084750"/>
            <a:ext cx="1000689" cy="588010"/>
          </a:xfrm>
          <a:prstGeom prst="rect">
            <a:avLst/>
          </a:prstGeom>
          <a:solidFill>
            <a:srgbClr val="667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 name="Rectangle 130">
            <a:extLst>
              <a:ext uri="{C183D7F6-B498-43B3-948B-1728B52AA6E4}">
                <adec:decorative xmlns:adec="http://schemas.microsoft.com/office/drawing/2017/decorative" val="1"/>
              </a:ext>
            </a:extLst>
          </p:cNvPr>
          <p:cNvSpPr/>
          <p:nvPr/>
        </p:nvSpPr>
        <p:spPr>
          <a:xfrm>
            <a:off x="925564" y="1002988"/>
            <a:ext cx="1000688" cy="588011"/>
          </a:xfrm>
          <a:prstGeom prst="rect">
            <a:avLst/>
          </a:prstGeom>
          <a:solidFill>
            <a:srgbClr val="303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 name="Group 105" descr="This image is an icon of a clock."/>
          <p:cNvGrpSpPr/>
          <p:nvPr/>
        </p:nvGrpSpPr>
        <p:grpSpPr>
          <a:xfrm>
            <a:off x="796201" y="1166369"/>
            <a:ext cx="261249" cy="261249"/>
            <a:chOff x="1389063" y="3748088"/>
            <a:chExt cx="336550" cy="336550"/>
          </a:xfrm>
          <a:solidFill>
            <a:schemeClr val="bg1"/>
          </a:solidFill>
        </p:grpSpPr>
        <p:sp>
          <p:nvSpPr>
            <p:cNvPr id="107" name="Freeform 5"/>
            <p:cNvSpPr>
              <a:spLocks/>
            </p:cNvSpPr>
            <p:nvPr/>
          </p:nvSpPr>
          <p:spPr bwMode="auto">
            <a:xfrm>
              <a:off x="1547813" y="3787776"/>
              <a:ext cx="58738" cy="60325"/>
            </a:xfrm>
            <a:custGeom>
              <a:avLst/>
              <a:gdLst>
                <a:gd name="T0" fmla="*/ 300 w 360"/>
                <a:gd name="T1" fmla="*/ 244 h 364"/>
                <a:gd name="T2" fmla="*/ 120 w 360"/>
                <a:gd name="T3" fmla="*/ 244 h 364"/>
                <a:gd name="T4" fmla="*/ 120 w 360"/>
                <a:gd name="T5" fmla="*/ 60 h 364"/>
                <a:gd name="T6" fmla="*/ 60 w 360"/>
                <a:gd name="T7" fmla="*/ 0 h 364"/>
                <a:gd name="T8" fmla="*/ 0 w 360"/>
                <a:gd name="T9" fmla="*/ 60 h 364"/>
                <a:gd name="T10" fmla="*/ 0 w 360"/>
                <a:gd name="T11" fmla="*/ 304 h 364"/>
                <a:gd name="T12" fmla="*/ 60 w 360"/>
                <a:gd name="T13" fmla="*/ 364 h 364"/>
                <a:gd name="T14" fmla="*/ 300 w 360"/>
                <a:gd name="T15" fmla="*/ 364 h 364"/>
                <a:gd name="T16" fmla="*/ 360 w 360"/>
                <a:gd name="T17" fmla="*/ 304 h 364"/>
                <a:gd name="T18" fmla="*/ 300 w 360"/>
                <a:gd name="T19" fmla="*/ 24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364">
                  <a:moveTo>
                    <a:pt x="300" y="244"/>
                  </a:moveTo>
                  <a:cubicBezTo>
                    <a:pt x="120" y="244"/>
                    <a:pt x="120" y="244"/>
                    <a:pt x="120" y="244"/>
                  </a:cubicBezTo>
                  <a:cubicBezTo>
                    <a:pt x="120" y="60"/>
                    <a:pt x="120" y="60"/>
                    <a:pt x="120" y="60"/>
                  </a:cubicBezTo>
                  <a:cubicBezTo>
                    <a:pt x="120" y="27"/>
                    <a:pt x="93" y="0"/>
                    <a:pt x="60" y="0"/>
                  </a:cubicBezTo>
                  <a:cubicBezTo>
                    <a:pt x="27" y="0"/>
                    <a:pt x="0" y="27"/>
                    <a:pt x="0" y="60"/>
                  </a:cubicBezTo>
                  <a:cubicBezTo>
                    <a:pt x="0" y="304"/>
                    <a:pt x="0" y="304"/>
                    <a:pt x="0" y="304"/>
                  </a:cubicBezTo>
                  <a:cubicBezTo>
                    <a:pt x="0" y="337"/>
                    <a:pt x="27" y="364"/>
                    <a:pt x="60" y="364"/>
                  </a:cubicBezTo>
                  <a:cubicBezTo>
                    <a:pt x="300" y="364"/>
                    <a:pt x="300" y="364"/>
                    <a:pt x="300" y="364"/>
                  </a:cubicBezTo>
                  <a:cubicBezTo>
                    <a:pt x="333" y="364"/>
                    <a:pt x="360" y="337"/>
                    <a:pt x="360" y="304"/>
                  </a:cubicBezTo>
                  <a:cubicBezTo>
                    <a:pt x="360" y="271"/>
                    <a:pt x="333" y="244"/>
                    <a:pt x="300" y="2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Freeform 6"/>
            <p:cNvSpPr>
              <a:spLocks noEditPoints="1"/>
            </p:cNvSpPr>
            <p:nvPr/>
          </p:nvSpPr>
          <p:spPr bwMode="auto">
            <a:xfrm>
              <a:off x="1389063" y="3748088"/>
              <a:ext cx="336550" cy="336550"/>
            </a:xfrm>
            <a:custGeom>
              <a:avLst/>
              <a:gdLst>
                <a:gd name="T0" fmla="*/ 1808 w 2048"/>
                <a:gd name="T1" fmla="*/ 1454 h 2048"/>
                <a:gd name="T2" fmla="*/ 1808 w 2048"/>
                <a:gd name="T3" fmla="*/ 1388 h 2048"/>
                <a:gd name="T4" fmla="*/ 1628 w 2048"/>
                <a:gd name="T5" fmla="*/ 1208 h 2048"/>
                <a:gd name="T6" fmla="*/ 1084 w 2048"/>
                <a:gd name="T7" fmla="*/ 1208 h 2048"/>
                <a:gd name="T8" fmla="*/ 1084 w 2048"/>
                <a:gd name="T9" fmla="*/ 1085 h 2048"/>
                <a:gd name="T10" fmla="*/ 1564 w 2048"/>
                <a:gd name="T11" fmla="*/ 544 h 2048"/>
                <a:gd name="T12" fmla="*/ 1024 w 2048"/>
                <a:gd name="T13" fmla="*/ 0 h 2048"/>
                <a:gd name="T14" fmla="*/ 484 w 2048"/>
                <a:gd name="T15" fmla="*/ 544 h 2048"/>
                <a:gd name="T16" fmla="*/ 964 w 2048"/>
                <a:gd name="T17" fmla="*/ 1085 h 2048"/>
                <a:gd name="T18" fmla="*/ 964 w 2048"/>
                <a:gd name="T19" fmla="*/ 1208 h 2048"/>
                <a:gd name="T20" fmla="*/ 420 w 2048"/>
                <a:gd name="T21" fmla="*/ 1208 h 2048"/>
                <a:gd name="T22" fmla="*/ 240 w 2048"/>
                <a:gd name="T23" fmla="*/ 1388 h 2048"/>
                <a:gd name="T24" fmla="*/ 240 w 2048"/>
                <a:gd name="T25" fmla="*/ 1454 h 2048"/>
                <a:gd name="T26" fmla="*/ 0 w 2048"/>
                <a:gd name="T27" fmla="*/ 1748 h 2048"/>
                <a:gd name="T28" fmla="*/ 300 w 2048"/>
                <a:gd name="T29" fmla="*/ 2048 h 2048"/>
                <a:gd name="T30" fmla="*/ 600 w 2048"/>
                <a:gd name="T31" fmla="*/ 1748 h 2048"/>
                <a:gd name="T32" fmla="*/ 360 w 2048"/>
                <a:gd name="T33" fmla="*/ 1454 h 2048"/>
                <a:gd name="T34" fmla="*/ 360 w 2048"/>
                <a:gd name="T35" fmla="*/ 1388 h 2048"/>
                <a:gd name="T36" fmla="*/ 420 w 2048"/>
                <a:gd name="T37" fmla="*/ 1328 h 2048"/>
                <a:gd name="T38" fmla="*/ 964 w 2048"/>
                <a:gd name="T39" fmla="*/ 1328 h 2048"/>
                <a:gd name="T40" fmla="*/ 964 w 2048"/>
                <a:gd name="T41" fmla="*/ 1454 h 2048"/>
                <a:gd name="T42" fmla="*/ 724 w 2048"/>
                <a:gd name="T43" fmla="*/ 1748 h 2048"/>
                <a:gd name="T44" fmla="*/ 1024 w 2048"/>
                <a:gd name="T45" fmla="*/ 2048 h 2048"/>
                <a:gd name="T46" fmla="*/ 1324 w 2048"/>
                <a:gd name="T47" fmla="*/ 1748 h 2048"/>
                <a:gd name="T48" fmla="*/ 1084 w 2048"/>
                <a:gd name="T49" fmla="*/ 1454 h 2048"/>
                <a:gd name="T50" fmla="*/ 1084 w 2048"/>
                <a:gd name="T51" fmla="*/ 1328 h 2048"/>
                <a:gd name="T52" fmla="*/ 1628 w 2048"/>
                <a:gd name="T53" fmla="*/ 1328 h 2048"/>
                <a:gd name="T54" fmla="*/ 1688 w 2048"/>
                <a:gd name="T55" fmla="*/ 1388 h 2048"/>
                <a:gd name="T56" fmla="*/ 1688 w 2048"/>
                <a:gd name="T57" fmla="*/ 1454 h 2048"/>
                <a:gd name="T58" fmla="*/ 1448 w 2048"/>
                <a:gd name="T59" fmla="*/ 1748 h 2048"/>
                <a:gd name="T60" fmla="*/ 1748 w 2048"/>
                <a:gd name="T61" fmla="*/ 2048 h 2048"/>
                <a:gd name="T62" fmla="*/ 2048 w 2048"/>
                <a:gd name="T63" fmla="*/ 1748 h 2048"/>
                <a:gd name="T64" fmla="*/ 1808 w 2048"/>
                <a:gd name="T65" fmla="*/ 1454 h 2048"/>
                <a:gd name="T66" fmla="*/ 480 w 2048"/>
                <a:gd name="T67" fmla="*/ 1748 h 2048"/>
                <a:gd name="T68" fmla="*/ 300 w 2048"/>
                <a:gd name="T69" fmla="*/ 1928 h 2048"/>
                <a:gd name="T70" fmla="*/ 120 w 2048"/>
                <a:gd name="T71" fmla="*/ 1748 h 2048"/>
                <a:gd name="T72" fmla="*/ 300 w 2048"/>
                <a:gd name="T73" fmla="*/ 1568 h 2048"/>
                <a:gd name="T74" fmla="*/ 480 w 2048"/>
                <a:gd name="T75" fmla="*/ 1748 h 2048"/>
                <a:gd name="T76" fmla="*/ 1204 w 2048"/>
                <a:gd name="T77" fmla="*/ 1748 h 2048"/>
                <a:gd name="T78" fmla="*/ 1024 w 2048"/>
                <a:gd name="T79" fmla="*/ 1928 h 2048"/>
                <a:gd name="T80" fmla="*/ 844 w 2048"/>
                <a:gd name="T81" fmla="*/ 1748 h 2048"/>
                <a:gd name="T82" fmla="*/ 1024 w 2048"/>
                <a:gd name="T83" fmla="*/ 1568 h 2048"/>
                <a:gd name="T84" fmla="*/ 1204 w 2048"/>
                <a:gd name="T85" fmla="*/ 1748 h 2048"/>
                <a:gd name="T86" fmla="*/ 1024 w 2048"/>
                <a:gd name="T87" fmla="*/ 968 h 2048"/>
                <a:gd name="T88" fmla="*/ 604 w 2048"/>
                <a:gd name="T89" fmla="*/ 544 h 2048"/>
                <a:gd name="T90" fmla="*/ 1024 w 2048"/>
                <a:gd name="T91" fmla="*/ 120 h 2048"/>
                <a:gd name="T92" fmla="*/ 1444 w 2048"/>
                <a:gd name="T93" fmla="*/ 544 h 2048"/>
                <a:gd name="T94" fmla="*/ 1024 w 2048"/>
                <a:gd name="T95" fmla="*/ 968 h 2048"/>
                <a:gd name="T96" fmla="*/ 1748 w 2048"/>
                <a:gd name="T97" fmla="*/ 1928 h 2048"/>
                <a:gd name="T98" fmla="*/ 1568 w 2048"/>
                <a:gd name="T99" fmla="*/ 1748 h 2048"/>
                <a:gd name="T100" fmla="*/ 1748 w 2048"/>
                <a:gd name="T101" fmla="*/ 1568 h 2048"/>
                <a:gd name="T102" fmla="*/ 1928 w 2048"/>
                <a:gd name="T103" fmla="*/ 1748 h 2048"/>
                <a:gd name="T104" fmla="*/ 1748 w 2048"/>
                <a:gd name="T105" fmla="*/ 192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48" h="2048">
                  <a:moveTo>
                    <a:pt x="1808" y="1454"/>
                  </a:moveTo>
                  <a:cubicBezTo>
                    <a:pt x="1808" y="1388"/>
                    <a:pt x="1808" y="1388"/>
                    <a:pt x="1808" y="1388"/>
                  </a:cubicBezTo>
                  <a:cubicBezTo>
                    <a:pt x="1808" y="1289"/>
                    <a:pt x="1727" y="1208"/>
                    <a:pt x="1628" y="1208"/>
                  </a:cubicBezTo>
                  <a:cubicBezTo>
                    <a:pt x="1084" y="1208"/>
                    <a:pt x="1084" y="1208"/>
                    <a:pt x="1084" y="1208"/>
                  </a:cubicBezTo>
                  <a:cubicBezTo>
                    <a:pt x="1084" y="1085"/>
                    <a:pt x="1084" y="1085"/>
                    <a:pt x="1084" y="1085"/>
                  </a:cubicBezTo>
                  <a:cubicBezTo>
                    <a:pt x="1354" y="1054"/>
                    <a:pt x="1564" y="824"/>
                    <a:pt x="1564" y="544"/>
                  </a:cubicBezTo>
                  <a:cubicBezTo>
                    <a:pt x="1564" y="244"/>
                    <a:pt x="1322" y="0"/>
                    <a:pt x="1024" y="0"/>
                  </a:cubicBezTo>
                  <a:cubicBezTo>
                    <a:pt x="726" y="0"/>
                    <a:pt x="484" y="244"/>
                    <a:pt x="484" y="544"/>
                  </a:cubicBezTo>
                  <a:cubicBezTo>
                    <a:pt x="484" y="824"/>
                    <a:pt x="694" y="1054"/>
                    <a:pt x="964" y="1085"/>
                  </a:cubicBezTo>
                  <a:cubicBezTo>
                    <a:pt x="964" y="1208"/>
                    <a:pt x="964" y="1208"/>
                    <a:pt x="964" y="1208"/>
                  </a:cubicBezTo>
                  <a:cubicBezTo>
                    <a:pt x="420" y="1208"/>
                    <a:pt x="420" y="1208"/>
                    <a:pt x="420" y="1208"/>
                  </a:cubicBezTo>
                  <a:cubicBezTo>
                    <a:pt x="321" y="1208"/>
                    <a:pt x="240" y="1289"/>
                    <a:pt x="240" y="1388"/>
                  </a:cubicBezTo>
                  <a:cubicBezTo>
                    <a:pt x="240" y="1454"/>
                    <a:pt x="240" y="1454"/>
                    <a:pt x="240" y="1454"/>
                  </a:cubicBezTo>
                  <a:cubicBezTo>
                    <a:pt x="103" y="1482"/>
                    <a:pt x="0" y="1603"/>
                    <a:pt x="0" y="1748"/>
                  </a:cubicBezTo>
                  <a:cubicBezTo>
                    <a:pt x="0" y="1913"/>
                    <a:pt x="135" y="2048"/>
                    <a:pt x="300" y="2048"/>
                  </a:cubicBezTo>
                  <a:cubicBezTo>
                    <a:pt x="465" y="2048"/>
                    <a:pt x="600" y="1913"/>
                    <a:pt x="600" y="1748"/>
                  </a:cubicBezTo>
                  <a:cubicBezTo>
                    <a:pt x="600" y="1603"/>
                    <a:pt x="497" y="1482"/>
                    <a:pt x="360" y="1454"/>
                  </a:cubicBezTo>
                  <a:cubicBezTo>
                    <a:pt x="360" y="1388"/>
                    <a:pt x="360" y="1388"/>
                    <a:pt x="360" y="1388"/>
                  </a:cubicBezTo>
                  <a:cubicBezTo>
                    <a:pt x="360" y="1355"/>
                    <a:pt x="387" y="1328"/>
                    <a:pt x="420" y="1328"/>
                  </a:cubicBezTo>
                  <a:cubicBezTo>
                    <a:pt x="964" y="1328"/>
                    <a:pt x="964" y="1328"/>
                    <a:pt x="964" y="1328"/>
                  </a:cubicBezTo>
                  <a:cubicBezTo>
                    <a:pt x="964" y="1454"/>
                    <a:pt x="964" y="1454"/>
                    <a:pt x="964" y="1454"/>
                  </a:cubicBezTo>
                  <a:cubicBezTo>
                    <a:pt x="827" y="1482"/>
                    <a:pt x="724" y="1603"/>
                    <a:pt x="724" y="1748"/>
                  </a:cubicBezTo>
                  <a:cubicBezTo>
                    <a:pt x="724" y="1913"/>
                    <a:pt x="859" y="2048"/>
                    <a:pt x="1024" y="2048"/>
                  </a:cubicBezTo>
                  <a:cubicBezTo>
                    <a:pt x="1189" y="2048"/>
                    <a:pt x="1324" y="1913"/>
                    <a:pt x="1324" y="1748"/>
                  </a:cubicBezTo>
                  <a:cubicBezTo>
                    <a:pt x="1324" y="1603"/>
                    <a:pt x="1221" y="1482"/>
                    <a:pt x="1084" y="1454"/>
                  </a:cubicBezTo>
                  <a:cubicBezTo>
                    <a:pt x="1084" y="1328"/>
                    <a:pt x="1084" y="1328"/>
                    <a:pt x="1084" y="1328"/>
                  </a:cubicBezTo>
                  <a:cubicBezTo>
                    <a:pt x="1628" y="1328"/>
                    <a:pt x="1628" y="1328"/>
                    <a:pt x="1628" y="1328"/>
                  </a:cubicBezTo>
                  <a:cubicBezTo>
                    <a:pt x="1661" y="1328"/>
                    <a:pt x="1688" y="1355"/>
                    <a:pt x="1688" y="1388"/>
                  </a:cubicBezTo>
                  <a:cubicBezTo>
                    <a:pt x="1688" y="1454"/>
                    <a:pt x="1688" y="1454"/>
                    <a:pt x="1688" y="1454"/>
                  </a:cubicBezTo>
                  <a:cubicBezTo>
                    <a:pt x="1551" y="1482"/>
                    <a:pt x="1448" y="1603"/>
                    <a:pt x="1448" y="1748"/>
                  </a:cubicBezTo>
                  <a:cubicBezTo>
                    <a:pt x="1448" y="1913"/>
                    <a:pt x="1583" y="2048"/>
                    <a:pt x="1748" y="2048"/>
                  </a:cubicBezTo>
                  <a:cubicBezTo>
                    <a:pt x="1913" y="2048"/>
                    <a:pt x="2048" y="1913"/>
                    <a:pt x="2048" y="1748"/>
                  </a:cubicBezTo>
                  <a:cubicBezTo>
                    <a:pt x="2048" y="1603"/>
                    <a:pt x="1945" y="1482"/>
                    <a:pt x="1808" y="1454"/>
                  </a:cubicBezTo>
                  <a:close/>
                  <a:moveTo>
                    <a:pt x="480" y="1748"/>
                  </a:moveTo>
                  <a:cubicBezTo>
                    <a:pt x="480" y="1847"/>
                    <a:pt x="399" y="1928"/>
                    <a:pt x="300" y="1928"/>
                  </a:cubicBezTo>
                  <a:cubicBezTo>
                    <a:pt x="201" y="1928"/>
                    <a:pt x="120" y="1847"/>
                    <a:pt x="120" y="1748"/>
                  </a:cubicBezTo>
                  <a:cubicBezTo>
                    <a:pt x="120" y="1649"/>
                    <a:pt x="201" y="1568"/>
                    <a:pt x="300" y="1568"/>
                  </a:cubicBezTo>
                  <a:cubicBezTo>
                    <a:pt x="399" y="1568"/>
                    <a:pt x="480" y="1649"/>
                    <a:pt x="480" y="1748"/>
                  </a:cubicBezTo>
                  <a:close/>
                  <a:moveTo>
                    <a:pt x="1204" y="1748"/>
                  </a:moveTo>
                  <a:cubicBezTo>
                    <a:pt x="1204" y="1847"/>
                    <a:pt x="1123" y="1928"/>
                    <a:pt x="1024" y="1928"/>
                  </a:cubicBezTo>
                  <a:cubicBezTo>
                    <a:pt x="925" y="1928"/>
                    <a:pt x="844" y="1847"/>
                    <a:pt x="844" y="1748"/>
                  </a:cubicBezTo>
                  <a:cubicBezTo>
                    <a:pt x="844" y="1649"/>
                    <a:pt x="925" y="1568"/>
                    <a:pt x="1024" y="1568"/>
                  </a:cubicBezTo>
                  <a:cubicBezTo>
                    <a:pt x="1123" y="1568"/>
                    <a:pt x="1204" y="1649"/>
                    <a:pt x="1204" y="1748"/>
                  </a:cubicBezTo>
                  <a:close/>
                  <a:moveTo>
                    <a:pt x="1024" y="968"/>
                  </a:moveTo>
                  <a:cubicBezTo>
                    <a:pt x="792" y="968"/>
                    <a:pt x="604" y="778"/>
                    <a:pt x="604" y="544"/>
                  </a:cubicBezTo>
                  <a:cubicBezTo>
                    <a:pt x="604" y="310"/>
                    <a:pt x="792" y="120"/>
                    <a:pt x="1024" y="120"/>
                  </a:cubicBezTo>
                  <a:cubicBezTo>
                    <a:pt x="1256" y="120"/>
                    <a:pt x="1444" y="310"/>
                    <a:pt x="1444" y="544"/>
                  </a:cubicBezTo>
                  <a:cubicBezTo>
                    <a:pt x="1444" y="778"/>
                    <a:pt x="1256" y="968"/>
                    <a:pt x="1024" y="968"/>
                  </a:cubicBezTo>
                  <a:close/>
                  <a:moveTo>
                    <a:pt x="1748" y="1928"/>
                  </a:moveTo>
                  <a:cubicBezTo>
                    <a:pt x="1649" y="1928"/>
                    <a:pt x="1568" y="1847"/>
                    <a:pt x="1568" y="1748"/>
                  </a:cubicBezTo>
                  <a:cubicBezTo>
                    <a:pt x="1568" y="1649"/>
                    <a:pt x="1649" y="1568"/>
                    <a:pt x="1748" y="1568"/>
                  </a:cubicBezTo>
                  <a:cubicBezTo>
                    <a:pt x="1847" y="1568"/>
                    <a:pt x="1928" y="1649"/>
                    <a:pt x="1928" y="1748"/>
                  </a:cubicBezTo>
                  <a:cubicBezTo>
                    <a:pt x="1928" y="1847"/>
                    <a:pt x="1847" y="1928"/>
                    <a:pt x="1748" y="19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1" name="Group 110" descr="This image is an icon of three human beings and a clock."/>
          <p:cNvGrpSpPr/>
          <p:nvPr/>
        </p:nvGrpSpPr>
        <p:grpSpPr>
          <a:xfrm>
            <a:off x="768329" y="2230384"/>
            <a:ext cx="297913" cy="297912"/>
            <a:chOff x="3613150" y="3706813"/>
            <a:chExt cx="420688" cy="420687"/>
          </a:xfrm>
        </p:grpSpPr>
        <p:sp>
          <p:nvSpPr>
            <p:cNvPr id="112" name="Freeform 10"/>
            <p:cNvSpPr>
              <a:spLocks noEditPoints="1"/>
            </p:cNvSpPr>
            <p:nvPr/>
          </p:nvSpPr>
          <p:spPr bwMode="auto">
            <a:xfrm>
              <a:off x="3613150" y="3930650"/>
              <a:ext cx="420688" cy="196850"/>
            </a:xfrm>
            <a:custGeom>
              <a:avLst/>
              <a:gdLst>
                <a:gd name="T0" fmla="*/ 1823 w 2048"/>
                <a:gd name="T1" fmla="*/ 528 h 960"/>
                <a:gd name="T2" fmla="*/ 1928 w 2048"/>
                <a:gd name="T3" fmla="*/ 300 h 960"/>
                <a:gd name="T4" fmla="*/ 1628 w 2048"/>
                <a:gd name="T5" fmla="*/ 0 h 960"/>
                <a:gd name="T6" fmla="*/ 1324 w 2048"/>
                <a:gd name="T7" fmla="*/ 300 h 960"/>
                <a:gd name="T8" fmla="*/ 1432 w 2048"/>
                <a:gd name="T9" fmla="*/ 528 h 960"/>
                <a:gd name="T10" fmla="*/ 1324 w 2048"/>
                <a:gd name="T11" fmla="*/ 606 h 960"/>
                <a:gd name="T12" fmla="*/ 1219 w 2048"/>
                <a:gd name="T13" fmla="*/ 528 h 960"/>
                <a:gd name="T14" fmla="*/ 1324 w 2048"/>
                <a:gd name="T15" fmla="*/ 300 h 960"/>
                <a:gd name="T16" fmla="*/ 1024 w 2048"/>
                <a:gd name="T17" fmla="*/ 0 h 960"/>
                <a:gd name="T18" fmla="*/ 724 w 2048"/>
                <a:gd name="T19" fmla="*/ 300 h 960"/>
                <a:gd name="T20" fmla="*/ 829 w 2048"/>
                <a:gd name="T21" fmla="*/ 528 h 960"/>
                <a:gd name="T22" fmla="*/ 724 w 2048"/>
                <a:gd name="T23" fmla="*/ 606 h 960"/>
                <a:gd name="T24" fmla="*/ 619 w 2048"/>
                <a:gd name="T25" fmla="*/ 528 h 960"/>
                <a:gd name="T26" fmla="*/ 724 w 2048"/>
                <a:gd name="T27" fmla="*/ 300 h 960"/>
                <a:gd name="T28" fmla="*/ 424 w 2048"/>
                <a:gd name="T29" fmla="*/ 0 h 960"/>
                <a:gd name="T30" fmla="*/ 124 w 2048"/>
                <a:gd name="T31" fmla="*/ 300 h 960"/>
                <a:gd name="T32" fmla="*/ 229 w 2048"/>
                <a:gd name="T33" fmla="*/ 527 h 960"/>
                <a:gd name="T34" fmla="*/ 0 w 2048"/>
                <a:gd name="T35" fmla="*/ 900 h 960"/>
                <a:gd name="T36" fmla="*/ 60 w 2048"/>
                <a:gd name="T37" fmla="*/ 960 h 960"/>
                <a:gd name="T38" fmla="*/ 1988 w 2048"/>
                <a:gd name="T39" fmla="*/ 960 h 960"/>
                <a:gd name="T40" fmla="*/ 2048 w 2048"/>
                <a:gd name="T41" fmla="*/ 900 h 960"/>
                <a:gd name="T42" fmla="*/ 1823 w 2048"/>
                <a:gd name="T43" fmla="*/ 528 h 960"/>
                <a:gd name="T44" fmla="*/ 424 w 2048"/>
                <a:gd name="T45" fmla="*/ 120 h 960"/>
                <a:gd name="T46" fmla="*/ 604 w 2048"/>
                <a:gd name="T47" fmla="*/ 300 h 960"/>
                <a:gd name="T48" fmla="*/ 424 w 2048"/>
                <a:gd name="T49" fmla="*/ 480 h 960"/>
                <a:gd name="T50" fmla="*/ 244 w 2048"/>
                <a:gd name="T51" fmla="*/ 300 h 960"/>
                <a:gd name="T52" fmla="*/ 424 w 2048"/>
                <a:gd name="T53" fmla="*/ 120 h 960"/>
                <a:gd name="T54" fmla="*/ 608 w 2048"/>
                <a:gd name="T55" fmla="*/ 840 h 960"/>
                <a:gd name="T56" fmla="*/ 126 w 2048"/>
                <a:gd name="T57" fmla="*/ 840 h 960"/>
                <a:gd name="T58" fmla="*/ 424 w 2048"/>
                <a:gd name="T59" fmla="*/ 600 h 960"/>
                <a:gd name="T60" fmla="*/ 652 w 2048"/>
                <a:gd name="T61" fmla="*/ 705 h 960"/>
                <a:gd name="T62" fmla="*/ 608 w 2048"/>
                <a:gd name="T63" fmla="*/ 840 h 960"/>
                <a:gd name="T64" fmla="*/ 1024 w 2048"/>
                <a:gd name="T65" fmla="*/ 120 h 960"/>
                <a:gd name="T66" fmla="*/ 1204 w 2048"/>
                <a:gd name="T67" fmla="*/ 300 h 960"/>
                <a:gd name="T68" fmla="*/ 1024 w 2048"/>
                <a:gd name="T69" fmla="*/ 480 h 960"/>
                <a:gd name="T70" fmla="*/ 844 w 2048"/>
                <a:gd name="T71" fmla="*/ 300 h 960"/>
                <a:gd name="T72" fmla="*/ 1024 w 2048"/>
                <a:gd name="T73" fmla="*/ 120 h 960"/>
                <a:gd name="T74" fmla="*/ 730 w 2048"/>
                <a:gd name="T75" fmla="*/ 840 h 960"/>
                <a:gd name="T76" fmla="*/ 1024 w 2048"/>
                <a:gd name="T77" fmla="*/ 600 h 960"/>
                <a:gd name="T78" fmla="*/ 1318 w 2048"/>
                <a:gd name="T79" fmla="*/ 840 h 960"/>
                <a:gd name="T80" fmla="*/ 730 w 2048"/>
                <a:gd name="T81" fmla="*/ 840 h 960"/>
                <a:gd name="T82" fmla="*/ 1628 w 2048"/>
                <a:gd name="T83" fmla="*/ 120 h 960"/>
                <a:gd name="T84" fmla="*/ 1808 w 2048"/>
                <a:gd name="T85" fmla="*/ 300 h 960"/>
                <a:gd name="T86" fmla="*/ 1628 w 2048"/>
                <a:gd name="T87" fmla="*/ 480 h 960"/>
                <a:gd name="T88" fmla="*/ 1444 w 2048"/>
                <a:gd name="T89" fmla="*/ 300 h 960"/>
                <a:gd name="T90" fmla="*/ 1628 w 2048"/>
                <a:gd name="T91" fmla="*/ 120 h 960"/>
                <a:gd name="T92" fmla="*/ 1440 w 2048"/>
                <a:gd name="T93" fmla="*/ 840 h 960"/>
                <a:gd name="T94" fmla="*/ 1396 w 2048"/>
                <a:gd name="T95" fmla="*/ 705 h 960"/>
                <a:gd name="T96" fmla="*/ 1628 w 2048"/>
                <a:gd name="T97" fmla="*/ 600 h 960"/>
                <a:gd name="T98" fmla="*/ 1922 w 2048"/>
                <a:gd name="T99" fmla="*/ 840 h 960"/>
                <a:gd name="T100" fmla="*/ 1440 w 2048"/>
                <a:gd name="T101" fmla="*/ 840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48" h="960">
                  <a:moveTo>
                    <a:pt x="1823" y="528"/>
                  </a:moveTo>
                  <a:cubicBezTo>
                    <a:pt x="1887" y="473"/>
                    <a:pt x="1928" y="391"/>
                    <a:pt x="1928" y="300"/>
                  </a:cubicBezTo>
                  <a:cubicBezTo>
                    <a:pt x="1928" y="135"/>
                    <a:pt x="1793" y="0"/>
                    <a:pt x="1628" y="0"/>
                  </a:cubicBezTo>
                  <a:cubicBezTo>
                    <a:pt x="1462" y="0"/>
                    <a:pt x="1324" y="134"/>
                    <a:pt x="1324" y="300"/>
                  </a:cubicBezTo>
                  <a:cubicBezTo>
                    <a:pt x="1324" y="387"/>
                    <a:pt x="1362" y="469"/>
                    <a:pt x="1432" y="528"/>
                  </a:cubicBezTo>
                  <a:cubicBezTo>
                    <a:pt x="1392" y="548"/>
                    <a:pt x="1355" y="575"/>
                    <a:pt x="1324" y="606"/>
                  </a:cubicBezTo>
                  <a:cubicBezTo>
                    <a:pt x="1293" y="575"/>
                    <a:pt x="1258" y="549"/>
                    <a:pt x="1219" y="528"/>
                  </a:cubicBezTo>
                  <a:cubicBezTo>
                    <a:pt x="1283" y="473"/>
                    <a:pt x="1324" y="391"/>
                    <a:pt x="1324" y="300"/>
                  </a:cubicBezTo>
                  <a:cubicBezTo>
                    <a:pt x="1324" y="135"/>
                    <a:pt x="1189" y="0"/>
                    <a:pt x="1024" y="0"/>
                  </a:cubicBezTo>
                  <a:cubicBezTo>
                    <a:pt x="859" y="0"/>
                    <a:pt x="724" y="135"/>
                    <a:pt x="724" y="300"/>
                  </a:cubicBezTo>
                  <a:cubicBezTo>
                    <a:pt x="724" y="391"/>
                    <a:pt x="765" y="473"/>
                    <a:pt x="829" y="528"/>
                  </a:cubicBezTo>
                  <a:cubicBezTo>
                    <a:pt x="790" y="548"/>
                    <a:pt x="755" y="575"/>
                    <a:pt x="724" y="606"/>
                  </a:cubicBezTo>
                  <a:cubicBezTo>
                    <a:pt x="693" y="574"/>
                    <a:pt x="658" y="548"/>
                    <a:pt x="619" y="528"/>
                  </a:cubicBezTo>
                  <a:cubicBezTo>
                    <a:pt x="683" y="473"/>
                    <a:pt x="724" y="391"/>
                    <a:pt x="724" y="300"/>
                  </a:cubicBezTo>
                  <a:cubicBezTo>
                    <a:pt x="724" y="135"/>
                    <a:pt x="589" y="0"/>
                    <a:pt x="424" y="0"/>
                  </a:cubicBezTo>
                  <a:cubicBezTo>
                    <a:pt x="259" y="0"/>
                    <a:pt x="124" y="135"/>
                    <a:pt x="124" y="300"/>
                  </a:cubicBezTo>
                  <a:cubicBezTo>
                    <a:pt x="124" y="391"/>
                    <a:pt x="165" y="472"/>
                    <a:pt x="229" y="527"/>
                  </a:cubicBezTo>
                  <a:cubicBezTo>
                    <a:pt x="93" y="597"/>
                    <a:pt x="0" y="738"/>
                    <a:pt x="0" y="900"/>
                  </a:cubicBezTo>
                  <a:cubicBezTo>
                    <a:pt x="0" y="933"/>
                    <a:pt x="27" y="960"/>
                    <a:pt x="60" y="960"/>
                  </a:cubicBezTo>
                  <a:cubicBezTo>
                    <a:pt x="70" y="960"/>
                    <a:pt x="1948" y="960"/>
                    <a:pt x="1988" y="960"/>
                  </a:cubicBezTo>
                  <a:cubicBezTo>
                    <a:pt x="2021" y="960"/>
                    <a:pt x="2048" y="933"/>
                    <a:pt x="2048" y="900"/>
                  </a:cubicBezTo>
                  <a:cubicBezTo>
                    <a:pt x="2048" y="739"/>
                    <a:pt x="1957" y="598"/>
                    <a:pt x="1823" y="528"/>
                  </a:cubicBezTo>
                  <a:close/>
                  <a:moveTo>
                    <a:pt x="424" y="120"/>
                  </a:moveTo>
                  <a:cubicBezTo>
                    <a:pt x="523" y="120"/>
                    <a:pt x="604" y="201"/>
                    <a:pt x="604" y="300"/>
                  </a:cubicBezTo>
                  <a:cubicBezTo>
                    <a:pt x="604" y="399"/>
                    <a:pt x="523" y="480"/>
                    <a:pt x="424" y="480"/>
                  </a:cubicBezTo>
                  <a:cubicBezTo>
                    <a:pt x="325" y="480"/>
                    <a:pt x="244" y="399"/>
                    <a:pt x="244" y="300"/>
                  </a:cubicBezTo>
                  <a:cubicBezTo>
                    <a:pt x="244" y="201"/>
                    <a:pt x="325" y="120"/>
                    <a:pt x="424" y="120"/>
                  </a:cubicBezTo>
                  <a:close/>
                  <a:moveTo>
                    <a:pt x="608" y="840"/>
                  </a:moveTo>
                  <a:cubicBezTo>
                    <a:pt x="126" y="840"/>
                    <a:pt x="126" y="840"/>
                    <a:pt x="126" y="840"/>
                  </a:cubicBezTo>
                  <a:cubicBezTo>
                    <a:pt x="154" y="703"/>
                    <a:pt x="277" y="600"/>
                    <a:pt x="424" y="600"/>
                  </a:cubicBezTo>
                  <a:cubicBezTo>
                    <a:pt x="512" y="600"/>
                    <a:pt x="595" y="639"/>
                    <a:pt x="652" y="705"/>
                  </a:cubicBezTo>
                  <a:cubicBezTo>
                    <a:pt x="630" y="746"/>
                    <a:pt x="615" y="792"/>
                    <a:pt x="608" y="840"/>
                  </a:cubicBezTo>
                  <a:close/>
                  <a:moveTo>
                    <a:pt x="1024" y="120"/>
                  </a:moveTo>
                  <a:cubicBezTo>
                    <a:pt x="1123" y="120"/>
                    <a:pt x="1204" y="201"/>
                    <a:pt x="1204" y="300"/>
                  </a:cubicBezTo>
                  <a:cubicBezTo>
                    <a:pt x="1204" y="399"/>
                    <a:pt x="1123" y="480"/>
                    <a:pt x="1024" y="480"/>
                  </a:cubicBezTo>
                  <a:cubicBezTo>
                    <a:pt x="925" y="480"/>
                    <a:pt x="844" y="399"/>
                    <a:pt x="844" y="300"/>
                  </a:cubicBezTo>
                  <a:cubicBezTo>
                    <a:pt x="844" y="201"/>
                    <a:pt x="925" y="120"/>
                    <a:pt x="1024" y="120"/>
                  </a:cubicBezTo>
                  <a:close/>
                  <a:moveTo>
                    <a:pt x="730" y="840"/>
                  </a:moveTo>
                  <a:cubicBezTo>
                    <a:pt x="758" y="703"/>
                    <a:pt x="879" y="600"/>
                    <a:pt x="1024" y="600"/>
                  </a:cubicBezTo>
                  <a:cubicBezTo>
                    <a:pt x="1169" y="600"/>
                    <a:pt x="1290" y="703"/>
                    <a:pt x="1318" y="840"/>
                  </a:cubicBezTo>
                  <a:cubicBezTo>
                    <a:pt x="1298" y="840"/>
                    <a:pt x="755" y="840"/>
                    <a:pt x="730" y="840"/>
                  </a:cubicBezTo>
                  <a:close/>
                  <a:moveTo>
                    <a:pt x="1628" y="120"/>
                  </a:moveTo>
                  <a:cubicBezTo>
                    <a:pt x="1727" y="120"/>
                    <a:pt x="1808" y="201"/>
                    <a:pt x="1808" y="300"/>
                  </a:cubicBezTo>
                  <a:cubicBezTo>
                    <a:pt x="1808" y="399"/>
                    <a:pt x="1727" y="480"/>
                    <a:pt x="1628" y="480"/>
                  </a:cubicBezTo>
                  <a:cubicBezTo>
                    <a:pt x="1528" y="480"/>
                    <a:pt x="1444" y="398"/>
                    <a:pt x="1444" y="300"/>
                  </a:cubicBezTo>
                  <a:cubicBezTo>
                    <a:pt x="1444" y="202"/>
                    <a:pt x="1528" y="120"/>
                    <a:pt x="1628" y="120"/>
                  </a:cubicBezTo>
                  <a:close/>
                  <a:moveTo>
                    <a:pt x="1440" y="840"/>
                  </a:moveTo>
                  <a:cubicBezTo>
                    <a:pt x="1433" y="792"/>
                    <a:pt x="1418" y="747"/>
                    <a:pt x="1396" y="705"/>
                  </a:cubicBezTo>
                  <a:cubicBezTo>
                    <a:pt x="1453" y="640"/>
                    <a:pt x="1539" y="600"/>
                    <a:pt x="1628" y="600"/>
                  </a:cubicBezTo>
                  <a:cubicBezTo>
                    <a:pt x="1773" y="600"/>
                    <a:pt x="1894" y="703"/>
                    <a:pt x="1922" y="840"/>
                  </a:cubicBezTo>
                  <a:lnTo>
                    <a:pt x="1440" y="8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Freeform 11"/>
            <p:cNvSpPr>
              <a:spLocks/>
            </p:cNvSpPr>
            <p:nvPr/>
          </p:nvSpPr>
          <p:spPr bwMode="auto">
            <a:xfrm>
              <a:off x="3784600" y="3768725"/>
              <a:ext cx="101600" cy="74612"/>
            </a:xfrm>
            <a:custGeom>
              <a:avLst/>
              <a:gdLst>
                <a:gd name="T0" fmla="*/ 468 w 492"/>
                <a:gd name="T1" fmla="*/ 24 h 366"/>
                <a:gd name="T2" fmla="*/ 384 w 492"/>
                <a:gd name="T3" fmla="*/ 24 h 366"/>
                <a:gd name="T4" fmla="*/ 186 w 492"/>
                <a:gd name="T5" fmla="*/ 221 h 366"/>
                <a:gd name="T6" fmla="*/ 108 w 492"/>
                <a:gd name="T7" fmla="*/ 144 h 366"/>
                <a:gd name="T8" fmla="*/ 24 w 492"/>
                <a:gd name="T9" fmla="*/ 144 h 366"/>
                <a:gd name="T10" fmla="*/ 24 w 492"/>
                <a:gd name="T11" fmla="*/ 228 h 366"/>
                <a:gd name="T12" fmla="*/ 144 w 492"/>
                <a:gd name="T13" fmla="*/ 348 h 366"/>
                <a:gd name="T14" fmla="*/ 186 w 492"/>
                <a:gd name="T15" fmla="*/ 366 h 366"/>
                <a:gd name="T16" fmla="*/ 228 w 492"/>
                <a:gd name="T17" fmla="*/ 348 h 366"/>
                <a:gd name="T18" fmla="*/ 468 w 492"/>
                <a:gd name="T19" fmla="*/ 108 h 366"/>
                <a:gd name="T20" fmla="*/ 468 w 492"/>
                <a:gd name="T21" fmla="*/ 24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2" h="366">
                  <a:moveTo>
                    <a:pt x="468" y="24"/>
                  </a:moveTo>
                  <a:cubicBezTo>
                    <a:pt x="445" y="0"/>
                    <a:pt x="407" y="0"/>
                    <a:pt x="384" y="24"/>
                  </a:cubicBezTo>
                  <a:cubicBezTo>
                    <a:pt x="186" y="221"/>
                    <a:pt x="186" y="221"/>
                    <a:pt x="186" y="221"/>
                  </a:cubicBezTo>
                  <a:cubicBezTo>
                    <a:pt x="108" y="144"/>
                    <a:pt x="108" y="144"/>
                    <a:pt x="108" y="144"/>
                  </a:cubicBezTo>
                  <a:cubicBezTo>
                    <a:pt x="85" y="120"/>
                    <a:pt x="47" y="120"/>
                    <a:pt x="24" y="144"/>
                  </a:cubicBezTo>
                  <a:cubicBezTo>
                    <a:pt x="0" y="167"/>
                    <a:pt x="0" y="205"/>
                    <a:pt x="24" y="228"/>
                  </a:cubicBezTo>
                  <a:cubicBezTo>
                    <a:pt x="144" y="348"/>
                    <a:pt x="144" y="348"/>
                    <a:pt x="144" y="348"/>
                  </a:cubicBezTo>
                  <a:cubicBezTo>
                    <a:pt x="155" y="360"/>
                    <a:pt x="171" y="366"/>
                    <a:pt x="186" y="366"/>
                  </a:cubicBezTo>
                  <a:cubicBezTo>
                    <a:pt x="201" y="366"/>
                    <a:pt x="217" y="360"/>
                    <a:pt x="228" y="348"/>
                  </a:cubicBezTo>
                  <a:cubicBezTo>
                    <a:pt x="468" y="108"/>
                    <a:pt x="468" y="108"/>
                    <a:pt x="468" y="108"/>
                  </a:cubicBezTo>
                  <a:cubicBezTo>
                    <a:pt x="492" y="85"/>
                    <a:pt x="492" y="47"/>
                    <a:pt x="468"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Freeform 12"/>
            <p:cNvSpPr>
              <a:spLocks noEditPoints="1"/>
            </p:cNvSpPr>
            <p:nvPr/>
          </p:nvSpPr>
          <p:spPr bwMode="auto">
            <a:xfrm>
              <a:off x="3736975" y="3706813"/>
              <a:ext cx="198438" cy="198437"/>
            </a:xfrm>
            <a:custGeom>
              <a:avLst/>
              <a:gdLst>
                <a:gd name="T0" fmla="*/ 480 w 964"/>
                <a:gd name="T1" fmla="*/ 0 h 968"/>
                <a:gd name="T2" fmla="*/ 0 w 964"/>
                <a:gd name="T3" fmla="*/ 484 h 968"/>
                <a:gd name="T4" fmla="*/ 480 w 964"/>
                <a:gd name="T5" fmla="*/ 968 h 968"/>
                <a:gd name="T6" fmla="*/ 964 w 964"/>
                <a:gd name="T7" fmla="*/ 484 h 968"/>
                <a:gd name="T8" fmla="*/ 480 w 964"/>
                <a:gd name="T9" fmla="*/ 0 h 968"/>
                <a:gd name="T10" fmla="*/ 480 w 964"/>
                <a:gd name="T11" fmla="*/ 848 h 968"/>
                <a:gd name="T12" fmla="*/ 120 w 964"/>
                <a:gd name="T13" fmla="*/ 484 h 968"/>
                <a:gd name="T14" fmla="*/ 480 w 964"/>
                <a:gd name="T15" fmla="*/ 120 h 968"/>
                <a:gd name="T16" fmla="*/ 844 w 964"/>
                <a:gd name="T17" fmla="*/ 484 h 968"/>
                <a:gd name="T18" fmla="*/ 480 w 964"/>
                <a:gd name="T19" fmla="*/ 848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4" h="968">
                  <a:moveTo>
                    <a:pt x="480" y="0"/>
                  </a:moveTo>
                  <a:cubicBezTo>
                    <a:pt x="215" y="0"/>
                    <a:pt x="0" y="217"/>
                    <a:pt x="0" y="484"/>
                  </a:cubicBezTo>
                  <a:cubicBezTo>
                    <a:pt x="0" y="751"/>
                    <a:pt x="215" y="968"/>
                    <a:pt x="480" y="968"/>
                  </a:cubicBezTo>
                  <a:cubicBezTo>
                    <a:pt x="745" y="968"/>
                    <a:pt x="964" y="750"/>
                    <a:pt x="964" y="484"/>
                  </a:cubicBezTo>
                  <a:cubicBezTo>
                    <a:pt x="964" y="219"/>
                    <a:pt x="746" y="0"/>
                    <a:pt x="480" y="0"/>
                  </a:cubicBezTo>
                  <a:close/>
                  <a:moveTo>
                    <a:pt x="480" y="848"/>
                  </a:moveTo>
                  <a:cubicBezTo>
                    <a:pt x="281" y="848"/>
                    <a:pt x="120" y="685"/>
                    <a:pt x="120" y="484"/>
                  </a:cubicBezTo>
                  <a:cubicBezTo>
                    <a:pt x="120" y="283"/>
                    <a:pt x="281" y="120"/>
                    <a:pt x="480" y="120"/>
                  </a:cubicBezTo>
                  <a:cubicBezTo>
                    <a:pt x="677" y="120"/>
                    <a:pt x="844" y="287"/>
                    <a:pt x="844" y="484"/>
                  </a:cubicBezTo>
                  <a:cubicBezTo>
                    <a:pt x="844" y="681"/>
                    <a:pt x="677" y="848"/>
                    <a:pt x="480" y="84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24" name="Rectangle 123">
            <a:extLst>
              <a:ext uri="{C183D7F6-B498-43B3-948B-1728B52AA6E4}">
                <adec:decorative xmlns:adec="http://schemas.microsoft.com/office/drawing/2017/decorative" val="1"/>
              </a:ext>
            </a:extLst>
          </p:cNvPr>
          <p:cNvSpPr/>
          <p:nvPr/>
        </p:nvSpPr>
        <p:spPr>
          <a:xfrm>
            <a:off x="1926252" y="621193"/>
            <a:ext cx="6682875" cy="3739291"/>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TextBox 141"/>
          <p:cNvSpPr txBox="1"/>
          <p:nvPr/>
        </p:nvSpPr>
        <p:spPr>
          <a:xfrm>
            <a:off x="1296448" y="2187997"/>
            <a:ext cx="482978" cy="340300"/>
          </a:xfrm>
          <a:prstGeom prst="rect">
            <a:avLst/>
          </a:prstGeom>
          <a:noFill/>
        </p:spPr>
        <p:txBody>
          <a:bodyPr wrap="none" lIns="0" tIns="0" rIns="0" bIns="0" rtlCol="0">
            <a:spAutoFit/>
          </a:bodyPr>
          <a:lstStyle/>
          <a:p>
            <a:r>
              <a:rPr lang="en-US" sz="2400" dirty="0">
                <a:solidFill>
                  <a:schemeClr val="bg1"/>
                </a:solidFill>
                <a:latin typeface="+mj-lt"/>
              </a:rPr>
              <a:t>25%</a:t>
            </a:r>
          </a:p>
        </p:txBody>
      </p:sp>
      <p:sp>
        <p:nvSpPr>
          <p:cNvPr id="143" name="TextBox 142"/>
          <p:cNvSpPr txBox="1"/>
          <p:nvPr/>
        </p:nvSpPr>
        <p:spPr>
          <a:xfrm>
            <a:off x="1296448" y="1126843"/>
            <a:ext cx="482978" cy="340300"/>
          </a:xfrm>
          <a:prstGeom prst="rect">
            <a:avLst/>
          </a:prstGeom>
          <a:noFill/>
        </p:spPr>
        <p:txBody>
          <a:bodyPr wrap="none" lIns="0" tIns="0" rIns="0" bIns="0" rtlCol="0">
            <a:spAutoFit/>
          </a:bodyPr>
          <a:lstStyle/>
          <a:p>
            <a:r>
              <a:rPr lang="en-US" sz="2400" dirty="0">
                <a:solidFill>
                  <a:schemeClr val="bg1"/>
                </a:solidFill>
                <a:latin typeface="+mj-lt"/>
              </a:rPr>
              <a:t>35%</a:t>
            </a:r>
          </a:p>
        </p:txBody>
      </p:sp>
      <p:graphicFrame>
        <p:nvGraphicFramePr>
          <p:cNvPr id="13" name="Chart 12" descr="This is a chart. "/>
          <p:cNvGraphicFramePr/>
          <p:nvPr>
            <p:extLst>
              <p:ext uri="{D42A27DB-BD31-4B8C-83A1-F6EECF244321}">
                <p14:modId xmlns:p14="http://schemas.microsoft.com/office/powerpoint/2010/main" val="1449396669"/>
              </p:ext>
            </p:extLst>
          </p:nvPr>
        </p:nvGraphicFramePr>
        <p:xfrm>
          <a:off x="2307544" y="644987"/>
          <a:ext cx="4528852" cy="3715498"/>
        </p:xfrm>
        <a:graphic>
          <a:graphicData uri="http://schemas.openxmlformats.org/drawingml/2006/chart">
            <c:chart xmlns:c="http://schemas.openxmlformats.org/drawingml/2006/chart" xmlns:r="http://schemas.openxmlformats.org/officeDocument/2006/relationships" r:id="rId3"/>
          </a:graphicData>
        </a:graphic>
      </p:graphicFrame>
      <p:pic>
        <p:nvPicPr>
          <p:cNvPr id="141" name="Picture 140">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410104" y="1"/>
            <a:ext cx="5781896" cy="6857999"/>
          </a:xfrm>
          <a:custGeom>
            <a:avLst/>
            <a:gdLst>
              <a:gd name="connsiteX0" fmla="*/ 0 w 4937760"/>
              <a:gd name="connsiteY0" fmla="*/ 0 h 6857999"/>
              <a:gd name="connsiteX1" fmla="*/ 4937760 w 4937760"/>
              <a:gd name="connsiteY1" fmla="*/ 0 h 6857999"/>
              <a:gd name="connsiteX2" fmla="*/ 4937760 w 4937760"/>
              <a:gd name="connsiteY2" fmla="*/ 6857999 h 6857999"/>
              <a:gd name="connsiteX3" fmla="*/ 0 w 493776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4937760" h="6857999">
                <a:moveTo>
                  <a:pt x="0" y="0"/>
                </a:moveTo>
                <a:lnTo>
                  <a:pt x="4937760" y="0"/>
                </a:lnTo>
                <a:lnTo>
                  <a:pt x="4937760" y="6857999"/>
                </a:lnTo>
                <a:lnTo>
                  <a:pt x="0" y="6857999"/>
                </a:lnTo>
                <a:close/>
              </a:path>
            </a:pathLst>
          </a:custGeom>
        </p:spPr>
      </p:pic>
      <p:sp>
        <p:nvSpPr>
          <p:cNvPr id="140" name="Rectangle 139">
            <a:extLst>
              <a:ext uri="{C183D7F6-B498-43B3-948B-1728B52AA6E4}">
                <adec:decorative xmlns:adec="http://schemas.microsoft.com/office/drawing/2017/decorative" val="1"/>
              </a:ext>
            </a:extLst>
          </p:cNvPr>
          <p:cNvSpPr/>
          <p:nvPr/>
        </p:nvSpPr>
        <p:spPr>
          <a:xfrm>
            <a:off x="6410104" y="0"/>
            <a:ext cx="5781896" cy="6858000"/>
          </a:xfrm>
          <a:prstGeom prst="rect">
            <a:avLst/>
          </a:prstGeom>
          <a:solidFill>
            <a:srgbClr val="30353F">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Oval 34">
            <a:extLst>
              <a:ext uri="{C183D7F6-B498-43B3-948B-1728B52AA6E4}">
                <adec:decorative xmlns:adec="http://schemas.microsoft.com/office/drawing/2017/decorative" val="1"/>
              </a:ext>
            </a:extLst>
          </p:cNvPr>
          <p:cNvSpPr/>
          <p:nvPr/>
        </p:nvSpPr>
        <p:spPr>
          <a:xfrm>
            <a:off x="8168206" y="18125"/>
            <a:ext cx="1622146" cy="158120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TextBox 144"/>
          <p:cNvSpPr txBox="1"/>
          <p:nvPr/>
        </p:nvSpPr>
        <p:spPr>
          <a:xfrm>
            <a:off x="6526306" y="1933310"/>
            <a:ext cx="5139914" cy="4216539"/>
          </a:xfrm>
          <a:prstGeom prst="rect">
            <a:avLst/>
          </a:prstGeom>
          <a:noFill/>
        </p:spPr>
        <p:txBody>
          <a:bodyPr wrap="square" lIns="0" tIns="0" rIns="0" bIns="0" rtlCol="0">
            <a:spAutoFit/>
          </a:bodyPr>
          <a:lstStyle/>
          <a:p>
            <a:pPr algn="ctr"/>
            <a:r>
              <a:rPr lang="en-US" b="1" u="sng" dirty="0">
                <a:solidFill>
                  <a:schemeClr val="bg1"/>
                </a:solidFill>
              </a:rPr>
              <a:t>CONTENTS:</a:t>
            </a:r>
          </a:p>
          <a:p>
            <a:pPr algn="ctr"/>
            <a:r>
              <a:rPr lang="en-US" sz="2000" b="1" u="sng" dirty="0">
                <a:solidFill>
                  <a:schemeClr val="bg1"/>
                </a:solidFill>
              </a:rPr>
              <a:t>Case Study 1 : </a:t>
            </a:r>
            <a:r>
              <a:rPr lang="en-IN" sz="2000" b="1" u="sng" dirty="0">
                <a:solidFill>
                  <a:schemeClr val="bg1"/>
                </a:solidFill>
              </a:rPr>
              <a:t>Job Data Analysis</a:t>
            </a:r>
            <a:endParaRPr lang="en-US" sz="2000" b="1" u="sng" dirty="0">
              <a:solidFill>
                <a:schemeClr val="bg1"/>
              </a:solidFill>
            </a:endParaRPr>
          </a:p>
          <a:p>
            <a:pPr algn="ctr"/>
            <a:r>
              <a:rPr lang="en-US" dirty="0">
                <a:solidFill>
                  <a:schemeClr val="bg1"/>
                </a:solidFill>
              </a:rPr>
              <a:t>TASKS </a:t>
            </a:r>
          </a:p>
          <a:p>
            <a:r>
              <a:rPr lang="en-US" dirty="0">
                <a:solidFill>
                  <a:schemeClr val="bg1"/>
                </a:solidFill>
              </a:rPr>
              <a:t>                      A. </a:t>
            </a:r>
            <a:r>
              <a:rPr lang="en-IN" dirty="0">
                <a:solidFill>
                  <a:schemeClr val="bg1"/>
                </a:solidFill>
              </a:rPr>
              <a:t>Jobs Reviewed Over Time</a:t>
            </a:r>
          </a:p>
          <a:p>
            <a:pPr lvl="3"/>
            <a:r>
              <a:rPr lang="en-IN" dirty="0">
                <a:solidFill>
                  <a:schemeClr val="bg1"/>
                </a:solidFill>
              </a:rPr>
              <a:t>B. Throughput Analysis</a:t>
            </a:r>
          </a:p>
          <a:p>
            <a:pPr lvl="3"/>
            <a:r>
              <a:rPr lang="en-IN" dirty="0">
                <a:solidFill>
                  <a:schemeClr val="bg1"/>
                </a:solidFill>
              </a:rPr>
              <a:t>C. Language Share Analysis</a:t>
            </a:r>
          </a:p>
          <a:p>
            <a:pPr lvl="3"/>
            <a:r>
              <a:rPr lang="en-IN" dirty="0">
                <a:solidFill>
                  <a:schemeClr val="bg1"/>
                </a:solidFill>
              </a:rPr>
              <a:t>D. Duplicate Rows Detection</a:t>
            </a:r>
          </a:p>
          <a:p>
            <a:pPr algn="ctr"/>
            <a:endParaRPr lang="en-IN" dirty="0">
              <a:solidFill>
                <a:schemeClr val="bg1"/>
              </a:solidFill>
            </a:endParaRPr>
          </a:p>
          <a:p>
            <a:pPr algn="ctr"/>
            <a:r>
              <a:rPr lang="en-IN" sz="2000" b="1" u="sng" dirty="0">
                <a:solidFill>
                  <a:schemeClr val="bg1"/>
                </a:solidFill>
              </a:rPr>
              <a:t>Case Study 2: Investigating Metric Spike</a:t>
            </a:r>
          </a:p>
          <a:p>
            <a:pPr algn="ctr"/>
            <a:r>
              <a:rPr lang="en-IN" dirty="0">
                <a:solidFill>
                  <a:schemeClr val="bg1"/>
                </a:solidFill>
              </a:rPr>
              <a:t>TASKS </a:t>
            </a:r>
          </a:p>
          <a:p>
            <a:pPr lvl="3"/>
            <a:r>
              <a:rPr lang="en-IN" dirty="0">
                <a:solidFill>
                  <a:schemeClr val="bg1"/>
                </a:solidFill>
              </a:rPr>
              <a:t>A. Weekly User Engagement</a:t>
            </a:r>
          </a:p>
          <a:p>
            <a:pPr lvl="3"/>
            <a:r>
              <a:rPr lang="en-IN" dirty="0">
                <a:solidFill>
                  <a:schemeClr val="bg1"/>
                </a:solidFill>
              </a:rPr>
              <a:t>B. User Growth Analysis</a:t>
            </a:r>
          </a:p>
          <a:p>
            <a:pPr lvl="3"/>
            <a:r>
              <a:rPr lang="en-IN" dirty="0">
                <a:solidFill>
                  <a:schemeClr val="bg1"/>
                </a:solidFill>
              </a:rPr>
              <a:t>C. Weekly Retention Analysis</a:t>
            </a:r>
          </a:p>
          <a:p>
            <a:pPr lvl="3"/>
            <a:r>
              <a:rPr lang="en-IN" dirty="0">
                <a:solidFill>
                  <a:schemeClr val="bg1"/>
                </a:solidFill>
              </a:rPr>
              <a:t>D. Weekly Engagement Per Device </a:t>
            </a:r>
          </a:p>
          <a:p>
            <a:pPr lvl="3"/>
            <a:r>
              <a:rPr lang="en-IN" dirty="0">
                <a:solidFill>
                  <a:schemeClr val="bg1"/>
                </a:solidFill>
              </a:rPr>
              <a:t>E. Email Engagement Analysis</a:t>
            </a:r>
            <a:endParaRPr lang="en-US" dirty="0">
              <a:solidFill>
                <a:schemeClr val="bg1"/>
              </a:solidFill>
            </a:endParaRPr>
          </a:p>
        </p:txBody>
      </p:sp>
      <p:cxnSp>
        <p:nvCxnSpPr>
          <p:cNvPr id="151" name="Straight Connector 150">
            <a:extLst>
              <a:ext uri="{C183D7F6-B498-43B3-948B-1728B52AA6E4}">
                <adec:decorative xmlns:adec="http://schemas.microsoft.com/office/drawing/2017/decorative" val="1"/>
              </a:ext>
            </a:extLst>
          </p:cNvPr>
          <p:cNvCxnSpPr/>
          <p:nvPr/>
        </p:nvCxnSpPr>
        <p:spPr>
          <a:xfrm>
            <a:off x="8327312" y="1795312"/>
            <a:ext cx="146304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C183D7F6-B498-43B3-948B-1728B52AA6E4}">
                <adec:decorative xmlns:adec="http://schemas.microsoft.com/office/drawing/2017/decorative" val="1"/>
              </a:ext>
            </a:extLst>
          </p:cNvPr>
          <p:cNvCxnSpPr/>
          <p:nvPr/>
        </p:nvCxnSpPr>
        <p:spPr>
          <a:xfrm>
            <a:off x="9347735" y="5910588"/>
            <a:ext cx="75077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C183D7F6-B498-43B3-948B-1728B52AA6E4}">
                <adec:decorative xmlns:adec="http://schemas.microsoft.com/office/drawing/2017/decorative" val="1"/>
              </a:ext>
            </a:extLst>
          </p:cNvPr>
          <p:cNvGrpSpPr/>
          <p:nvPr/>
        </p:nvGrpSpPr>
        <p:grpSpPr>
          <a:xfrm>
            <a:off x="816617" y="3307745"/>
            <a:ext cx="962807" cy="340300"/>
            <a:chOff x="816617" y="3307745"/>
            <a:chExt cx="962807" cy="340300"/>
          </a:xfrm>
        </p:grpSpPr>
        <p:pic>
          <p:nvPicPr>
            <p:cNvPr id="117" name="Picture 116" descr="This image is an icon of a human being. "/>
            <p:cNvPicPr>
              <a:picLocks noChangeAspect="1"/>
            </p:cNvPicPr>
            <p:nvPr/>
          </p:nvPicPr>
          <p:blipFill>
            <a:blip r:embed="rId5"/>
            <a:stretch>
              <a:fillRect/>
            </a:stretch>
          </p:blipFill>
          <p:spPr>
            <a:xfrm>
              <a:off x="816617" y="3346008"/>
              <a:ext cx="231766" cy="263774"/>
            </a:xfrm>
            <a:prstGeom prst="rect">
              <a:avLst/>
            </a:prstGeom>
          </p:spPr>
        </p:pic>
        <p:sp>
          <p:nvSpPr>
            <p:cNvPr id="144" name="TextBox 143"/>
            <p:cNvSpPr txBox="1"/>
            <p:nvPr/>
          </p:nvSpPr>
          <p:spPr>
            <a:xfrm>
              <a:off x="1296446" y="3307745"/>
              <a:ext cx="482978" cy="340300"/>
            </a:xfrm>
            <a:prstGeom prst="rect">
              <a:avLst/>
            </a:prstGeom>
            <a:noFill/>
          </p:spPr>
          <p:txBody>
            <a:bodyPr wrap="none" lIns="0" tIns="0" rIns="0" bIns="0" rtlCol="0">
              <a:spAutoFit/>
            </a:bodyPr>
            <a:lstStyle/>
            <a:p>
              <a:r>
                <a:rPr lang="en-US" sz="2400" dirty="0">
                  <a:solidFill>
                    <a:schemeClr val="bg1"/>
                  </a:solidFill>
                  <a:latin typeface="+mj-lt"/>
                </a:rPr>
                <a:t>43%</a:t>
              </a:r>
            </a:p>
          </p:txBody>
        </p:sp>
      </p:grpSp>
      <p:sp>
        <p:nvSpPr>
          <p:cNvPr id="2" name="Title 1" hidden="1">
            <a:extLst>
              <a:ext uri="{FF2B5EF4-FFF2-40B4-BE49-F238E27FC236}">
                <a16:creationId xmlns:a16="http://schemas.microsoft.com/office/drawing/2014/main" id="{B61803F9-0687-42F2-AD52-B4E217229BB0}"/>
              </a:ext>
            </a:extLst>
          </p:cNvPr>
          <p:cNvSpPr>
            <a:spLocks noGrp="1"/>
          </p:cNvSpPr>
          <p:nvPr>
            <p:ph type="title"/>
          </p:nvPr>
        </p:nvSpPr>
        <p:spPr/>
        <p:txBody>
          <a:bodyPr/>
          <a:lstStyle/>
          <a:p>
            <a:r>
              <a:rPr lang="en-US" dirty="0"/>
              <a:t>Slide 7</a:t>
            </a:r>
          </a:p>
        </p:txBody>
      </p:sp>
      <p:sp>
        <p:nvSpPr>
          <p:cNvPr id="5" name="Freeform 34" descr="This image is an icon of three human beings and a circle. "/>
          <p:cNvSpPr>
            <a:spLocks noEditPoints="1"/>
          </p:cNvSpPr>
          <p:nvPr/>
        </p:nvSpPr>
        <p:spPr bwMode="auto">
          <a:xfrm>
            <a:off x="8530014" y="312964"/>
            <a:ext cx="920808" cy="984029"/>
          </a:xfrm>
          <a:custGeom>
            <a:avLst/>
            <a:gdLst>
              <a:gd name="T0" fmla="*/ 1924 w 2048"/>
              <a:gd name="T1" fmla="*/ 300 h 2048"/>
              <a:gd name="T2" fmla="*/ 1324 w 2048"/>
              <a:gd name="T3" fmla="*/ 300 h 2048"/>
              <a:gd name="T4" fmla="*/ 1024 w 2048"/>
              <a:gd name="T5" fmla="*/ 240 h 2048"/>
              <a:gd name="T6" fmla="*/ 720 w 2048"/>
              <a:gd name="T7" fmla="*/ 300 h 2048"/>
              <a:gd name="T8" fmla="*/ 120 w 2048"/>
              <a:gd name="T9" fmla="*/ 300 h 2048"/>
              <a:gd name="T10" fmla="*/ 0 w 2048"/>
              <a:gd name="T11" fmla="*/ 900 h 2048"/>
              <a:gd name="T12" fmla="*/ 242 w 2048"/>
              <a:gd name="T13" fmla="*/ 960 h 2048"/>
              <a:gd name="T14" fmla="*/ 689 w 2048"/>
              <a:gd name="T15" fmla="*/ 1730 h 2048"/>
              <a:gd name="T16" fmla="*/ 660 w 2048"/>
              <a:gd name="T17" fmla="*/ 2048 h 2048"/>
              <a:gd name="T18" fmla="*/ 1444 w 2048"/>
              <a:gd name="T19" fmla="*/ 1988 h 2048"/>
              <a:gd name="T20" fmla="*/ 1804 w 2048"/>
              <a:gd name="T21" fmla="*/ 1020 h 2048"/>
              <a:gd name="T22" fmla="*/ 1988 w 2048"/>
              <a:gd name="T23" fmla="*/ 960 h 2048"/>
              <a:gd name="T24" fmla="*/ 1819 w 2048"/>
              <a:gd name="T25" fmla="*/ 527 h 2048"/>
              <a:gd name="T26" fmla="*/ 1804 w 2048"/>
              <a:gd name="T27" fmla="*/ 300 h 2048"/>
              <a:gd name="T28" fmla="*/ 1444 w 2048"/>
              <a:gd name="T29" fmla="*/ 300 h 2048"/>
              <a:gd name="T30" fmla="*/ 420 w 2048"/>
              <a:gd name="T31" fmla="*/ 120 h 2048"/>
              <a:gd name="T32" fmla="*/ 420 w 2048"/>
              <a:gd name="T33" fmla="*/ 480 h 2048"/>
              <a:gd name="T34" fmla="*/ 420 w 2048"/>
              <a:gd name="T35" fmla="*/ 120 h 2048"/>
              <a:gd name="T36" fmla="*/ 420 w 2048"/>
              <a:gd name="T37" fmla="*/ 600 h 2048"/>
              <a:gd name="T38" fmla="*/ 126 w 2048"/>
              <a:gd name="T39" fmla="*/ 840 h 2048"/>
              <a:gd name="T40" fmla="*/ 1024 w 2048"/>
              <a:gd name="T41" fmla="*/ 1684 h 2048"/>
              <a:gd name="T42" fmla="*/ 726 w 2048"/>
              <a:gd name="T43" fmla="*/ 1928 h 2048"/>
              <a:gd name="T44" fmla="*/ 1024 w 2048"/>
              <a:gd name="T45" fmla="*/ 1204 h 2048"/>
              <a:gd name="T46" fmla="*/ 1024 w 2048"/>
              <a:gd name="T47" fmla="*/ 1564 h 2048"/>
              <a:gd name="T48" fmla="*/ 1263 w 2048"/>
              <a:gd name="T49" fmla="*/ 1639 h 2048"/>
              <a:gd name="T50" fmla="*/ 1324 w 2048"/>
              <a:gd name="T51" fmla="*/ 1384 h 2048"/>
              <a:gd name="T52" fmla="*/ 720 w 2048"/>
              <a:gd name="T53" fmla="*/ 1384 h 2048"/>
              <a:gd name="T54" fmla="*/ 828 w 2048"/>
              <a:gd name="T55" fmla="*/ 1613 h 2048"/>
              <a:gd name="T56" fmla="*/ 360 w 2048"/>
              <a:gd name="T57" fmla="*/ 1020 h 2048"/>
              <a:gd name="T58" fmla="*/ 780 w 2048"/>
              <a:gd name="T59" fmla="*/ 960 h 2048"/>
              <a:gd name="T60" fmla="*/ 615 w 2048"/>
              <a:gd name="T61" fmla="*/ 528 h 2048"/>
              <a:gd name="T62" fmla="*/ 1024 w 2048"/>
              <a:gd name="T63" fmla="*/ 360 h 2048"/>
              <a:gd name="T64" fmla="*/ 1429 w 2048"/>
              <a:gd name="T65" fmla="*/ 528 h 2048"/>
              <a:gd name="T66" fmla="*/ 1264 w 2048"/>
              <a:gd name="T67" fmla="*/ 960 h 2048"/>
              <a:gd name="T68" fmla="*/ 1684 w 2048"/>
              <a:gd name="T69" fmla="*/ 1020 h 2048"/>
              <a:gd name="T70" fmla="*/ 1330 w 2048"/>
              <a:gd name="T71" fmla="*/ 840 h 2048"/>
              <a:gd name="T72" fmla="*/ 1922 w 2048"/>
              <a:gd name="T73" fmla="*/ 8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8" h="2048">
                <a:moveTo>
                  <a:pt x="1819" y="527"/>
                </a:moveTo>
                <a:cubicBezTo>
                  <a:pt x="1883" y="472"/>
                  <a:pt x="1924" y="391"/>
                  <a:pt x="1924" y="300"/>
                </a:cubicBezTo>
                <a:cubicBezTo>
                  <a:pt x="1924" y="135"/>
                  <a:pt x="1789" y="0"/>
                  <a:pt x="1624" y="0"/>
                </a:cubicBezTo>
                <a:cubicBezTo>
                  <a:pt x="1459" y="0"/>
                  <a:pt x="1324" y="135"/>
                  <a:pt x="1324" y="300"/>
                </a:cubicBezTo>
                <a:cubicBezTo>
                  <a:pt x="1324" y="300"/>
                  <a:pt x="1324" y="300"/>
                  <a:pt x="1324" y="300"/>
                </a:cubicBezTo>
                <a:cubicBezTo>
                  <a:pt x="1229" y="261"/>
                  <a:pt x="1128" y="240"/>
                  <a:pt x="1024" y="240"/>
                </a:cubicBezTo>
                <a:cubicBezTo>
                  <a:pt x="920" y="240"/>
                  <a:pt x="816" y="261"/>
                  <a:pt x="720" y="301"/>
                </a:cubicBezTo>
                <a:cubicBezTo>
                  <a:pt x="720" y="300"/>
                  <a:pt x="720" y="300"/>
                  <a:pt x="720" y="300"/>
                </a:cubicBezTo>
                <a:cubicBezTo>
                  <a:pt x="720" y="135"/>
                  <a:pt x="585" y="0"/>
                  <a:pt x="420" y="0"/>
                </a:cubicBezTo>
                <a:cubicBezTo>
                  <a:pt x="255" y="0"/>
                  <a:pt x="120" y="135"/>
                  <a:pt x="120" y="300"/>
                </a:cubicBezTo>
                <a:cubicBezTo>
                  <a:pt x="120" y="391"/>
                  <a:pt x="161" y="473"/>
                  <a:pt x="225" y="528"/>
                </a:cubicBezTo>
                <a:cubicBezTo>
                  <a:pt x="91" y="598"/>
                  <a:pt x="0" y="739"/>
                  <a:pt x="0" y="900"/>
                </a:cubicBezTo>
                <a:cubicBezTo>
                  <a:pt x="0" y="933"/>
                  <a:pt x="27" y="960"/>
                  <a:pt x="60" y="960"/>
                </a:cubicBezTo>
                <a:cubicBezTo>
                  <a:pt x="242" y="960"/>
                  <a:pt x="242" y="960"/>
                  <a:pt x="242" y="960"/>
                </a:cubicBezTo>
                <a:cubicBezTo>
                  <a:pt x="241" y="980"/>
                  <a:pt x="240" y="1000"/>
                  <a:pt x="240" y="1020"/>
                </a:cubicBezTo>
                <a:cubicBezTo>
                  <a:pt x="240" y="1337"/>
                  <a:pt x="429" y="1608"/>
                  <a:pt x="689" y="1730"/>
                </a:cubicBezTo>
                <a:cubicBezTo>
                  <a:pt x="631" y="1804"/>
                  <a:pt x="600" y="1894"/>
                  <a:pt x="600" y="1988"/>
                </a:cubicBezTo>
                <a:cubicBezTo>
                  <a:pt x="600" y="2021"/>
                  <a:pt x="627" y="2048"/>
                  <a:pt x="660" y="2048"/>
                </a:cubicBezTo>
                <a:cubicBezTo>
                  <a:pt x="1384" y="2048"/>
                  <a:pt x="1384" y="2048"/>
                  <a:pt x="1384" y="2048"/>
                </a:cubicBezTo>
                <a:cubicBezTo>
                  <a:pt x="1417" y="2048"/>
                  <a:pt x="1444" y="2021"/>
                  <a:pt x="1444" y="1988"/>
                </a:cubicBezTo>
                <a:cubicBezTo>
                  <a:pt x="1444" y="1891"/>
                  <a:pt x="1411" y="1801"/>
                  <a:pt x="1357" y="1729"/>
                </a:cubicBezTo>
                <a:cubicBezTo>
                  <a:pt x="1619" y="1605"/>
                  <a:pt x="1804" y="1333"/>
                  <a:pt x="1804" y="1020"/>
                </a:cubicBezTo>
                <a:cubicBezTo>
                  <a:pt x="1804" y="1000"/>
                  <a:pt x="1803" y="980"/>
                  <a:pt x="1802" y="960"/>
                </a:cubicBezTo>
                <a:cubicBezTo>
                  <a:pt x="1988" y="960"/>
                  <a:pt x="1988" y="960"/>
                  <a:pt x="1988" y="960"/>
                </a:cubicBezTo>
                <a:cubicBezTo>
                  <a:pt x="2021" y="960"/>
                  <a:pt x="2048" y="933"/>
                  <a:pt x="2048" y="900"/>
                </a:cubicBezTo>
                <a:cubicBezTo>
                  <a:pt x="2048" y="738"/>
                  <a:pt x="1955" y="597"/>
                  <a:pt x="1819" y="527"/>
                </a:cubicBezTo>
                <a:close/>
                <a:moveTo>
                  <a:pt x="1624" y="120"/>
                </a:moveTo>
                <a:cubicBezTo>
                  <a:pt x="1723" y="120"/>
                  <a:pt x="1804" y="201"/>
                  <a:pt x="1804" y="300"/>
                </a:cubicBezTo>
                <a:cubicBezTo>
                  <a:pt x="1804" y="399"/>
                  <a:pt x="1723" y="480"/>
                  <a:pt x="1624" y="480"/>
                </a:cubicBezTo>
                <a:cubicBezTo>
                  <a:pt x="1525" y="480"/>
                  <a:pt x="1444" y="399"/>
                  <a:pt x="1444" y="300"/>
                </a:cubicBezTo>
                <a:cubicBezTo>
                  <a:pt x="1444" y="201"/>
                  <a:pt x="1525" y="120"/>
                  <a:pt x="1624" y="120"/>
                </a:cubicBezTo>
                <a:close/>
                <a:moveTo>
                  <a:pt x="420" y="120"/>
                </a:moveTo>
                <a:cubicBezTo>
                  <a:pt x="519" y="120"/>
                  <a:pt x="600" y="201"/>
                  <a:pt x="600" y="300"/>
                </a:cubicBezTo>
                <a:cubicBezTo>
                  <a:pt x="600" y="399"/>
                  <a:pt x="519" y="480"/>
                  <a:pt x="420" y="480"/>
                </a:cubicBezTo>
                <a:cubicBezTo>
                  <a:pt x="321" y="480"/>
                  <a:pt x="240" y="399"/>
                  <a:pt x="240" y="300"/>
                </a:cubicBezTo>
                <a:cubicBezTo>
                  <a:pt x="240" y="201"/>
                  <a:pt x="321" y="120"/>
                  <a:pt x="420" y="120"/>
                </a:cubicBezTo>
                <a:close/>
                <a:moveTo>
                  <a:pt x="126" y="840"/>
                </a:moveTo>
                <a:cubicBezTo>
                  <a:pt x="154" y="703"/>
                  <a:pt x="275" y="600"/>
                  <a:pt x="420" y="600"/>
                </a:cubicBezTo>
                <a:cubicBezTo>
                  <a:pt x="565" y="600"/>
                  <a:pt x="686" y="703"/>
                  <a:pt x="714" y="840"/>
                </a:cubicBezTo>
                <a:lnTo>
                  <a:pt x="126" y="840"/>
                </a:lnTo>
                <a:close/>
                <a:moveTo>
                  <a:pt x="726" y="1928"/>
                </a:moveTo>
                <a:cubicBezTo>
                  <a:pt x="755" y="1791"/>
                  <a:pt x="880" y="1684"/>
                  <a:pt x="1024" y="1684"/>
                </a:cubicBezTo>
                <a:cubicBezTo>
                  <a:pt x="1169" y="1684"/>
                  <a:pt x="1291" y="1789"/>
                  <a:pt x="1318" y="1928"/>
                </a:cubicBezTo>
                <a:lnTo>
                  <a:pt x="726" y="1928"/>
                </a:lnTo>
                <a:close/>
                <a:moveTo>
                  <a:pt x="840" y="1384"/>
                </a:moveTo>
                <a:cubicBezTo>
                  <a:pt x="840" y="1286"/>
                  <a:pt x="924" y="1204"/>
                  <a:pt x="1024" y="1204"/>
                </a:cubicBezTo>
                <a:cubicBezTo>
                  <a:pt x="1123" y="1204"/>
                  <a:pt x="1204" y="1285"/>
                  <a:pt x="1204" y="1384"/>
                </a:cubicBezTo>
                <a:cubicBezTo>
                  <a:pt x="1204" y="1483"/>
                  <a:pt x="1123" y="1564"/>
                  <a:pt x="1024" y="1564"/>
                </a:cubicBezTo>
                <a:cubicBezTo>
                  <a:pt x="924" y="1564"/>
                  <a:pt x="840" y="1482"/>
                  <a:pt x="840" y="1384"/>
                </a:cubicBezTo>
                <a:close/>
                <a:moveTo>
                  <a:pt x="1263" y="1639"/>
                </a:moveTo>
                <a:cubicBezTo>
                  <a:pt x="1249" y="1629"/>
                  <a:pt x="1234" y="1620"/>
                  <a:pt x="1218" y="1612"/>
                </a:cubicBezTo>
                <a:cubicBezTo>
                  <a:pt x="1283" y="1557"/>
                  <a:pt x="1324" y="1475"/>
                  <a:pt x="1324" y="1384"/>
                </a:cubicBezTo>
                <a:cubicBezTo>
                  <a:pt x="1324" y="1219"/>
                  <a:pt x="1189" y="1084"/>
                  <a:pt x="1024" y="1084"/>
                </a:cubicBezTo>
                <a:cubicBezTo>
                  <a:pt x="858" y="1084"/>
                  <a:pt x="720" y="1218"/>
                  <a:pt x="720" y="1384"/>
                </a:cubicBezTo>
                <a:cubicBezTo>
                  <a:pt x="720" y="1464"/>
                  <a:pt x="752" y="1540"/>
                  <a:pt x="810" y="1597"/>
                </a:cubicBezTo>
                <a:cubicBezTo>
                  <a:pt x="816" y="1602"/>
                  <a:pt x="822" y="1608"/>
                  <a:pt x="828" y="1613"/>
                </a:cubicBezTo>
                <a:cubicBezTo>
                  <a:pt x="813" y="1621"/>
                  <a:pt x="798" y="1630"/>
                  <a:pt x="783" y="1640"/>
                </a:cubicBezTo>
                <a:cubicBezTo>
                  <a:pt x="529" y="1542"/>
                  <a:pt x="360" y="1296"/>
                  <a:pt x="360" y="1020"/>
                </a:cubicBezTo>
                <a:cubicBezTo>
                  <a:pt x="360" y="1000"/>
                  <a:pt x="361" y="980"/>
                  <a:pt x="363" y="960"/>
                </a:cubicBezTo>
                <a:cubicBezTo>
                  <a:pt x="780" y="960"/>
                  <a:pt x="780" y="960"/>
                  <a:pt x="780" y="960"/>
                </a:cubicBezTo>
                <a:cubicBezTo>
                  <a:pt x="813" y="960"/>
                  <a:pt x="840" y="933"/>
                  <a:pt x="840" y="900"/>
                </a:cubicBezTo>
                <a:cubicBezTo>
                  <a:pt x="840" y="739"/>
                  <a:pt x="749" y="598"/>
                  <a:pt x="615" y="528"/>
                </a:cubicBezTo>
                <a:cubicBezTo>
                  <a:pt x="638" y="508"/>
                  <a:pt x="659" y="484"/>
                  <a:pt x="675" y="458"/>
                </a:cubicBezTo>
                <a:cubicBezTo>
                  <a:pt x="778" y="395"/>
                  <a:pt x="901" y="360"/>
                  <a:pt x="1024" y="360"/>
                </a:cubicBezTo>
                <a:cubicBezTo>
                  <a:pt x="1146" y="360"/>
                  <a:pt x="1265" y="394"/>
                  <a:pt x="1369" y="458"/>
                </a:cubicBezTo>
                <a:cubicBezTo>
                  <a:pt x="1385" y="484"/>
                  <a:pt x="1406" y="508"/>
                  <a:pt x="1429" y="528"/>
                </a:cubicBezTo>
                <a:cubicBezTo>
                  <a:pt x="1295" y="598"/>
                  <a:pt x="1204" y="739"/>
                  <a:pt x="1204" y="900"/>
                </a:cubicBezTo>
                <a:cubicBezTo>
                  <a:pt x="1204" y="933"/>
                  <a:pt x="1231" y="960"/>
                  <a:pt x="1264" y="960"/>
                </a:cubicBezTo>
                <a:cubicBezTo>
                  <a:pt x="1681" y="960"/>
                  <a:pt x="1681" y="960"/>
                  <a:pt x="1681" y="960"/>
                </a:cubicBezTo>
                <a:cubicBezTo>
                  <a:pt x="1683" y="980"/>
                  <a:pt x="1684" y="1000"/>
                  <a:pt x="1684" y="1020"/>
                </a:cubicBezTo>
                <a:cubicBezTo>
                  <a:pt x="1684" y="1296"/>
                  <a:pt x="1516" y="1541"/>
                  <a:pt x="1263" y="1639"/>
                </a:cubicBezTo>
                <a:close/>
                <a:moveTo>
                  <a:pt x="1330" y="840"/>
                </a:moveTo>
                <a:cubicBezTo>
                  <a:pt x="1358" y="703"/>
                  <a:pt x="1479" y="600"/>
                  <a:pt x="1624" y="600"/>
                </a:cubicBezTo>
                <a:cubicBezTo>
                  <a:pt x="1771" y="600"/>
                  <a:pt x="1894" y="703"/>
                  <a:pt x="1922" y="840"/>
                </a:cubicBezTo>
                <a:lnTo>
                  <a:pt x="1330" y="840"/>
                </a:lnTo>
                <a:close/>
              </a:path>
            </a:pathLst>
          </a:custGeom>
          <a:solidFill>
            <a:srgbClr val="30353F"/>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727237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10A1A-4835-9D9A-DB43-D75B8ABC7FC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8B04332-014D-5DF0-6927-92A751E9C6F5}"/>
              </a:ext>
            </a:extLst>
          </p:cNvPr>
          <p:cNvPicPr>
            <a:picLocks noChangeAspect="1"/>
          </p:cNvPicPr>
          <p:nvPr/>
        </p:nvPicPr>
        <p:blipFill>
          <a:blip r:embed="rId2"/>
          <a:stretch>
            <a:fillRect/>
          </a:stretch>
        </p:blipFill>
        <p:spPr>
          <a:xfrm>
            <a:off x="0" y="1"/>
            <a:ext cx="12192000" cy="1299881"/>
          </a:xfrm>
          <a:prstGeom prst="rect">
            <a:avLst/>
          </a:prstGeom>
        </p:spPr>
      </p:pic>
      <p:pic>
        <p:nvPicPr>
          <p:cNvPr id="5" name="Picture 4">
            <a:extLst>
              <a:ext uri="{FF2B5EF4-FFF2-40B4-BE49-F238E27FC236}">
                <a16:creationId xmlns:a16="http://schemas.microsoft.com/office/drawing/2014/main" id="{8DA97D10-6E6E-C495-9B5A-CC8333B59DC9}"/>
              </a:ext>
            </a:extLst>
          </p:cNvPr>
          <p:cNvPicPr>
            <a:picLocks noChangeAspect="1"/>
          </p:cNvPicPr>
          <p:nvPr/>
        </p:nvPicPr>
        <p:blipFill>
          <a:blip r:embed="rId3"/>
          <a:stretch>
            <a:fillRect/>
          </a:stretch>
        </p:blipFill>
        <p:spPr>
          <a:xfrm>
            <a:off x="0" y="0"/>
            <a:ext cx="12192000" cy="1299882"/>
          </a:xfrm>
          <a:prstGeom prst="rect">
            <a:avLst/>
          </a:prstGeom>
        </p:spPr>
      </p:pic>
      <p:pic>
        <p:nvPicPr>
          <p:cNvPr id="3" name="Picture 2">
            <a:extLst>
              <a:ext uri="{FF2B5EF4-FFF2-40B4-BE49-F238E27FC236}">
                <a16:creationId xmlns:a16="http://schemas.microsoft.com/office/drawing/2014/main" id="{A39D16F0-9162-3D20-134B-EAF5EA20AFDF}"/>
              </a:ext>
            </a:extLst>
          </p:cNvPr>
          <p:cNvPicPr>
            <a:picLocks noChangeAspect="1"/>
          </p:cNvPicPr>
          <p:nvPr/>
        </p:nvPicPr>
        <p:blipFill>
          <a:blip r:embed="rId4"/>
          <a:stretch>
            <a:fillRect/>
          </a:stretch>
        </p:blipFill>
        <p:spPr>
          <a:xfrm>
            <a:off x="0" y="1451046"/>
            <a:ext cx="12192000" cy="1030944"/>
          </a:xfrm>
          <a:prstGeom prst="rect">
            <a:avLst/>
          </a:prstGeom>
        </p:spPr>
      </p:pic>
      <p:sp>
        <p:nvSpPr>
          <p:cNvPr id="9" name="TextBox 8">
            <a:extLst>
              <a:ext uri="{FF2B5EF4-FFF2-40B4-BE49-F238E27FC236}">
                <a16:creationId xmlns:a16="http://schemas.microsoft.com/office/drawing/2014/main" id="{D0027F50-2BA4-63B9-6AF9-1642EB2807FC}"/>
              </a:ext>
            </a:extLst>
          </p:cNvPr>
          <p:cNvSpPr txBox="1"/>
          <p:nvPr/>
        </p:nvSpPr>
        <p:spPr>
          <a:xfrm>
            <a:off x="609600" y="1451047"/>
            <a:ext cx="10963835" cy="1754326"/>
          </a:xfrm>
          <a:prstGeom prst="rect">
            <a:avLst/>
          </a:prstGeom>
          <a:noFill/>
        </p:spPr>
        <p:txBody>
          <a:bodyPr wrap="square" rtlCol="0">
            <a:spAutoFit/>
          </a:bodyPr>
          <a:lstStyle/>
          <a:p>
            <a:r>
              <a:rPr lang="en-IN" dirty="0">
                <a:solidFill>
                  <a:schemeClr val="bg1"/>
                </a:solidFill>
              </a:rPr>
              <a:t>TASK : A. </a:t>
            </a:r>
            <a:r>
              <a:rPr lang="en-IN" b="1" dirty="0">
                <a:solidFill>
                  <a:schemeClr val="bg1"/>
                </a:solidFill>
              </a:rPr>
              <a:t>JOBS REVIEWED OVER TIME</a:t>
            </a:r>
          </a:p>
          <a:p>
            <a:r>
              <a:rPr lang="en-US" dirty="0">
                <a:solidFill>
                  <a:schemeClr val="bg1"/>
                </a:solidFill>
              </a:rPr>
              <a:t>Objective: Calculate the number of jobs reviewed per hour for each day in November 2020. Your Task: Write an SQL query to calculate the number of jobs reviewed per hour for each day in November 2020.</a:t>
            </a:r>
          </a:p>
          <a:p>
            <a:br>
              <a:rPr lang="en-US" dirty="0"/>
            </a:br>
            <a:endParaRPr lang="en-US" dirty="0">
              <a:solidFill>
                <a:schemeClr val="bg1"/>
              </a:solidFill>
            </a:endParaRPr>
          </a:p>
          <a:p>
            <a:endParaRPr lang="en-US" dirty="0">
              <a:solidFill>
                <a:schemeClr val="bg1"/>
              </a:solidFill>
            </a:endParaRPr>
          </a:p>
        </p:txBody>
      </p:sp>
      <p:sp>
        <p:nvSpPr>
          <p:cNvPr id="2" name="TextBox 1">
            <a:extLst>
              <a:ext uri="{FF2B5EF4-FFF2-40B4-BE49-F238E27FC236}">
                <a16:creationId xmlns:a16="http://schemas.microsoft.com/office/drawing/2014/main" id="{973F3F8E-46D2-0546-5C8F-CA75493DA764}"/>
              </a:ext>
            </a:extLst>
          </p:cNvPr>
          <p:cNvSpPr txBox="1"/>
          <p:nvPr/>
        </p:nvSpPr>
        <p:spPr>
          <a:xfrm>
            <a:off x="286871" y="233081"/>
            <a:ext cx="11286564" cy="984885"/>
          </a:xfrm>
          <a:prstGeom prst="rect">
            <a:avLst/>
          </a:prstGeom>
          <a:noFill/>
        </p:spPr>
        <p:txBody>
          <a:bodyPr wrap="square" rtlCol="0">
            <a:spAutoFit/>
          </a:bodyPr>
          <a:lstStyle/>
          <a:p>
            <a:pPr algn="ctr"/>
            <a:r>
              <a:rPr lang="en-IN" sz="4000" b="1" u="sng" dirty="0">
                <a:solidFill>
                  <a:schemeClr val="bg1"/>
                </a:solidFill>
              </a:rPr>
              <a:t>CASE STUDY 1 : JOB DATA ANALYSIS</a:t>
            </a:r>
          </a:p>
          <a:p>
            <a:endParaRPr lang="en-IN" dirty="0">
              <a:solidFill>
                <a:schemeClr val="bg1"/>
              </a:solidFill>
            </a:endParaRPr>
          </a:p>
        </p:txBody>
      </p:sp>
      <p:sp>
        <p:nvSpPr>
          <p:cNvPr id="4" name="TextBox 3">
            <a:extLst>
              <a:ext uri="{FF2B5EF4-FFF2-40B4-BE49-F238E27FC236}">
                <a16:creationId xmlns:a16="http://schemas.microsoft.com/office/drawing/2014/main" id="{E15CD3DF-7CD8-5DE7-B6A5-67B627A7FFFD}"/>
              </a:ext>
            </a:extLst>
          </p:cNvPr>
          <p:cNvSpPr txBox="1"/>
          <p:nvPr/>
        </p:nvSpPr>
        <p:spPr>
          <a:xfrm>
            <a:off x="192742" y="2563906"/>
            <a:ext cx="6826624" cy="4247317"/>
          </a:xfrm>
          <a:prstGeom prst="rect">
            <a:avLst/>
          </a:prstGeom>
          <a:noFill/>
        </p:spPr>
        <p:txBody>
          <a:bodyPr wrap="square" rtlCol="0">
            <a:spAutoFit/>
          </a:bodyPr>
          <a:lstStyle/>
          <a:p>
            <a:r>
              <a:rPr lang="en-IN" dirty="0"/>
              <a:t>ANS. </a:t>
            </a:r>
            <a:r>
              <a:rPr lang="en-IN" u="sng" dirty="0"/>
              <a:t>SQL Code used for creation of database and the table:</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create database operation_project3;</a:t>
            </a:r>
          </a:p>
          <a:p>
            <a:r>
              <a:rPr lang="en-IN" dirty="0">
                <a:latin typeface="Calibri" panose="020F0502020204030204" pitchFamily="34" charset="0"/>
                <a:ea typeface="Calibri" panose="020F0502020204030204" pitchFamily="34" charset="0"/>
                <a:cs typeface="Calibri" panose="020F0502020204030204" pitchFamily="34" charset="0"/>
              </a:rPr>
              <a:t>show databases;</a:t>
            </a:r>
          </a:p>
          <a:p>
            <a:r>
              <a:rPr lang="en-IN" dirty="0">
                <a:latin typeface="Calibri" panose="020F0502020204030204" pitchFamily="34" charset="0"/>
                <a:ea typeface="Calibri" panose="020F0502020204030204" pitchFamily="34" charset="0"/>
                <a:cs typeface="Calibri" panose="020F0502020204030204" pitchFamily="34" charset="0"/>
              </a:rPr>
              <a:t>use operation_project3;</a:t>
            </a:r>
          </a:p>
          <a:p>
            <a:r>
              <a:rPr lang="en-IN" dirty="0">
                <a:latin typeface="Calibri" panose="020F0502020204030204" pitchFamily="34" charset="0"/>
                <a:ea typeface="Calibri" panose="020F0502020204030204" pitchFamily="34" charset="0"/>
                <a:cs typeface="Calibri" panose="020F0502020204030204" pitchFamily="34" charset="0"/>
              </a:rPr>
              <a:t>Create TABLE job_data</a:t>
            </a:r>
          </a:p>
          <a:p>
            <a:r>
              <a:rPr lang="en-IN" dirty="0">
                <a:latin typeface="Calibri" panose="020F0502020204030204" pitchFamily="34" charset="0"/>
                <a:ea typeface="Calibri" panose="020F0502020204030204" pitchFamily="34" charset="0"/>
                <a:cs typeface="Calibri" panose="020F0502020204030204" pitchFamily="34" charset="0"/>
              </a:rPr>
              <a:t>(ds DATE, </a:t>
            </a:r>
          </a:p>
          <a:p>
            <a:r>
              <a:rPr lang="en-IN" dirty="0">
                <a:latin typeface="Calibri" panose="020F0502020204030204" pitchFamily="34" charset="0"/>
                <a:ea typeface="Calibri" panose="020F0502020204030204" pitchFamily="34" charset="0"/>
                <a:cs typeface="Calibri" panose="020F0502020204030204" pitchFamily="34" charset="0"/>
              </a:rPr>
              <a:t>job_id INT NOT NULL,</a:t>
            </a:r>
          </a:p>
          <a:p>
            <a:r>
              <a:rPr lang="en-IN" dirty="0">
                <a:latin typeface="Calibri" panose="020F0502020204030204" pitchFamily="34" charset="0"/>
                <a:ea typeface="Calibri" panose="020F0502020204030204" pitchFamily="34" charset="0"/>
                <a:cs typeface="Calibri" panose="020F0502020204030204" pitchFamily="34" charset="0"/>
              </a:rPr>
              <a:t>actor_id INT NOT NULL,</a:t>
            </a:r>
          </a:p>
          <a:p>
            <a:r>
              <a:rPr lang="en-IN" dirty="0">
                <a:latin typeface="Calibri" panose="020F0502020204030204" pitchFamily="34" charset="0"/>
                <a:ea typeface="Calibri" panose="020F0502020204030204" pitchFamily="34" charset="0"/>
                <a:cs typeface="Calibri" panose="020F0502020204030204" pitchFamily="34" charset="0"/>
              </a:rPr>
              <a:t>event VARCHAR(15) NOT NULL,</a:t>
            </a:r>
          </a:p>
          <a:p>
            <a:r>
              <a:rPr lang="en-IN" dirty="0">
                <a:latin typeface="Calibri" panose="020F0502020204030204" pitchFamily="34" charset="0"/>
                <a:ea typeface="Calibri" panose="020F0502020204030204" pitchFamily="34" charset="0"/>
                <a:cs typeface="Calibri" panose="020F0502020204030204" pitchFamily="34" charset="0"/>
              </a:rPr>
              <a:t>language VARCHAR(15) NOT NULL,</a:t>
            </a:r>
          </a:p>
          <a:p>
            <a:r>
              <a:rPr lang="en-IN" dirty="0">
                <a:latin typeface="Calibri" panose="020F0502020204030204" pitchFamily="34" charset="0"/>
                <a:ea typeface="Calibri" panose="020F0502020204030204" pitchFamily="34" charset="0"/>
                <a:cs typeface="Calibri" panose="020F0502020204030204" pitchFamily="34" charset="0"/>
              </a:rPr>
              <a:t>time_spent INT NOT NULL,</a:t>
            </a:r>
          </a:p>
          <a:p>
            <a:r>
              <a:rPr lang="en-IN" dirty="0">
                <a:latin typeface="Calibri" panose="020F0502020204030204" pitchFamily="34" charset="0"/>
                <a:ea typeface="Calibri" panose="020F0502020204030204" pitchFamily="34" charset="0"/>
                <a:cs typeface="Calibri" panose="020F0502020204030204" pitchFamily="34" charset="0"/>
              </a:rPr>
              <a:t>org CHAR(2)</a:t>
            </a:r>
          </a:p>
          <a:p>
            <a:r>
              <a:rPr lang="en-IN" dirty="0">
                <a:latin typeface="Calibri" panose="020F0502020204030204" pitchFamily="34" charset="0"/>
                <a:ea typeface="Calibri" panose="020F0502020204030204" pitchFamily="34" charset="0"/>
                <a:cs typeface="Calibri" panose="020F0502020204030204" pitchFamily="34" charset="0"/>
              </a:rPr>
              <a:t>);</a:t>
            </a:r>
          </a:p>
          <a:p>
            <a:endParaRPr lang="en-IN" dirty="0"/>
          </a:p>
        </p:txBody>
      </p:sp>
      <p:sp>
        <p:nvSpPr>
          <p:cNvPr id="7" name="TextBox 6">
            <a:extLst>
              <a:ext uri="{FF2B5EF4-FFF2-40B4-BE49-F238E27FC236}">
                <a16:creationId xmlns:a16="http://schemas.microsoft.com/office/drawing/2014/main" id="{5D011914-E145-8182-39DA-580B9459F4D7}"/>
              </a:ext>
            </a:extLst>
          </p:cNvPr>
          <p:cNvSpPr txBox="1"/>
          <p:nvPr/>
        </p:nvSpPr>
        <p:spPr>
          <a:xfrm>
            <a:off x="6499413" y="2707341"/>
            <a:ext cx="5414682" cy="2862322"/>
          </a:xfrm>
          <a:prstGeom prst="rect">
            <a:avLst/>
          </a:prstGeom>
          <a:noFill/>
        </p:spPr>
        <p:txBody>
          <a:bodyPr wrap="square" rtlCol="0">
            <a:spAutoFit/>
          </a:bodyPr>
          <a:lstStyle/>
          <a:p>
            <a:r>
              <a:rPr lang="en-IN" dirty="0"/>
              <a:t>SQL code used for calculating number of jobs reviewed per hour for each day.</a:t>
            </a:r>
          </a:p>
          <a:p>
            <a:endParaRPr lang="en-IN" dirty="0"/>
          </a:p>
          <a:p>
            <a:r>
              <a:rPr lang="en-IN" dirty="0">
                <a:latin typeface="Calibri" panose="020F0502020204030204" pitchFamily="34" charset="0"/>
                <a:ea typeface="Calibri" panose="020F0502020204030204" pitchFamily="34" charset="0"/>
                <a:cs typeface="Calibri" panose="020F0502020204030204" pitchFamily="34" charset="0"/>
              </a:rPr>
              <a:t>select * from job_data;</a:t>
            </a:r>
          </a:p>
          <a:p>
            <a:r>
              <a:rPr lang="en-IN" dirty="0">
                <a:latin typeface="Calibri" panose="020F0502020204030204" pitchFamily="34" charset="0"/>
                <a:ea typeface="Calibri" panose="020F0502020204030204" pitchFamily="34" charset="0"/>
                <a:cs typeface="Calibri" panose="020F0502020204030204" pitchFamily="34" charset="0"/>
              </a:rPr>
              <a:t>select avg(t) as ‘Avg jobs reviewed per hour each day’ from (select ds, ((count(job_id)*3600/sum(time_spent)) as t</a:t>
            </a:r>
          </a:p>
          <a:p>
            <a:r>
              <a:rPr lang="en-IN" dirty="0">
                <a:latin typeface="Calibri" panose="020F0502020204030204" pitchFamily="34" charset="0"/>
                <a:ea typeface="Calibri" panose="020F0502020204030204" pitchFamily="34" charset="0"/>
                <a:cs typeface="Calibri" panose="020F0502020204030204" pitchFamily="34" charset="0"/>
              </a:rPr>
              <a:t>from job_data</a:t>
            </a:r>
          </a:p>
          <a:p>
            <a:r>
              <a:rPr lang="en-IN" dirty="0">
                <a:latin typeface="Calibri" panose="020F0502020204030204" pitchFamily="34" charset="0"/>
                <a:ea typeface="Calibri" panose="020F0502020204030204" pitchFamily="34" charset="0"/>
                <a:cs typeface="Calibri" panose="020F0502020204030204" pitchFamily="34" charset="0"/>
              </a:rPr>
              <a:t>where Months(ds) = 11</a:t>
            </a:r>
          </a:p>
          <a:p>
            <a:r>
              <a:rPr lang="en-IN" dirty="0">
                <a:latin typeface="Calibri" panose="020F0502020204030204" pitchFamily="34" charset="0"/>
                <a:ea typeface="Calibri" panose="020F0502020204030204" pitchFamily="34" charset="0"/>
                <a:cs typeface="Calibri" panose="020F0502020204030204" pitchFamily="34" charset="0"/>
              </a:rPr>
              <a:t>group by ds) a;</a:t>
            </a:r>
          </a:p>
        </p:txBody>
      </p:sp>
      <p:sp>
        <p:nvSpPr>
          <p:cNvPr id="10" name="Freeform 1">
            <a:extLst>
              <a:ext uri="{FF2B5EF4-FFF2-40B4-BE49-F238E27FC236}">
                <a16:creationId xmlns:a16="http://schemas.microsoft.com/office/drawing/2014/main" id="{13640283-CAC4-C823-3EFF-B298115D862C}"/>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8" name="TextBox 7">
            <a:extLst>
              <a:ext uri="{FF2B5EF4-FFF2-40B4-BE49-F238E27FC236}">
                <a16:creationId xmlns:a16="http://schemas.microsoft.com/office/drawing/2014/main" id="{86DAB5C2-FFFD-6871-4A26-36969DCCC941}"/>
              </a:ext>
            </a:extLst>
          </p:cNvPr>
          <p:cNvSpPr txBox="1"/>
          <p:nvPr/>
        </p:nvSpPr>
        <p:spPr>
          <a:xfrm>
            <a:off x="11914095" y="6419654"/>
            <a:ext cx="199348" cy="369332"/>
          </a:xfrm>
          <a:prstGeom prst="rect">
            <a:avLst/>
          </a:prstGeom>
          <a:noFill/>
        </p:spPr>
        <p:txBody>
          <a:bodyPr wrap="square" rtlCol="0">
            <a:spAutoFit/>
          </a:bodyPr>
          <a:lstStyle/>
          <a:p>
            <a:r>
              <a:rPr lang="en-IN" dirty="0">
                <a:solidFill>
                  <a:schemeClr val="bg1"/>
                </a:solidFill>
              </a:rPr>
              <a:t>4</a:t>
            </a:r>
          </a:p>
        </p:txBody>
      </p:sp>
    </p:spTree>
    <p:extLst>
      <p:ext uri="{BB962C8B-B14F-4D97-AF65-F5344CB8AC3E}">
        <p14:creationId xmlns:p14="http://schemas.microsoft.com/office/powerpoint/2010/main" val="38380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9DD3D-B98C-F8D3-F283-E6DFA0C0FE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EA82DC0-2739-7019-5C57-FEC403921C3E}"/>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3CA73A8E-1F7C-E3E8-B626-F949C0CB7059}"/>
              </a:ext>
            </a:extLst>
          </p:cNvPr>
          <p:cNvPicPr>
            <a:picLocks noChangeAspect="1"/>
          </p:cNvPicPr>
          <p:nvPr/>
        </p:nvPicPr>
        <p:blipFill>
          <a:blip r:embed="rId3"/>
          <a:stretch>
            <a:fillRect/>
          </a:stretch>
        </p:blipFill>
        <p:spPr>
          <a:xfrm>
            <a:off x="0" y="0"/>
            <a:ext cx="12192000" cy="577333"/>
          </a:xfrm>
          <a:prstGeom prst="rect">
            <a:avLst/>
          </a:prstGeom>
        </p:spPr>
      </p:pic>
      <p:pic>
        <p:nvPicPr>
          <p:cNvPr id="2" name="Picture 1">
            <a:extLst>
              <a:ext uri="{FF2B5EF4-FFF2-40B4-BE49-F238E27FC236}">
                <a16:creationId xmlns:a16="http://schemas.microsoft.com/office/drawing/2014/main" id="{2284219A-C060-8FC9-080B-1947B1C551B9}"/>
              </a:ext>
            </a:extLst>
          </p:cNvPr>
          <p:cNvPicPr>
            <a:picLocks noChangeAspect="1"/>
          </p:cNvPicPr>
          <p:nvPr/>
        </p:nvPicPr>
        <p:blipFill>
          <a:blip r:embed="rId4"/>
          <a:stretch>
            <a:fillRect/>
          </a:stretch>
        </p:blipFill>
        <p:spPr>
          <a:xfrm>
            <a:off x="0" y="897371"/>
            <a:ext cx="12192000" cy="967287"/>
          </a:xfrm>
          <a:prstGeom prst="rect">
            <a:avLst/>
          </a:prstGeom>
        </p:spPr>
      </p:pic>
      <p:sp>
        <p:nvSpPr>
          <p:cNvPr id="3" name="Freeform 1">
            <a:extLst>
              <a:ext uri="{FF2B5EF4-FFF2-40B4-BE49-F238E27FC236}">
                <a16:creationId xmlns:a16="http://schemas.microsoft.com/office/drawing/2014/main" id="{A8385EF3-74D3-E1A6-D158-A8550E963D56}"/>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sp>
        <p:nvSpPr>
          <p:cNvPr id="4" name="TextBox 3">
            <a:extLst>
              <a:ext uri="{FF2B5EF4-FFF2-40B4-BE49-F238E27FC236}">
                <a16:creationId xmlns:a16="http://schemas.microsoft.com/office/drawing/2014/main" id="{5B009EFE-5E44-9084-2C16-77BF07BF0FDA}"/>
              </a:ext>
            </a:extLst>
          </p:cNvPr>
          <p:cNvSpPr txBox="1"/>
          <p:nvPr/>
        </p:nvSpPr>
        <p:spPr>
          <a:xfrm>
            <a:off x="307943" y="996293"/>
            <a:ext cx="11341847" cy="769441"/>
          </a:xfrm>
          <a:prstGeom prst="rect">
            <a:avLst/>
          </a:prstGeom>
          <a:noFill/>
        </p:spPr>
        <p:txBody>
          <a:bodyPr wrap="square" rtlCol="0">
            <a:spAutoFit/>
          </a:bodyPr>
          <a:lstStyle/>
          <a:p>
            <a:pPr algn="ctr"/>
            <a:r>
              <a:rPr lang="en-IN" sz="4400" dirty="0">
                <a:solidFill>
                  <a:schemeClr val="bg1"/>
                </a:solidFill>
              </a:rPr>
              <a:t>Created Data Table in SQL : job_data</a:t>
            </a:r>
          </a:p>
        </p:txBody>
      </p:sp>
      <p:pic>
        <p:nvPicPr>
          <p:cNvPr id="10" name="Picture 9">
            <a:extLst>
              <a:ext uri="{FF2B5EF4-FFF2-40B4-BE49-F238E27FC236}">
                <a16:creationId xmlns:a16="http://schemas.microsoft.com/office/drawing/2014/main" id="{1B7E7642-AA8E-A412-7A8D-43D80DD413C8}"/>
              </a:ext>
            </a:extLst>
          </p:cNvPr>
          <p:cNvPicPr>
            <a:picLocks noChangeAspect="1"/>
          </p:cNvPicPr>
          <p:nvPr/>
        </p:nvPicPr>
        <p:blipFill>
          <a:blip r:embed="rId5"/>
          <a:stretch>
            <a:fillRect/>
          </a:stretch>
        </p:blipFill>
        <p:spPr>
          <a:xfrm>
            <a:off x="402211" y="1864656"/>
            <a:ext cx="10750967" cy="4665880"/>
          </a:xfrm>
          <a:prstGeom prst="rect">
            <a:avLst/>
          </a:prstGeom>
        </p:spPr>
      </p:pic>
      <p:sp>
        <p:nvSpPr>
          <p:cNvPr id="11" name="TextBox 10">
            <a:extLst>
              <a:ext uri="{FF2B5EF4-FFF2-40B4-BE49-F238E27FC236}">
                <a16:creationId xmlns:a16="http://schemas.microsoft.com/office/drawing/2014/main" id="{5948C756-C230-8516-9C21-C1B48BE2CBC9}"/>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7" name="TextBox 6">
            <a:extLst>
              <a:ext uri="{FF2B5EF4-FFF2-40B4-BE49-F238E27FC236}">
                <a16:creationId xmlns:a16="http://schemas.microsoft.com/office/drawing/2014/main" id="{40749453-C395-1AE6-D851-2970C5DABE45}"/>
              </a:ext>
            </a:extLst>
          </p:cNvPr>
          <p:cNvSpPr txBox="1"/>
          <p:nvPr/>
        </p:nvSpPr>
        <p:spPr>
          <a:xfrm>
            <a:off x="11858920" y="6450402"/>
            <a:ext cx="333080" cy="369332"/>
          </a:xfrm>
          <a:prstGeom prst="rect">
            <a:avLst/>
          </a:prstGeom>
          <a:noFill/>
        </p:spPr>
        <p:txBody>
          <a:bodyPr wrap="square" rtlCol="0">
            <a:spAutoFit/>
          </a:bodyPr>
          <a:lstStyle/>
          <a:p>
            <a:r>
              <a:rPr lang="en-IN" dirty="0">
                <a:solidFill>
                  <a:schemeClr val="bg1"/>
                </a:solidFill>
              </a:rPr>
              <a:t>5</a:t>
            </a:r>
          </a:p>
        </p:txBody>
      </p:sp>
    </p:spTree>
    <p:extLst>
      <p:ext uri="{BB962C8B-B14F-4D97-AF65-F5344CB8AC3E}">
        <p14:creationId xmlns:p14="http://schemas.microsoft.com/office/powerpoint/2010/main" val="2227941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6B35DD-03C0-5811-451A-0C959E89FB7C}"/>
              </a:ext>
            </a:extLst>
          </p:cNvPr>
          <p:cNvPicPr>
            <a:picLocks noChangeAspect="1"/>
          </p:cNvPicPr>
          <p:nvPr/>
        </p:nvPicPr>
        <p:blipFill>
          <a:blip r:embed="rId2"/>
          <a:stretch>
            <a:fillRect/>
          </a:stretch>
        </p:blipFill>
        <p:spPr>
          <a:xfrm>
            <a:off x="0" y="1"/>
            <a:ext cx="12192000" cy="385482"/>
          </a:xfrm>
          <a:prstGeom prst="rect">
            <a:avLst/>
          </a:prstGeom>
        </p:spPr>
      </p:pic>
      <p:pic>
        <p:nvPicPr>
          <p:cNvPr id="5" name="Picture 4">
            <a:extLst>
              <a:ext uri="{FF2B5EF4-FFF2-40B4-BE49-F238E27FC236}">
                <a16:creationId xmlns:a16="http://schemas.microsoft.com/office/drawing/2014/main" id="{6B478047-F543-8578-C1D3-D5DA07535629}"/>
              </a:ext>
            </a:extLst>
          </p:cNvPr>
          <p:cNvPicPr>
            <a:picLocks noChangeAspect="1"/>
          </p:cNvPicPr>
          <p:nvPr/>
        </p:nvPicPr>
        <p:blipFill>
          <a:blip r:embed="rId3"/>
          <a:stretch>
            <a:fillRect/>
          </a:stretch>
        </p:blipFill>
        <p:spPr>
          <a:xfrm>
            <a:off x="0" y="1"/>
            <a:ext cx="12192000" cy="385482"/>
          </a:xfrm>
          <a:prstGeom prst="rect">
            <a:avLst/>
          </a:prstGeom>
        </p:spPr>
      </p:pic>
      <p:pic>
        <p:nvPicPr>
          <p:cNvPr id="10" name="Picture 9">
            <a:extLst>
              <a:ext uri="{FF2B5EF4-FFF2-40B4-BE49-F238E27FC236}">
                <a16:creationId xmlns:a16="http://schemas.microsoft.com/office/drawing/2014/main" id="{23EDC41A-AFD4-24B5-3C49-E904C32B9A70}"/>
              </a:ext>
            </a:extLst>
          </p:cNvPr>
          <p:cNvPicPr>
            <a:picLocks noChangeAspect="1"/>
          </p:cNvPicPr>
          <p:nvPr/>
        </p:nvPicPr>
        <p:blipFill>
          <a:blip r:embed="rId3"/>
          <a:stretch>
            <a:fillRect/>
          </a:stretch>
        </p:blipFill>
        <p:spPr>
          <a:xfrm>
            <a:off x="0" y="770018"/>
            <a:ext cx="12192000" cy="672353"/>
          </a:xfrm>
          <a:prstGeom prst="rect">
            <a:avLst/>
          </a:prstGeom>
        </p:spPr>
      </p:pic>
      <p:sp>
        <p:nvSpPr>
          <p:cNvPr id="11" name="TextBox 10">
            <a:extLst>
              <a:ext uri="{FF2B5EF4-FFF2-40B4-BE49-F238E27FC236}">
                <a16:creationId xmlns:a16="http://schemas.microsoft.com/office/drawing/2014/main" id="{365D3B80-AD26-1349-D41E-841129D6E173}"/>
              </a:ext>
            </a:extLst>
          </p:cNvPr>
          <p:cNvSpPr txBox="1"/>
          <p:nvPr/>
        </p:nvSpPr>
        <p:spPr>
          <a:xfrm>
            <a:off x="421341" y="700771"/>
            <a:ext cx="11152094" cy="769441"/>
          </a:xfrm>
          <a:prstGeom prst="rect">
            <a:avLst/>
          </a:prstGeom>
          <a:noFill/>
        </p:spPr>
        <p:txBody>
          <a:bodyPr wrap="square" rtlCol="0">
            <a:spAutoFit/>
          </a:bodyPr>
          <a:lstStyle/>
          <a:p>
            <a:pPr algn="ctr"/>
            <a:r>
              <a:rPr lang="en-IN" sz="4400" dirty="0">
                <a:solidFill>
                  <a:schemeClr val="bg1"/>
                </a:solidFill>
              </a:rPr>
              <a:t>Output obtained in MySQL workbench</a:t>
            </a:r>
          </a:p>
        </p:txBody>
      </p:sp>
      <p:pic>
        <p:nvPicPr>
          <p:cNvPr id="13" name="Picture 12">
            <a:extLst>
              <a:ext uri="{FF2B5EF4-FFF2-40B4-BE49-F238E27FC236}">
                <a16:creationId xmlns:a16="http://schemas.microsoft.com/office/drawing/2014/main" id="{0B7CB5F5-B967-9803-C9F3-371CADADEB8C}"/>
              </a:ext>
            </a:extLst>
          </p:cNvPr>
          <p:cNvPicPr>
            <a:picLocks noChangeAspect="1"/>
          </p:cNvPicPr>
          <p:nvPr/>
        </p:nvPicPr>
        <p:blipFill>
          <a:blip r:embed="rId4"/>
          <a:srcRect t="19262" r="33325" b="20705"/>
          <a:stretch>
            <a:fillRect/>
          </a:stretch>
        </p:blipFill>
        <p:spPr>
          <a:xfrm>
            <a:off x="1019808" y="1788459"/>
            <a:ext cx="6008521" cy="1806388"/>
          </a:xfrm>
          <a:prstGeom prst="rect">
            <a:avLst/>
          </a:prstGeom>
        </p:spPr>
      </p:pic>
      <p:sp>
        <p:nvSpPr>
          <p:cNvPr id="14" name="TextBox 13">
            <a:extLst>
              <a:ext uri="{FF2B5EF4-FFF2-40B4-BE49-F238E27FC236}">
                <a16:creationId xmlns:a16="http://schemas.microsoft.com/office/drawing/2014/main" id="{F010C6F3-3259-DEBB-124E-95885C4EB04E}"/>
              </a:ext>
            </a:extLst>
          </p:cNvPr>
          <p:cNvSpPr txBox="1"/>
          <p:nvPr/>
        </p:nvSpPr>
        <p:spPr>
          <a:xfrm>
            <a:off x="672353" y="3836894"/>
            <a:ext cx="10901082" cy="2154436"/>
          </a:xfrm>
          <a:prstGeom prst="rect">
            <a:avLst/>
          </a:prstGeom>
          <a:noFill/>
        </p:spPr>
        <p:txBody>
          <a:bodyPr wrap="square" rtlCol="0">
            <a:spAutoFit/>
          </a:bodyPr>
          <a:lstStyle/>
          <a:p>
            <a:r>
              <a:rPr lang="en-IN" sz="3200" b="1" u="sng" dirty="0"/>
              <a:t>Key Observation Number of jobs reviewed per hour each day:</a:t>
            </a:r>
          </a:p>
          <a:p>
            <a:endParaRPr lang="en-IN" dirty="0"/>
          </a:p>
          <a:p>
            <a:r>
              <a:rPr lang="en-IN" sz="2800" dirty="0">
                <a:latin typeface="Cambria" panose="02040503050406030204" pitchFamily="18" charset="0"/>
                <a:ea typeface="Cambria" panose="02040503050406030204" pitchFamily="18" charset="0"/>
              </a:rPr>
              <a:t>From the above output obtained we can conclude that the Average number of jobs reviewed per hour for each day  is  </a:t>
            </a:r>
            <a:r>
              <a:rPr lang="en-IN" sz="2800" b="1" dirty="0">
                <a:latin typeface="Cambria" panose="02040503050406030204" pitchFamily="18" charset="0"/>
                <a:ea typeface="Cambria" panose="02040503050406030204" pitchFamily="18" charset="0"/>
              </a:rPr>
              <a:t>126 hours </a:t>
            </a:r>
            <a:r>
              <a:rPr lang="en-IN" sz="2800" dirty="0">
                <a:latin typeface="Cambria" panose="02040503050406030204" pitchFamily="18" charset="0"/>
                <a:ea typeface="Cambria" panose="02040503050406030204" pitchFamily="18" charset="0"/>
              </a:rPr>
              <a:t>(One hundred and twenty six hours).</a:t>
            </a:r>
          </a:p>
        </p:txBody>
      </p:sp>
      <p:sp>
        <p:nvSpPr>
          <p:cNvPr id="15" name="Freeform 1">
            <a:extLst>
              <a:ext uri="{FF2B5EF4-FFF2-40B4-BE49-F238E27FC236}">
                <a16:creationId xmlns:a16="http://schemas.microsoft.com/office/drawing/2014/main" id="{24D68D57-DC29-542F-5122-D918865829D0}"/>
              </a:ext>
              <a:ext uri="{C183D7F6-B498-43B3-948B-1728B52AA6E4}">
                <adec:decorative xmlns:adec="http://schemas.microsoft.com/office/drawing/2017/decorative" val="1"/>
              </a:ext>
            </a:extLst>
          </p:cNvPr>
          <p:cNvSpPr/>
          <p:nvPr/>
        </p:nvSpPr>
        <p:spPr>
          <a:xfrm rot="2700000">
            <a:off x="11788942" y="6333473"/>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2" name="TextBox 1">
            <a:extLst>
              <a:ext uri="{FF2B5EF4-FFF2-40B4-BE49-F238E27FC236}">
                <a16:creationId xmlns:a16="http://schemas.microsoft.com/office/drawing/2014/main" id="{4F483105-F0D0-584E-AD18-59AB259DA812}"/>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3" name="TextBox 2">
            <a:extLst>
              <a:ext uri="{FF2B5EF4-FFF2-40B4-BE49-F238E27FC236}">
                <a16:creationId xmlns:a16="http://schemas.microsoft.com/office/drawing/2014/main" id="{F2390254-24F1-6C36-7D04-A716D4ECFF04}"/>
              </a:ext>
            </a:extLst>
          </p:cNvPr>
          <p:cNvSpPr txBox="1"/>
          <p:nvPr/>
        </p:nvSpPr>
        <p:spPr>
          <a:xfrm>
            <a:off x="11826441" y="6449557"/>
            <a:ext cx="226244" cy="369332"/>
          </a:xfrm>
          <a:prstGeom prst="rect">
            <a:avLst/>
          </a:prstGeom>
          <a:noFill/>
        </p:spPr>
        <p:txBody>
          <a:bodyPr wrap="square" rtlCol="0">
            <a:spAutoFit/>
          </a:bodyPr>
          <a:lstStyle/>
          <a:p>
            <a:r>
              <a:rPr lang="en-IN" dirty="0">
                <a:solidFill>
                  <a:schemeClr val="bg1"/>
                </a:solidFill>
              </a:rPr>
              <a:t>6</a:t>
            </a:r>
          </a:p>
        </p:txBody>
      </p:sp>
    </p:spTree>
    <p:extLst>
      <p:ext uri="{BB962C8B-B14F-4D97-AF65-F5344CB8AC3E}">
        <p14:creationId xmlns:p14="http://schemas.microsoft.com/office/powerpoint/2010/main" val="1313291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FE9A1-07AD-05E6-01A6-8F42156D137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40F1866-4C37-F238-EF91-694BEA6828B6}"/>
              </a:ext>
            </a:extLst>
          </p:cNvPr>
          <p:cNvPicPr>
            <a:picLocks noChangeAspect="1"/>
          </p:cNvPicPr>
          <p:nvPr/>
        </p:nvPicPr>
        <p:blipFill>
          <a:blip r:embed="rId2"/>
          <a:stretch>
            <a:fillRect/>
          </a:stretch>
        </p:blipFill>
        <p:spPr>
          <a:xfrm>
            <a:off x="0" y="1"/>
            <a:ext cx="12192000" cy="385482"/>
          </a:xfrm>
          <a:prstGeom prst="rect">
            <a:avLst/>
          </a:prstGeom>
        </p:spPr>
      </p:pic>
      <p:pic>
        <p:nvPicPr>
          <p:cNvPr id="5" name="Picture 4">
            <a:extLst>
              <a:ext uri="{FF2B5EF4-FFF2-40B4-BE49-F238E27FC236}">
                <a16:creationId xmlns:a16="http://schemas.microsoft.com/office/drawing/2014/main" id="{E5FD65DD-707D-62D5-BFB6-AF9B58F556F4}"/>
              </a:ext>
            </a:extLst>
          </p:cNvPr>
          <p:cNvPicPr>
            <a:picLocks noChangeAspect="1"/>
          </p:cNvPicPr>
          <p:nvPr/>
        </p:nvPicPr>
        <p:blipFill>
          <a:blip r:embed="rId3"/>
          <a:stretch>
            <a:fillRect/>
          </a:stretch>
        </p:blipFill>
        <p:spPr>
          <a:xfrm>
            <a:off x="0" y="0"/>
            <a:ext cx="12192000" cy="434027"/>
          </a:xfrm>
          <a:prstGeom prst="rect">
            <a:avLst/>
          </a:prstGeom>
        </p:spPr>
      </p:pic>
      <p:pic>
        <p:nvPicPr>
          <p:cNvPr id="10" name="Picture 9">
            <a:extLst>
              <a:ext uri="{FF2B5EF4-FFF2-40B4-BE49-F238E27FC236}">
                <a16:creationId xmlns:a16="http://schemas.microsoft.com/office/drawing/2014/main" id="{BDF053B6-121F-DB5E-B6BD-313EEA526297}"/>
              </a:ext>
            </a:extLst>
          </p:cNvPr>
          <p:cNvPicPr>
            <a:picLocks noChangeAspect="1"/>
          </p:cNvPicPr>
          <p:nvPr/>
        </p:nvPicPr>
        <p:blipFill>
          <a:blip r:embed="rId3"/>
          <a:stretch>
            <a:fillRect/>
          </a:stretch>
        </p:blipFill>
        <p:spPr>
          <a:xfrm>
            <a:off x="0" y="770018"/>
            <a:ext cx="12192000" cy="1175323"/>
          </a:xfrm>
          <a:prstGeom prst="rect">
            <a:avLst/>
          </a:prstGeom>
        </p:spPr>
      </p:pic>
      <p:sp>
        <p:nvSpPr>
          <p:cNvPr id="11" name="TextBox 10">
            <a:extLst>
              <a:ext uri="{FF2B5EF4-FFF2-40B4-BE49-F238E27FC236}">
                <a16:creationId xmlns:a16="http://schemas.microsoft.com/office/drawing/2014/main" id="{FA8CCF8A-D1D2-38B5-201A-DFF5F40C03B5}"/>
              </a:ext>
            </a:extLst>
          </p:cNvPr>
          <p:cNvSpPr txBox="1"/>
          <p:nvPr/>
        </p:nvSpPr>
        <p:spPr>
          <a:xfrm>
            <a:off x="322730" y="721473"/>
            <a:ext cx="11152094" cy="1754326"/>
          </a:xfrm>
          <a:prstGeom prst="rect">
            <a:avLst/>
          </a:prstGeom>
          <a:noFill/>
        </p:spPr>
        <p:txBody>
          <a:bodyPr wrap="square" rtlCol="0">
            <a:spAutoFit/>
          </a:bodyPr>
          <a:lstStyle/>
          <a:p>
            <a:r>
              <a:rPr lang="en-IN" dirty="0">
                <a:solidFill>
                  <a:schemeClr val="bg1"/>
                </a:solidFill>
              </a:rPr>
              <a:t>TASK B. </a:t>
            </a:r>
            <a:r>
              <a:rPr lang="en-IN" b="1" dirty="0">
                <a:solidFill>
                  <a:schemeClr val="bg1"/>
                </a:solidFill>
              </a:rPr>
              <a:t>THROUGHPUT ANALYSIS</a:t>
            </a:r>
          </a:p>
          <a:p>
            <a:r>
              <a:rPr lang="en-US" dirty="0">
                <a:solidFill>
                  <a:schemeClr val="bg1"/>
                </a:solidFill>
              </a:rPr>
              <a:t>Objective: Calculate the 7-day rolling average of throughput (number of events per second).</a:t>
            </a:r>
          </a:p>
          <a:p>
            <a:r>
              <a:rPr lang="en-US" dirty="0">
                <a:solidFill>
                  <a:schemeClr val="bg1"/>
                </a:solidFill>
              </a:rPr>
              <a:t>Your Task: Write an SQL query to calculate the 7-day rolling average of throughput. Additionally, explain whether you prefer using the daily metric or the 7-day rolling average for throughput, and why.</a:t>
            </a:r>
          </a:p>
          <a:p>
            <a:endParaRPr lang="en-US" dirty="0">
              <a:solidFill>
                <a:schemeClr val="bg1"/>
              </a:solidFill>
            </a:endParaRPr>
          </a:p>
          <a:p>
            <a:r>
              <a:rPr lang="en-IN" dirty="0">
                <a:solidFill>
                  <a:schemeClr val="bg1"/>
                </a:solidFill>
              </a:rPr>
              <a:t> </a:t>
            </a:r>
          </a:p>
        </p:txBody>
      </p:sp>
      <p:sp>
        <p:nvSpPr>
          <p:cNvPr id="2" name="Freeform 1">
            <a:extLst>
              <a:ext uri="{FF2B5EF4-FFF2-40B4-BE49-F238E27FC236}">
                <a16:creationId xmlns:a16="http://schemas.microsoft.com/office/drawing/2014/main" id="{C023BF66-D233-2C15-CA03-F20275E07FD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 name="TextBox 2">
            <a:extLst>
              <a:ext uri="{FF2B5EF4-FFF2-40B4-BE49-F238E27FC236}">
                <a16:creationId xmlns:a16="http://schemas.microsoft.com/office/drawing/2014/main" id="{63C14CA3-1752-3279-BEFD-1CA88722059C}"/>
              </a:ext>
            </a:extLst>
          </p:cNvPr>
          <p:cNvSpPr txBox="1"/>
          <p:nvPr/>
        </p:nvSpPr>
        <p:spPr>
          <a:xfrm>
            <a:off x="322730" y="2259106"/>
            <a:ext cx="5469066" cy="3693319"/>
          </a:xfrm>
          <a:prstGeom prst="rect">
            <a:avLst/>
          </a:prstGeom>
          <a:noFill/>
        </p:spPr>
        <p:txBody>
          <a:bodyPr wrap="square" rtlCol="0">
            <a:spAutoFit/>
          </a:bodyPr>
          <a:lstStyle/>
          <a:p>
            <a:r>
              <a:rPr lang="en-IN" dirty="0"/>
              <a:t>ANS. </a:t>
            </a:r>
            <a:r>
              <a:rPr lang="en-IN" u="sng" dirty="0"/>
              <a:t>SQL Code used:</a:t>
            </a:r>
          </a:p>
          <a:p>
            <a:endParaRPr lang="en-IN" u="sng" dirty="0"/>
          </a:p>
          <a:p>
            <a:r>
              <a:rPr lang="en-IN" dirty="0">
                <a:latin typeface="Calibri" panose="020F0502020204030204" pitchFamily="34" charset="0"/>
                <a:ea typeface="Calibri" panose="020F0502020204030204" pitchFamily="34" charset="0"/>
                <a:cs typeface="Calibri" panose="020F0502020204030204" pitchFamily="34" charset="0"/>
              </a:rPr>
              <a:t>SELECT ROUND(COUNT(event)/SUM(time_spent), 2) AS ‘Weekly Throughput’ FROM job_data;</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u="sng" dirty="0">
                <a:latin typeface="Calibri" panose="020F0502020204030204" pitchFamily="34" charset="0"/>
                <a:ea typeface="Calibri" panose="020F0502020204030204" pitchFamily="34" charset="0"/>
                <a:cs typeface="Calibri" panose="020F0502020204030204" pitchFamily="34" charset="0"/>
              </a:rPr>
              <a:t>Output </a:t>
            </a:r>
            <a:r>
              <a:rPr lang="en-IN" dirty="0">
                <a:latin typeface="Calibri" panose="020F0502020204030204" pitchFamily="34" charset="0"/>
                <a:ea typeface="Calibri" panose="020F0502020204030204" pitchFamily="34" charset="0"/>
                <a:cs typeface="Calibri" panose="020F0502020204030204" pitchFamily="34" charset="0"/>
              </a:rPr>
              <a:t>: </a:t>
            </a: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pic>
        <p:nvPicPr>
          <p:cNvPr id="7" name="Picture 6">
            <a:extLst>
              <a:ext uri="{FF2B5EF4-FFF2-40B4-BE49-F238E27FC236}">
                <a16:creationId xmlns:a16="http://schemas.microsoft.com/office/drawing/2014/main" id="{492B20FC-C7DC-2632-F4F4-CFB2927004A6}"/>
              </a:ext>
            </a:extLst>
          </p:cNvPr>
          <p:cNvPicPr>
            <a:picLocks noChangeAspect="1"/>
          </p:cNvPicPr>
          <p:nvPr/>
        </p:nvPicPr>
        <p:blipFill>
          <a:blip r:embed="rId4"/>
          <a:stretch>
            <a:fillRect/>
          </a:stretch>
        </p:blipFill>
        <p:spPr>
          <a:xfrm>
            <a:off x="7856968" y="3612167"/>
            <a:ext cx="3460677" cy="2937213"/>
          </a:xfrm>
          <a:prstGeom prst="rect">
            <a:avLst/>
          </a:prstGeom>
        </p:spPr>
      </p:pic>
      <p:pic>
        <p:nvPicPr>
          <p:cNvPr id="9" name="Picture 8">
            <a:extLst>
              <a:ext uri="{FF2B5EF4-FFF2-40B4-BE49-F238E27FC236}">
                <a16:creationId xmlns:a16="http://schemas.microsoft.com/office/drawing/2014/main" id="{C199041E-8E95-7D6C-870E-AF6CD2D35F2F}"/>
              </a:ext>
            </a:extLst>
          </p:cNvPr>
          <p:cNvPicPr>
            <a:picLocks noChangeAspect="1"/>
          </p:cNvPicPr>
          <p:nvPr/>
        </p:nvPicPr>
        <p:blipFill>
          <a:blip r:embed="rId5"/>
          <a:stretch>
            <a:fillRect/>
          </a:stretch>
        </p:blipFill>
        <p:spPr>
          <a:xfrm>
            <a:off x="1192762" y="4242683"/>
            <a:ext cx="3729002" cy="2121290"/>
          </a:xfrm>
          <a:prstGeom prst="rect">
            <a:avLst/>
          </a:prstGeom>
        </p:spPr>
      </p:pic>
      <p:sp>
        <p:nvSpPr>
          <p:cNvPr id="12" name="TextBox 11">
            <a:extLst>
              <a:ext uri="{FF2B5EF4-FFF2-40B4-BE49-F238E27FC236}">
                <a16:creationId xmlns:a16="http://schemas.microsoft.com/office/drawing/2014/main" id="{62B68B4C-1AFE-7266-D9FC-4F34ACF6E11F}"/>
              </a:ext>
            </a:extLst>
          </p:cNvPr>
          <p:cNvSpPr txBox="1"/>
          <p:nvPr/>
        </p:nvSpPr>
        <p:spPr>
          <a:xfrm>
            <a:off x="6185648" y="2259106"/>
            <a:ext cx="4974818" cy="2308324"/>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SELECT ds AS Dates, ROUND(COUNT(event)/SUM(time_spent), 2) AS ‘Daily Throughput’ </a:t>
            </a:r>
          </a:p>
          <a:p>
            <a:r>
              <a:rPr lang="en-IN" dirty="0">
                <a:latin typeface="Calibri" panose="020F0502020204030204" pitchFamily="34" charset="0"/>
                <a:ea typeface="Calibri" panose="020F0502020204030204" pitchFamily="34" charset="0"/>
                <a:cs typeface="Calibri" panose="020F0502020204030204" pitchFamily="34" charset="0"/>
              </a:rPr>
              <a:t>FROM job_data</a:t>
            </a:r>
          </a:p>
          <a:p>
            <a:r>
              <a:rPr lang="en-IN" dirty="0">
                <a:latin typeface="Calibri" panose="020F0502020204030204" pitchFamily="34" charset="0"/>
                <a:ea typeface="Calibri" panose="020F0502020204030204" pitchFamily="34" charset="0"/>
                <a:cs typeface="Calibri" panose="020F0502020204030204" pitchFamily="34" charset="0"/>
              </a:rPr>
              <a:t>GROUP BY ds </a:t>
            </a:r>
          </a:p>
          <a:p>
            <a:r>
              <a:rPr lang="en-IN" dirty="0">
                <a:latin typeface="Calibri" panose="020F0502020204030204" pitchFamily="34" charset="0"/>
                <a:ea typeface="Calibri" panose="020F0502020204030204" pitchFamily="34" charset="0"/>
                <a:cs typeface="Calibri" panose="020F0502020204030204" pitchFamily="34" charset="0"/>
              </a:rPr>
              <a:t>ORDER BY ds;</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u="sng" dirty="0">
                <a:latin typeface="Calibri" panose="020F0502020204030204" pitchFamily="34" charset="0"/>
                <a:ea typeface="Calibri" panose="020F0502020204030204" pitchFamily="34" charset="0"/>
                <a:cs typeface="Calibri" panose="020F0502020204030204" pitchFamily="34" charset="0"/>
              </a:rPr>
              <a:t>Output</a:t>
            </a:r>
            <a:r>
              <a:rPr lang="en-IN" dirty="0">
                <a:latin typeface="Calibri" panose="020F0502020204030204" pitchFamily="34" charset="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8C21F25E-AFAE-99B8-0CB4-0CE7CA78F904}"/>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8" name="TextBox 7">
            <a:extLst>
              <a:ext uri="{FF2B5EF4-FFF2-40B4-BE49-F238E27FC236}">
                <a16:creationId xmlns:a16="http://schemas.microsoft.com/office/drawing/2014/main" id="{EB5BBBE1-896D-0C5F-E007-4A397D85CF81}"/>
              </a:ext>
            </a:extLst>
          </p:cNvPr>
          <p:cNvSpPr txBox="1"/>
          <p:nvPr/>
        </p:nvSpPr>
        <p:spPr>
          <a:xfrm>
            <a:off x="11928566" y="6433270"/>
            <a:ext cx="248239" cy="369332"/>
          </a:xfrm>
          <a:prstGeom prst="rect">
            <a:avLst/>
          </a:prstGeom>
          <a:noFill/>
        </p:spPr>
        <p:txBody>
          <a:bodyPr wrap="square" rtlCol="0">
            <a:spAutoFit/>
          </a:bodyPr>
          <a:lstStyle/>
          <a:p>
            <a:r>
              <a:rPr lang="en-IN" dirty="0">
                <a:solidFill>
                  <a:schemeClr val="bg1"/>
                </a:solidFill>
              </a:rPr>
              <a:t>7</a:t>
            </a:r>
          </a:p>
        </p:txBody>
      </p:sp>
    </p:spTree>
    <p:extLst>
      <p:ext uri="{BB962C8B-B14F-4D97-AF65-F5344CB8AC3E}">
        <p14:creationId xmlns:p14="http://schemas.microsoft.com/office/powerpoint/2010/main" val="2765218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C884-BBFE-0B48-BB30-E5A551E4BE0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1E1C5C8-2C01-7867-E009-7ACD7CAFC7A7}"/>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C57E114D-CBB9-6581-6DCD-D089DBE133E0}"/>
              </a:ext>
            </a:extLst>
          </p:cNvPr>
          <p:cNvPicPr>
            <a:picLocks noChangeAspect="1"/>
          </p:cNvPicPr>
          <p:nvPr/>
        </p:nvPicPr>
        <p:blipFill>
          <a:blip r:embed="rId3"/>
          <a:stretch>
            <a:fillRect/>
          </a:stretch>
        </p:blipFill>
        <p:spPr>
          <a:xfrm>
            <a:off x="0" y="0"/>
            <a:ext cx="12192000" cy="577333"/>
          </a:xfrm>
          <a:prstGeom prst="rect">
            <a:avLst/>
          </a:prstGeom>
        </p:spPr>
      </p:pic>
      <p:sp>
        <p:nvSpPr>
          <p:cNvPr id="8" name="TextBox 7">
            <a:extLst>
              <a:ext uri="{FF2B5EF4-FFF2-40B4-BE49-F238E27FC236}">
                <a16:creationId xmlns:a16="http://schemas.microsoft.com/office/drawing/2014/main" id="{3B1D2351-B693-323F-BA87-6629B6D33A2A}"/>
              </a:ext>
            </a:extLst>
          </p:cNvPr>
          <p:cNvSpPr txBox="1"/>
          <p:nvPr/>
        </p:nvSpPr>
        <p:spPr>
          <a:xfrm>
            <a:off x="273424" y="2269157"/>
            <a:ext cx="9220200" cy="3970318"/>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cs typeface="Calibri Light" panose="020F0302020204030204" pitchFamily="34" charset="0"/>
              </a:rPr>
              <a:t>Throughput means the amount of a product or service that a company can produce and deliver to a client within a specified period. It is the heartbeat of a system, reflecting its health and robustness. In order to meet the increasing demand, we need to improve our throughput. Throughput is an important metric for businesses to keep track of the work and to improve it.</a:t>
            </a:r>
          </a:p>
          <a:p>
            <a:r>
              <a:rPr lang="en-IN" dirty="0">
                <a:latin typeface="Cambria" panose="02040503050406030204" pitchFamily="18" charset="0"/>
                <a:ea typeface="Cambria" panose="02040503050406030204" pitchFamily="18" charset="0"/>
                <a:cs typeface="Calibri Light" panose="020F0302020204030204" pitchFamily="34" charset="0"/>
              </a:rPr>
              <a:t>The Weekly throughput, also known as the  7-day rolling average, in this project shows us the events taking place per week. The obtained output in this case is </a:t>
            </a:r>
            <a:r>
              <a:rPr lang="en-IN" b="1" dirty="0">
                <a:latin typeface="Cambria" panose="02040503050406030204" pitchFamily="18" charset="0"/>
                <a:ea typeface="Cambria" panose="02040503050406030204" pitchFamily="18" charset="0"/>
                <a:cs typeface="Calibri Light" panose="020F0302020204030204" pitchFamily="34" charset="0"/>
              </a:rPr>
              <a:t>0.03</a:t>
            </a:r>
          </a:p>
          <a:p>
            <a:endParaRPr lang="en-IN" dirty="0">
              <a:latin typeface="Cambria" panose="02040503050406030204" pitchFamily="18" charset="0"/>
              <a:ea typeface="Cambria" panose="02040503050406030204" pitchFamily="18" charset="0"/>
              <a:cs typeface="Calibri Light" panose="020F0302020204030204" pitchFamily="34" charset="0"/>
            </a:endParaRPr>
          </a:p>
          <a:p>
            <a:r>
              <a:rPr lang="en-IN" dirty="0">
                <a:latin typeface="Cambria" panose="02040503050406030204" pitchFamily="18" charset="0"/>
                <a:ea typeface="Cambria" panose="02040503050406030204" pitchFamily="18" charset="0"/>
                <a:cs typeface="Calibri Light" panose="020F0302020204030204" pitchFamily="34" charset="0"/>
              </a:rPr>
              <a:t>The Daily throughput shows various values through each day of the week. </a:t>
            </a:r>
          </a:p>
          <a:p>
            <a:r>
              <a:rPr lang="en-IN" dirty="0">
                <a:latin typeface="Cambria" panose="02040503050406030204" pitchFamily="18" charset="0"/>
                <a:ea typeface="Cambria" panose="02040503050406030204" pitchFamily="18" charset="0"/>
                <a:cs typeface="Calibri Light" panose="020F0302020204030204" pitchFamily="34" charset="0"/>
              </a:rPr>
              <a:t>After further analysis, we have come to know that most of the values of the daily throughput are similar or very close to the weekly throughput. From this, we can conclude that </a:t>
            </a:r>
            <a:r>
              <a:rPr lang="en-IN" b="1" u="sng" dirty="0">
                <a:latin typeface="Cambria" panose="02040503050406030204" pitchFamily="18" charset="0"/>
                <a:ea typeface="Cambria" panose="02040503050406030204" pitchFamily="18" charset="0"/>
                <a:cs typeface="Calibri Light" panose="020F0302020204030204" pitchFamily="34" charset="0"/>
              </a:rPr>
              <a:t>Weekly throughput can be considered for regular analysis</a:t>
            </a:r>
            <a:r>
              <a:rPr lang="en-IN" dirty="0">
                <a:latin typeface="Cambria" panose="02040503050406030204" pitchFamily="18" charset="0"/>
                <a:ea typeface="Cambria" panose="02040503050406030204" pitchFamily="18" charset="0"/>
                <a:cs typeface="Calibri Light" panose="020F0302020204030204" pitchFamily="34" charset="0"/>
              </a:rPr>
              <a:t>, as it is convenient to use in the long run. Daily throughput, on the other hand, is good to find out any fault if any major difference in the earnings or cost of production has occurred.</a:t>
            </a:r>
          </a:p>
        </p:txBody>
      </p:sp>
      <p:pic>
        <p:nvPicPr>
          <p:cNvPr id="2" name="Picture 1">
            <a:extLst>
              <a:ext uri="{FF2B5EF4-FFF2-40B4-BE49-F238E27FC236}">
                <a16:creationId xmlns:a16="http://schemas.microsoft.com/office/drawing/2014/main" id="{743B77BB-3711-228F-6F65-4861706D4773}"/>
              </a:ext>
            </a:extLst>
          </p:cNvPr>
          <p:cNvPicPr>
            <a:picLocks noChangeAspect="1"/>
          </p:cNvPicPr>
          <p:nvPr/>
        </p:nvPicPr>
        <p:blipFill>
          <a:blip r:embed="rId4"/>
          <a:stretch>
            <a:fillRect/>
          </a:stretch>
        </p:blipFill>
        <p:spPr>
          <a:xfrm>
            <a:off x="0" y="917988"/>
            <a:ext cx="12192000" cy="799509"/>
          </a:xfrm>
          <a:prstGeom prst="rect">
            <a:avLst/>
          </a:prstGeom>
        </p:spPr>
      </p:pic>
      <p:sp>
        <p:nvSpPr>
          <p:cNvPr id="9" name="TextBox 8">
            <a:extLst>
              <a:ext uri="{FF2B5EF4-FFF2-40B4-BE49-F238E27FC236}">
                <a16:creationId xmlns:a16="http://schemas.microsoft.com/office/drawing/2014/main" id="{2585593A-FFD1-2FC4-860C-7DDA533C89C0}"/>
              </a:ext>
            </a:extLst>
          </p:cNvPr>
          <p:cNvSpPr txBox="1"/>
          <p:nvPr/>
        </p:nvSpPr>
        <p:spPr>
          <a:xfrm>
            <a:off x="537883" y="1056132"/>
            <a:ext cx="10659034" cy="523220"/>
          </a:xfrm>
          <a:prstGeom prst="rect">
            <a:avLst/>
          </a:prstGeom>
          <a:noFill/>
        </p:spPr>
        <p:txBody>
          <a:bodyPr wrap="square" rtlCol="0">
            <a:spAutoFit/>
          </a:bodyPr>
          <a:lstStyle/>
          <a:p>
            <a:pPr algn="ctr"/>
            <a:r>
              <a:rPr lang="en-US" sz="2800" dirty="0">
                <a:solidFill>
                  <a:schemeClr val="bg1"/>
                </a:solidFill>
              </a:rPr>
              <a:t>Key Observation from Throughput Analysis</a:t>
            </a:r>
          </a:p>
        </p:txBody>
      </p:sp>
      <p:sp>
        <p:nvSpPr>
          <p:cNvPr id="3" name="Freeform 1">
            <a:extLst>
              <a:ext uri="{FF2B5EF4-FFF2-40B4-BE49-F238E27FC236}">
                <a16:creationId xmlns:a16="http://schemas.microsoft.com/office/drawing/2014/main" id="{9D6C16A4-2D5B-5EDD-64C6-7D468ED15A3A}"/>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extBox 3">
            <a:extLst>
              <a:ext uri="{FF2B5EF4-FFF2-40B4-BE49-F238E27FC236}">
                <a16:creationId xmlns:a16="http://schemas.microsoft.com/office/drawing/2014/main" id="{F60BE2C2-FE4C-6F08-286D-80F64207406B}"/>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7" name="TextBox 6">
            <a:extLst>
              <a:ext uri="{FF2B5EF4-FFF2-40B4-BE49-F238E27FC236}">
                <a16:creationId xmlns:a16="http://schemas.microsoft.com/office/drawing/2014/main" id="{6785F7A9-0F42-902F-73D1-6AF32893E4B4}"/>
              </a:ext>
            </a:extLst>
          </p:cNvPr>
          <p:cNvSpPr txBox="1"/>
          <p:nvPr/>
        </p:nvSpPr>
        <p:spPr>
          <a:xfrm>
            <a:off x="11877773" y="6466788"/>
            <a:ext cx="314227" cy="369332"/>
          </a:xfrm>
          <a:prstGeom prst="rect">
            <a:avLst/>
          </a:prstGeom>
          <a:noFill/>
        </p:spPr>
        <p:txBody>
          <a:bodyPr wrap="square" rtlCol="0">
            <a:spAutoFit/>
          </a:bodyPr>
          <a:lstStyle/>
          <a:p>
            <a:r>
              <a:rPr lang="en-IN" dirty="0">
                <a:solidFill>
                  <a:schemeClr val="bg1"/>
                </a:solidFill>
              </a:rPr>
              <a:t>8</a:t>
            </a:r>
          </a:p>
        </p:txBody>
      </p:sp>
    </p:spTree>
    <p:extLst>
      <p:ext uri="{BB962C8B-B14F-4D97-AF65-F5344CB8AC3E}">
        <p14:creationId xmlns:p14="http://schemas.microsoft.com/office/powerpoint/2010/main" val="3609530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43CFA-C2FC-F84B-CF55-36978C9D913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A4D5540-E063-0769-DA1E-BC72316C9436}"/>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A86A6D46-216C-93B8-29E2-797ABADB19C4}"/>
              </a:ext>
            </a:extLst>
          </p:cNvPr>
          <p:cNvPicPr>
            <a:picLocks noChangeAspect="1"/>
          </p:cNvPicPr>
          <p:nvPr/>
        </p:nvPicPr>
        <p:blipFill>
          <a:blip r:embed="rId3"/>
          <a:stretch>
            <a:fillRect/>
          </a:stretch>
        </p:blipFill>
        <p:spPr>
          <a:xfrm>
            <a:off x="0" y="0"/>
            <a:ext cx="12192000" cy="577333"/>
          </a:xfrm>
          <a:prstGeom prst="rect">
            <a:avLst/>
          </a:prstGeom>
        </p:spPr>
      </p:pic>
      <p:sp>
        <p:nvSpPr>
          <p:cNvPr id="8" name="TextBox 7">
            <a:extLst>
              <a:ext uri="{FF2B5EF4-FFF2-40B4-BE49-F238E27FC236}">
                <a16:creationId xmlns:a16="http://schemas.microsoft.com/office/drawing/2014/main" id="{22274F1C-B3F5-BA13-1848-8613297F2DFC}"/>
              </a:ext>
            </a:extLst>
          </p:cNvPr>
          <p:cNvSpPr txBox="1"/>
          <p:nvPr/>
        </p:nvSpPr>
        <p:spPr>
          <a:xfrm>
            <a:off x="246528" y="2184696"/>
            <a:ext cx="9220200" cy="2585323"/>
          </a:xfrm>
          <a:prstGeom prst="rect">
            <a:avLst/>
          </a:prstGeom>
          <a:noFill/>
        </p:spPr>
        <p:txBody>
          <a:bodyPr wrap="square">
            <a:spAutoFit/>
          </a:bodyPr>
          <a:lstStyle/>
          <a:p>
            <a:r>
              <a:rPr lang="en-US" b="1" dirty="0"/>
              <a:t>ANS. </a:t>
            </a:r>
            <a:r>
              <a:rPr lang="en-US" u="sng" dirty="0"/>
              <a:t>SQL code used</a:t>
            </a:r>
            <a:r>
              <a:rPr lang="en-US" b="1" dirty="0"/>
              <a:t>:</a:t>
            </a:r>
          </a:p>
          <a:p>
            <a:endParaRPr lang="en-US" b="1" dirty="0"/>
          </a:p>
          <a:p>
            <a:r>
              <a:rPr lang="en-US" dirty="0">
                <a:latin typeface="Calibri" panose="020F0502020204030204" pitchFamily="34" charset="0"/>
                <a:ea typeface="Calibri" panose="020F0502020204030204" pitchFamily="34" charset="0"/>
                <a:cs typeface="Calibri" panose="020F0502020204030204" pitchFamily="34" charset="0"/>
              </a:rPr>
              <a:t>SELECT language AS Languages, ROUND(100* COUNT(*)/total, 2) AS Percentage, sub.total</a:t>
            </a:r>
          </a:p>
          <a:p>
            <a:r>
              <a:rPr lang="en-US" dirty="0">
                <a:latin typeface="Calibri" panose="020F0502020204030204" pitchFamily="34" charset="0"/>
                <a:ea typeface="Calibri" panose="020F0502020204030204" pitchFamily="34" charset="0"/>
                <a:cs typeface="Calibri" panose="020F0502020204030204" pitchFamily="34" charset="0"/>
              </a:rPr>
              <a:t>FROM job_data</a:t>
            </a:r>
          </a:p>
          <a:p>
            <a:r>
              <a:rPr lang="en-US" dirty="0">
                <a:latin typeface="Calibri" panose="020F0502020204030204" pitchFamily="34" charset="0"/>
                <a:ea typeface="Calibri" panose="020F0502020204030204" pitchFamily="34" charset="0"/>
                <a:cs typeface="Calibri" panose="020F0502020204030204" pitchFamily="34" charset="0"/>
              </a:rPr>
              <a:t>CROSS JOIN (SELECT COUNT(*) AS total FROM job_data) AS sub</a:t>
            </a:r>
          </a:p>
          <a:p>
            <a:r>
              <a:rPr lang="en-US" dirty="0">
                <a:latin typeface="Calibri" panose="020F0502020204030204" pitchFamily="34" charset="0"/>
                <a:ea typeface="Calibri" panose="020F0502020204030204" pitchFamily="34" charset="0"/>
                <a:cs typeface="Calibri" panose="020F0502020204030204" pitchFamily="34" charset="0"/>
              </a:rPr>
              <a:t>GROUP BY language, sub.total;</a:t>
            </a:r>
          </a:p>
          <a:p>
            <a:endParaRPr lang="en-US" b="1" dirty="0"/>
          </a:p>
          <a:p>
            <a:r>
              <a:rPr lang="en-US" b="1" dirty="0"/>
              <a:t>Output:</a:t>
            </a:r>
          </a:p>
          <a:p>
            <a:r>
              <a:rPr lang="en-US" b="1" dirty="0"/>
              <a:t> </a:t>
            </a:r>
            <a:endParaRPr lang="en-IN" dirty="0"/>
          </a:p>
        </p:txBody>
      </p:sp>
      <p:pic>
        <p:nvPicPr>
          <p:cNvPr id="2" name="Picture 1">
            <a:extLst>
              <a:ext uri="{FF2B5EF4-FFF2-40B4-BE49-F238E27FC236}">
                <a16:creationId xmlns:a16="http://schemas.microsoft.com/office/drawing/2014/main" id="{24547E66-1B95-0886-4914-5409F8192B0C}"/>
              </a:ext>
            </a:extLst>
          </p:cNvPr>
          <p:cNvPicPr>
            <a:picLocks noChangeAspect="1"/>
          </p:cNvPicPr>
          <p:nvPr/>
        </p:nvPicPr>
        <p:blipFill>
          <a:blip r:embed="rId4"/>
          <a:stretch>
            <a:fillRect/>
          </a:stretch>
        </p:blipFill>
        <p:spPr>
          <a:xfrm>
            <a:off x="0" y="897371"/>
            <a:ext cx="12192000" cy="967287"/>
          </a:xfrm>
          <a:prstGeom prst="rect">
            <a:avLst/>
          </a:prstGeom>
        </p:spPr>
      </p:pic>
      <p:sp>
        <p:nvSpPr>
          <p:cNvPr id="9" name="TextBox 8">
            <a:extLst>
              <a:ext uri="{FF2B5EF4-FFF2-40B4-BE49-F238E27FC236}">
                <a16:creationId xmlns:a16="http://schemas.microsoft.com/office/drawing/2014/main" id="{ECA2BD58-9EAC-799D-9645-BCD280F1588E}"/>
              </a:ext>
            </a:extLst>
          </p:cNvPr>
          <p:cNvSpPr txBox="1"/>
          <p:nvPr/>
        </p:nvSpPr>
        <p:spPr>
          <a:xfrm>
            <a:off x="118783" y="897371"/>
            <a:ext cx="10659034" cy="1200329"/>
          </a:xfrm>
          <a:prstGeom prst="rect">
            <a:avLst/>
          </a:prstGeom>
          <a:noFill/>
        </p:spPr>
        <p:txBody>
          <a:bodyPr wrap="square" rtlCol="0">
            <a:spAutoFit/>
          </a:bodyPr>
          <a:lstStyle/>
          <a:p>
            <a:r>
              <a:rPr lang="en-IN" dirty="0">
                <a:solidFill>
                  <a:schemeClr val="bg1"/>
                </a:solidFill>
              </a:rPr>
              <a:t>TASK : C. </a:t>
            </a:r>
            <a:r>
              <a:rPr lang="en-IN" b="1" dirty="0">
                <a:solidFill>
                  <a:schemeClr val="bg1"/>
                </a:solidFill>
              </a:rPr>
              <a:t>LANGUAGE SHARE ANALYSIS</a:t>
            </a:r>
          </a:p>
          <a:p>
            <a:r>
              <a:rPr lang="en-US" dirty="0">
                <a:solidFill>
                  <a:schemeClr val="bg1"/>
                </a:solidFill>
              </a:rPr>
              <a:t>Objective: Calculate the percentage share of each language in the last 30 days.</a:t>
            </a:r>
          </a:p>
          <a:p>
            <a:r>
              <a:rPr lang="en-US" dirty="0">
                <a:solidFill>
                  <a:schemeClr val="bg1"/>
                </a:solidFill>
              </a:rPr>
              <a:t>Your Task: Write an SQL query to calculate the percentage share of each language over the last 30 days.</a:t>
            </a:r>
          </a:p>
          <a:p>
            <a:endParaRPr lang="en-US" dirty="0">
              <a:solidFill>
                <a:schemeClr val="bg1"/>
              </a:solidFill>
            </a:endParaRPr>
          </a:p>
        </p:txBody>
      </p:sp>
      <p:sp>
        <p:nvSpPr>
          <p:cNvPr id="3" name="Freeform 1">
            <a:extLst>
              <a:ext uri="{FF2B5EF4-FFF2-40B4-BE49-F238E27FC236}">
                <a16:creationId xmlns:a16="http://schemas.microsoft.com/office/drawing/2014/main" id="{33E0F921-267B-1184-FD0F-66F778939B1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pic>
        <p:nvPicPr>
          <p:cNvPr id="7" name="Picture 6">
            <a:extLst>
              <a:ext uri="{FF2B5EF4-FFF2-40B4-BE49-F238E27FC236}">
                <a16:creationId xmlns:a16="http://schemas.microsoft.com/office/drawing/2014/main" id="{11E99A82-65B0-7256-8E33-715D99B25CCB}"/>
              </a:ext>
            </a:extLst>
          </p:cNvPr>
          <p:cNvPicPr>
            <a:picLocks noChangeAspect="1"/>
          </p:cNvPicPr>
          <p:nvPr/>
        </p:nvPicPr>
        <p:blipFill>
          <a:blip r:embed="rId5"/>
          <a:stretch>
            <a:fillRect/>
          </a:stretch>
        </p:blipFill>
        <p:spPr>
          <a:xfrm>
            <a:off x="1640226" y="4102415"/>
            <a:ext cx="3613092" cy="2607250"/>
          </a:xfrm>
          <a:prstGeom prst="rect">
            <a:avLst/>
          </a:prstGeom>
        </p:spPr>
      </p:pic>
      <p:sp>
        <p:nvSpPr>
          <p:cNvPr id="4" name="TextBox 3">
            <a:extLst>
              <a:ext uri="{FF2B5EF4-FFF2-40B4-BE49-F238E27FC236}">
                <a16:creationId xmlns:a16="http://schemas.microsoft.com/office/drawing/2014/main" id="{2738F21B-31B7-D4FF-F62C-23F0F8F77CD2}"/>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10" name="TextBox 9">
            <a:extLst>
              <a:ext uri="{FF2B5EF4-FFF2-40B4-BE49-F238E27FC236}">
                <a16:creationId xmlns:a16="http://schemas.microsoft.com/office/drawing/2014/main" id="{62E6035E-8344-2BA0-2020-14B8AE9DA900}"/>
              </a:ext>
            </a:extLst>
          </p:cNvPr>
          <p:cNvSpPr txBox="1"/>
          <p:nvPr/>
        </p:nvSpPr>
        <p:spPr>
          <a:xfrm>
            <a:off x="11873577" y="6450402"/>
            <a:ext cx="179109" cy="369332"/>
          </a:xfrm>
          <a:prstGeom prst="rect">
            <a:avLst/>
          </a:prstGeom>
          <a:noFill/>
        </p:spPr>
        <p:txBody>
          <a:bodyPr wrap="square" rtlCol="0">
            <a:spAutoFit/>
          </a:bodyPr>
          <a:lstStyle/>
          <a:p>
            <a:r>
              <a:rPr lang="en-IN" dirty="0">
                <a:solidFill>
                  <a:schemeClr val="bg1"/>
                </a:solidFill>
              </a:rPr>
              <a:t>9</a:t>
            </a:r>
          </a:p>
        </p:txBody>
      </p:sp>
    </p:spTree>
    <p:extLst>
      <p:ext uri="{BB962C8B-B14F-4D97-AF65-F5344CB8AC3E}">
        <p14:creationId xmlns:p14="http://schemas.microsoft.com/office/powerpoint/2010/main" val="1716757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5C36-5326-46CC-9600-7214E2D2C25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584EC78-14C1-F167-45F0-EFAD8C06581B}"/>
              </a:ext>
            </a:extLst>
          </p:cNvPr>
          <p:cNvPicPr>
            <a:picLocks noChangeAspect="1"/>
          </p:cNvPicPr>
          <p:nvPr/>
        </p:nvPicPr>
        <p:blipFill>
          <a:blip r:embed="rId2"/>
          <a:stretch>
            <a:fillRect/>
          </a:stretch>
        </p:blipFill>
        <p:spPr>
          <a:xfrm>
            <a:off x="0" y="1"/>
            <a:ext cx="12192000" cy="518728"/>
          </a:xfrm>
          <a:prstGeom prst="rect">
            <a:avLst/>
          </a:prstGeom>
        </p:spPr>
      </p:pic>
      <p:pic>
        <p:nvPicPr>
          <p:cNvPr id="5" name="Picture 4">
            <a:extLst>
              <a:ext uri="{FF2B5EF4-FFF2-40B4-BE49-F238E27FC236}">
                <a16:creationId xmlns:a16="http://schemas.microsoft.com/office/drawing/2014/main" id="{CDD13F7C-0F63-D0A2-DE78-5112B4027EC0}"/>
              </a:ext>
            </a:extLst>
          </p:cNvPr>
          <p:cNvPicPr>
            <a:picLocks noChangeAspect="1"/>
          </p:cNvPicPr>
          <p:nvPr/>
        </p:nvPicPr>
        <p:blipFill>
          <a:blip r:embed="rId3"/>
          <a:stretch>
            <a:fillRect/>
          </a:stretch>
        </p:blipFill>
        <p:spPr>
          <a:xfrm>
            <a:off x="0" y="0"/>
            <a:ext cx="12192000" cy="518729"/>
          </a:xfrm>
          <a:prstGeom prst="rect">
            <a:avLst/>
          </a:prstGeom>
        </p:spPr>
      </p:pic>
      <p:sp>
        <p:nvSpPr>
          <p:cNvPr id="8" name="TextBox 7">
            <a:extLst>
              <a:ext uri="{FF2B5EF4-FFF2-40B4-BE49-F238E27FC236}">
                <a16:creationId xmlns:a16="http://schemas.microsoft.com/office/drawing/2014/main" id="{7DF0038D-46BD-508B-6B0C-5740C9EDFB37}"/>
              </a:ext>
            </a:extLst>
          </p:cNvPr>
          <p:cNvSpPr txBox="1"/>
          <p:nvPr/>
        </p:nvSpPr>
        <p:spPr>
          <a:xfrm>
            <a:off x="717175" y="5317271"/>
            <a:ext cx="9735671" cy="1200329"/>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From the above table, we can observe that, all the other five languages (English, Arabic, Hindi, French and Italian) have a percentage share of 12.5%, while only the Persian language has the maximum share of 37.5%. Hence from the analysis we can conclude, Persian is the most widely used language in the last 30 days.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9A80FAA-9F97-C9E3-D7F9-EA947FB4C0A2}"/>
              </a:ext>
            </a:extLst>
          </p:cNvPr>
          <p:cNvSpPr txBox="1"/>
          <p:nvPr/>
        </p:nvSpPr>
        <p:spPr>
          <a:xfrm>
            <a:off x="255494" y="1464037"/>
            <a:ext cx="10659034" cy="923330"/>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In the given data, there are six languages, namely, English, Arabic, Persian, Hindi, French and Italian. The percentage share of each language over the last 30 days is as follows: </a:t>
            </a:r>
          </a:p>
          <a:p>
            <a:endParaRPr lang="en-US" dirty="0"/>
          </a:p>
        </p:txBody>
      </p:sp>
      <p:pic>
        <p:nvPicPr>
          <p:cNvPr id="2" name="Picture 1">
            <a:extLst>
              <a:ext uri="{FF2B5EF4-FFF2-40B4-BE49-F238E27FC236}">
                <a16:creationId xmlns:a16="http://schemas.microsoft.com/office/drawing/2014/main" id="{A8EE72DE-223C-54C9-97F3-DBF72090388B}"/>
              </a:ext>
            </a:extLst>
          </p:cNvPr>
          <p:cNvPicPr>
            <a:picLocks noChangeAspect="1"/>
          </p:cNvPicPr>
          <p:nvPr/>
        </p:nvPicPr>
        <p:blipFill>
          <a:blip r:embed="rId4"/>
          <a:stretch>
            <a:fillRect/>
          </a:stretch>
        </p:blipFill>
        <p:spPr>
          <a:xfrm>
            <a:off x="0" y="600876"/>
            <a:ext cx="12192000" cy="646331"/>
          </a:xfrm>
          <a:prstGeom prst="rect">
            <a:avLst/>
          </a:prstGeom>
        </p:spPr>
      </p:pic>
      <p:sp>
        <p:nvSpPr>
          <p:cNvPr id="3" name="Freeform 1">
            <a:extLst>
              <a:ext uri="{FF2B5EF4-FFF2-40B4-BE49-F238E27FC236}">
                <a16:creationId xmlns:a16="http://schemas.microsoft.com/office/drawing/2014/main" id="{07E0FC2D-8EB8-2D34-7368-86B0BB7D7E15}"/>
              </a:ext>
              <a:ext uri="{C183D7F6-B498-43B3-948B-1728B52AA6E4}">
                <adec:decorative xmlns:adec="http://schemas.microsoft.com/office/drawing/2017/decorative" val="1"/>
              </a:ext>
            </a:extLst>
          </p:cNvPr>
          <p:cNvSpPr/>
          <p:nvPr/>
        </p:nvSpPr>
        <p:spPr>
          <a:xfrm rot="2700000">
            <a:off x="11788942" y="6355283"/>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extBox 3">
            <a:extLst>
              <a:ext uri="{FF2B5EF4-FFF2-40B4-BE49-F238E27FC236}">
                <a16:creationId xmlns:a16="http://schemas.microsoft.com/office/drawing/2014/main" id="{5A763255-2E8C-73AD-70E7-7EB43F2BF38E}"/>
              </a:ext>
            </a:extLst>
          </p:cNvPr>
          <p:cNvSpPr txBox="1"/>
          <p:nvPr/>
        </p:nvSpPr>
        <p:spPr>
          <a:xfrm>
            <a:off x="251012" y="625194"/>
            <a:ext cx="10829364" cy="646331"/>
          </a:xfrm>
          <a:prstGeom prst="rect">
            <a:avLst/>
          </a:prstGeom>
          <a:noFill/>
        </p:spPr>
        <p:txBody>
          <a:bodyPr wrap="square" rtlCol="0">
            <a:spAutoFit/>
          </a:bodyPr>
          <a:lstStyle/>
          <a:p>
            <a:pPr algn="ctr"/>
            <a:r>
              <a:rPr lang="en-IN" sz="3600" dirty="0">
                <a:solidFill>
                  <a:schemeClr val="bg1"/>
                </a:solidFill>
              </a:rPr>
              <a:t>Key Observation from Language Share Analysis</a:t>
            </a:r>
          </a:p>
        </p:txBody>
      </p:sp>
      <p:graphicFrame>
        <p:nvGraphicFramePr>
          <p:cNvPr id="7" name="Table 6">
            <a:extLst>
              <a:ext uri="{FF2B5EF4-FFF2-40B4-BE49-F238E27FC236}">
                <a16:creationId xmlns:a16="http://schemas.microsoft.com/office/drawing/2014/main" id="{64295366-4D36-2400-5499-4C0E05976A1A}"/>
              </a:ext>
            </a:extLst>
          </p:cNvPr>
          <p:cNvGraphicFramePr>
            <a:graphicFrameLocks noGrp="1"/>
          </p:cNvGraphicFramePr>
          <p:nvPr>
            <p:extLst>
              <p:ext uri="{D42A27DB-BD31-4B8C-83A1-F6EECF244321}">
                <p14:modId xmlns:p14="http://schemas.microsoft.com/office/powerpoint/2010/main" val="2768664790"/>
              </p:ext>
            </p:extLst>
          </p:nvPr>
        </p:nvGraphicFramePr>
        <p:xfrm>
          <a:off x="1018095" y="2387367"/>
          <a:ext cx="4449451" cy="2560320"/>
        </p:xfrm>
        <a:graphic>
          <a:graphicData uri="http://schemas.openxmlformats.org/drawingml/2006/table">
            <a:tbl>
              <a:tblPr firstRow="1" bandRow="1">
                <a:tableStyleId>{D7AC3CCA-C797-4891-BE02-D94E43425B78}</a:tableStyleId>
              </a:tblPr>
              <a:tblGrid>
                <a:gridCol w="2060448">
                  <a:extLst>
                    <a:ext uri="{9D8B030D-6E8A-4147-A177-3AD203B41FA5}">
                      <a16:colId xmlns:a16="http://schemas.microsoft.com/office/drawing/2014/main" val="1531269040"/>
                    </a:ext>
                  </a:extLst>
                </a:gridCol>
                <a:gridCol w="2389003">
                  <a:extLst>
                    <a:ext uri="{9D8B030D-6E8A-4147-A177-3AD203B41FA5}">
                      <a16:colId xmlns:a16="http://schemas.microsoft.com/office/drawing/2014/main" val="1118436207"/>
                    </a:ext>
                  </a:extLst>
                </a:gridCol>
              </a:tblGrid>
              <a:tr h="332619">
                <a:tc>
                  <a:txBody>
                    <a:bodyPr/>
                    <a:lstStyle/>
                    <a:p>
                      <a:pPr algn="ctr"/>
                      <a:r>
                        <a:rPr lang="en-IN" dirty="0"/>
                        <a:t>Language </a:t>
                      </a:r>
                    </a:p>
                  </a:txBody>
                  <a:tcPr>
                    <a:solidFill>
                      <a:schemeClr val="tx1">
                        <a:lumMod val="50000"/>
                        <a:lumOff val="50000"/>
                      </a:schemeClr>
                    </a:solidFill>
                  </a:tcPr>
                </a:tc>
                <a:tc>
                  <a:txBody>
                    <a:bodyPr/>
                    <a:lstStyle/>
                    <a:p>
                      <a:pPr algn="ctr"/>
                      <a:r>
                        <a:rPr lang="en-IN" dirty="0"/>
                        <a:t>Percentage share (%)</a:t>
                      </a:r>
                    </a:p>
                  </a:txBody>
                  <a:tcPr>
                    <a:solidFill>
                      <a:schemeClr val="tx1">
                        <a:lumMod val="50000"/>
                        <a:lumOff val="50000"/>
                      </a:schemeClr>
                    </a:solidFill>
                  </a:tcPr>
                </a:tc>
                <a:extLst>
                  <a:ext uri="{0D108BD9-81ED-4DB2-BD59-A6C34878D82A}">
                    <a16:rowId xmlns:a16="http://schemas.microsoft.com/office/drawing/2014/main" val="278999038"/>
                  </a:ext>
                </a:extLst>
              </a:tr>
              <a:tr h="332619">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English</a:t>
                      </a:r>
                    </a:p>
                  </a:txBody>
                  <a:tcPr/>
                </a:tc>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12.5%</a:t>
                      </a:r>
                    </a:p>
                  </a:txBody>
                  <a:tcPr/>
                </a:tc>
                <a:extLst>
                  <a:ext uri="{0D108BD9-81ED-4DB2-BD59-A6C34878D82A}">
                    <a16:rowId xmlns:a16="http://schemas.microsoft.com/office/drawing/2014/main" val="312601300"/>
                  </a:ext>
                </a:extLst>
              </a:tr>
              <a:tr h="332619">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Arabic</a:t>
                      </a:r>
                    </a:p>
                  </a:txBody>
                  <a:tcPr/>
                </a:tc>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12.5%</a:t>
                      </a:r>
                    </a:p>
                  </a:txBody>
                  <a:tcPr/>
                </a:tc>
                <a:extLst>
                  <a:ext uri="{0D108BD9-81ED-4DB2-BD59-A6C34878D82A}">
                    <a16:rowId xmlns:a16="http://schemas.microsoft.com/office/drawing/2014/main" val="1893382556"/>
                  </a:ext>
                </a:extLst>
              </a:tr>
              <a:tr h="332619">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Persian</a:t>
                      </a:r>
                    </a:p>
                  </a:txBody>
                  <a:tcPr/>
                </a:tc>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37.5%</a:t>
                      </a:r>
                    </a:p>
                  </a:txBody>
                  <a:tcPr/>
                </a:tc>
                <a:extLst>
                  <a:ext uri="{0D108BD9-81ED-4DB2-BD59-A6C34878D82A}">
                    <a16:rowId xmlns:a16="http://schemas.microsoft.com/office/drawing/2014/main" val="3444771567"/>
                  </a:ext>
                </a:extLst>
              </a:tr>
              <a:tr h="332619">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Hindi</a:t>
                      </a:r>
                    </a:p>
                  </a:txBody>
                  <a:tcPr/>
                </a:tc>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12.5%</a:t>
                      </a:r>
                    </a:p>
                  </a:txBody>
                  <a:tcPr/>
                </a:tc>
                <a:extLst>
                  <a:ext uri="{0D108BD9-81ED-4DB2-BD59-A6C34878D82A}">
                    <a16:rowId xmlns:a16="http://schemas.microsoft.com/office/drawing/2014/main" val="4284226056"/>
                  </a:ext>
                </a:extLst>
              </a:tr>
              <a:tr h="332619">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French</a:t>
                      </a:r>
                    </a:p>
                  </a:txBody>
                  <a:tcPr/>
                </a:tc>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12.5%</a:t>
                      </a:r>
                    </a:p>
                  </a:txBody>
                  <a:tcPr/>
                </a:tc>
                <a:extLst>
                  <a:ext uri="{0D108BD9-81ED-4DB2-BD59-A6C34878D82A}">
                    <a16:rowId xmlns:a16="http://schemas.microsoft.com/office/drawing/2014/main" val="3498459444"/>
                  </a:ext>
                </a:extLst>
              </a:tr>
              <a:tr h="332619">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Italian</a:t>
                      </a:r>
                    </a:p>
                  </a:txBody>
                  <a:tcPr/>
                </a:tc>
                <a:tc>
                  <a:txBody>
                    <a:bodyPr/>
                    <a:lstStyle/>
                    <a:p>
                      <a:pPr algn="ctr"/>
                      <a:r>
                        <a:rPr lang="en-IN" dirty="0">
                          <a:latin typeface="Calibri" panose="020F0502020204030204" pitchFamily="34" charset="0"/>
                          <a:ea typeface="Calibri" panose="020F0502020204030204" pitchFamily="34" charset="0"/>
                          <a:cs typeface="Calibri" panose="020F0502020204030204" pitchFamily="34" charset="0"/>
                        </a:rPr>
                        <a:t>12.5%</a:t>
                      </a:r>
                    </a:p>
                  </a:txBody>
                  <a:tcPr/>
                </a:tc>
                <a:extLst>
                  <a:ext uri="{0D108BD9-81ED-4DB2-BD59-A6C34878D82A}">
                    <a16:rowId xmlns:a16="http://schemas.microsoft.com/office/drawing/2014/main" val="2917757996"/>
                  </a:ext>
                </a:extLst>
              </a:tr>
            </a:tbl>
          </a:graphicData>
        </a:graphic>
      </p:graphicFrame>
      <p:graphicFrame>
        <p:nvGraphicFramePr>
          <p:cNvPr id="13" name="Chart 12">
            <a:extLst>
              <a:ext uri="{FF2B5EF4-FFF2-40B4-BE49-F238E27FC236}">
                <a16:creationId xmlns:a16="http://schemas.microsoft.com/office/drawing/2014/main" id="{28B4D30D-C152-89EA-1BBF-699745E4A640}"/>
              </a:ext>
            </a:extLst>
          </p:cNvPr>
          <p:cNvGraphicFramePr/>
          <p:nvPr>
            <p:extLst>
              <p:ext uri="{D42A27DB-BD31-4B8C-83A1-F6EECF244321}">
                <p14:modId xmlns:p14="http://schemas.microsoft.com/office/powerpoint/2010/main" val="3573307021"/>
              </p:ext>
            </p:extLst>
          </p:nvPr>
        </p:nvGraphicFramePr>
        <p:xfrm>
          <a:off x="6373998" y="1464037"/>
          <a:ext cx="4901753" cy="3760871"/>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a:extLst>
              <a:ext uri="{FF2B5EF4-FFF2-40B4-BE49-F238E27FC236}">
                <a16:creationId xmlns:a16="http://schemas.microsoft.com/office/drawing/2014/main" id="{9ED69F14-C399-5CED-A24D-5A2D40F68CFC}"/>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11" name="TextBox 10">
            <a:extLst>
              <a:ext uri="{FF2B5EF4-FFF2-40B4-BE49-F238E27FC236}">
                <a16:creationId xmlns:a16="http://schemas.microsoft.com/office/drawing/2014/main" id="{BCAEA564-957F-F737-C92C-146032AA2ED6}"/>
              </a:ext>
            </a:extLst>
          </p:cNvPr>
          <p:cNvSpPr txBox="1"/>
          <p:nvPr/>
        </p:nvSpPr>
        <p:spPr>
          <a:xfrm>
            <a:off x="11821211" y="6455291"/>
            <a:ext cx="631228" cy="369332"/>
          </a:xfrm>
          <a:prstGeom prst="rect">
            <a:avLst/>
          </a:prstGeom>
          <a:noFill/>
        </p:spPr>
        <p:txBody>
          <a:bodyPr wrap="square" rtlCol="0">
            <a:spAutoFit/>
          </a:bodyPr>
          <a:lstStyle/>
          <a:p>
            <a:r>
              <a:rPr lang="en-IN" dirty="0">
                <a:solidFill>
                  <a:schemeClr val="bg1"/>
                </a:solidFill>
              </a:rPr>
              <a:t>10</a:t>
            </a:r>
          </a:p>
        </p:txBody>
      </p:sp>
    </p:spTree>
    <p:extLst>
      <p:ext uri="{BB962C8B-B14F-4D97-AF65-F5344CB8AC3E}">
        <p14:creationId xmlns:p14="http://schemas.microsoft.com/office/powerpoint/2010/main" val="7905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111D-0BD4-87A3-7B55-33C21181F1F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EF9EBCC-4861-43B5-5250-3FF8883439E6}"/>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2BB2669E-6B33-B771-1627-E9924BFC9782}"/>
              </a:ext>
            </a:extLst>
          </p:cNvPr>
          <p:cNvPicPr>
            <a:picLocks noChangeAspect="1"/>
          </p:cNvPicPr>
          <p:nvPr/>
        </p:nvPicPr>
        <p:blipFill>
          <a:blip r:embed="rId3"/>
          <a:stretch>
            <a:fillRect/>
          </a:stretch>
        </p:blipFill>
        <p:spPr>
          <a:xfrm>
            <a:off x="0" y="0"/>
            <a:ext cx="12192000" cy="577333"/>
          </a:xfrm>
          <a:prstGeom prst="rect">
            <a:avLst/>
          </a:prstGeom>
        </p:spPr>
      </p:pic>
      <p:sp>
        <p:nvSpPr>
          <p:cNvPr id="9" name="TextBox 8">
            <a:extLst>
              <a:ext uri="{FF2B5EF4-FFF2-40B4-BE49-F238E27FC236}">
                <a16:creationId xmlns:a16="http://schemas.microsoft.com/office/drawing/2014/main" id="{559CE071-BB0D-82B2-D50F-214BEC0715BD}"/>
              </a:ext>
            </a:extLst>
          </p:cNvPr>
          <p:cNvSpPr txBox="1"/>
          <p:nvPr/>
        </p:nvSpPr>
        <p:spPr>
          <a:xfrm>
            <a:off x="251012" y="2184696"/>
            <a:ext cx="10659034" cy="2308324"/>
          </a:xfrm>
          <a:prstGeom prst="rect">
            <a:avLst/>
          </a:prstGeom>
          <a:noFill/>
        </p:spPr>
        <p:txBody>
          <a:bodyPr wrap="square" rtlCol="0">
            <a:spAutoFit/>
          </a:bodyPr>
          <a:lstStyle/>
          <a:p>
            <a:r>
              <a:rPr lang="en-US" dirty="0"/>
              <a:t>ANS. </a:t>
            </a:r>
            <a:r>
              <a:rPr lang="en-US" u="sng" dirty="0"/>
              <a:t>SQL code used:</a:t>
            </a:r>
          </a:p>
          <a:p>
            <a:endParaRPr lang="en-US" dirty="0"/>
          </a:p>
          <a:p>
            <a:r>
              <a:rPr lang="en-US" dirty="0">
                <a:latin typeface="Calibri" panose="020F0502020204030204" pitchFamily="34" charset="0"/>
                <a:ea typeface="Calibri" panose="020F0502020204030204" pitchFamily="34" charset="0"/>
                <a:cs typeface="Calibri" panose="020F0502020204030204" pitchFamily="34" charset="0"/>
              </a:rPr>
              <a:t>SELECT actor_id, COUNT(*) AS Duplicates FROM job_data</a:t>
            </a:r>
          </a:p>
          <a:p>
            <a:r>
              <a:rPr lang="en-US" dirty="0">
                <a:latin typeface="Calibri" panose="020F0502020204030204" pitchFamily="34" charset="0"/>
                <a:ea typeface="Calibri" panose="020F0502020204030204" pitchFamily="34" charset="0"/>
                <a:cs typeface="Calibri" panose="020F0502020204030204" pitchFamily="34" charset="0"/>
              </a:rPr>
              <a:t>GROUP BY actor_id HAVING COUNT(*) &gt; 1; </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Output:</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0E91F5F5-33BC-57F2-B266-8E9430D13CAB}"/>
              </a:ext>
            </a:extLst>
          </p:cNvPr>
          <p:cNvPicPr>
            <a:picLocks noChangeAspect="1"/>
          </p:cNvPicPr>
          <p:nvPr/>
        </p:nvPicPr>
        <p:blipFill>
          <a:blip r:embed="rId4"/>
          <a:stretch>
            <a:fillRect/>
          </a:stretch>
        </p:blipFill>
        <p:spPr>
          <a:xfrm>
            <a:off x="0" y="897371"/>
            <a:ext cx="12192000" cy="967287"/>
          </a:xfrm>
          <a:prstGeom prst="rect">
            <a:avLst/>
          </a:prstGeom>
        </p:spPr>
      </p:pic>
      <p:sp>
        <p:nvSpPr>
          <p:cNvPr id="3" name="Freeform 1">
            <a:extLst>
              <a:ext uri="{FF2B5EF4-FFF2-40B4-BE49-F238E27FC236}">
                <a16:creationId xmlns:a16="http://schemas.microsoft.com/office/drawing/2014/main" id="{E7ADEED5-90CF-4542-8CBB-799F941FBD4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extBox 3">
            <a:extLst>
              <a:ext uri="{FF2B5EF4-FFF2-40B4-BE49-F238E27FC236}">
                <a16:creationId xmlns:a16="http://schemas.microsoft.com/office/drawing/2014/main" id="{729A225F-E619-2B81-148A-81EA88C0A0B1}"/>
              </a:ext>
            </a:extLst>
          </p:cNvPr>
          <p:cNvSpPr txBox="1"/>
          <p:nvPr/>
        </p:nvSpPr>
        <p:spPr>
          <a:xfrm>
            <a:off x="251012" y="897371"/>
            <a:ext cx="11089341" cy="1200329"/>
          </a:xfrm>
          <a:prstGeom prst="rect">
            <a:avLst/>
          </a:prstGeom>
          <a:noFill/>
        </p:spPr>
        <p:txBody>
          <a:bodyPr wrap="square" rtlCol="0">
            <a:spAutoFit/>
          </a:bodyPr>
          <a:lstStyle/>
          <a:p>
            <a:r>
              <a:rPr lang="en-IN" dirty="0">
                <a:solidFill>
                  <a:schemeClr val="bg1"/>
                </a:solidFill>
              </a:rPr>
              <a:t>TASK D. </a:t>
            </a:r>
            <a:r>
              <a:rPr lang="en-IN" b="1" dirty="0">
                <a:solidFill>
                  <a:schemeClr val="bg1"/>
                </a:solidFill>
              </a:rPr>
              <a:t>DUPLICATE ROWS DETECTION</a:t>
            </a:r>
          </a:p>
          <a:p>
            <a:r>
              <a:rPr lang="en-US" b="1" dirty="0">
                <a:solidFill>
                  <a:schemeClr val="bg1"/>
                </a:solidFill>
              </a:rPr>
              <a:t>Objective: Identify duplicate rows in the data.</a:t>
            </a:r>
          </a:p>
          <a:p>
            <a:r>
              <a:rPr lang="en-US" b="1" dirty="0">
                <a:solidFill>
                  <a:schemeClr val="bg1"/>
                </a:solidFill>
              </a:rPr>
              <a:t>Your Task: Write an SQL query to display duplicate rows from the job_data table.</a:t>
            </a:r>
          </a:p>
          <a:p>
            <a:endParaRPr lang="en-IN" dirty="0">
              <a:solidFill>
                <a:schemeClr val="bg1"/>
              </a:solidFill>
            </a:endParaRPr>
          </a:p>
        </p:txBody>
      </p:sp>
      <p:pic>
        <p:nvPicPr>
          <p:cNvPr id="10" name="Picture 9">
            <a:extLst>
              <a:ext uri="{FF2B5EF4-FFF2-40B4-BE49-F238E27FC236}">
                <a16:creationId xmlns:a16="http://schemas.microsoft.com/office/drawing/2014/main" id="{BD122A98-AB88-E3CA-00E1-365B672A315D}"/>
              </a:ext>
            </a:extLst>
          </p:cNvPr>
          <p:cNvPicPr>
            <a:picLocks noChangeAspect="1"/>
          </p:cNvPicPr>
          <p:nvPr/>
        </p:nvPicPr>
        <p:blipFill>
          <a:blip r:embed="rId5"/>
          <a:stretch>
            <a:fillRect/>
          </a:stretch>
        </p:blipFill>
        <p:spPr>
          <a:xfrm>
            <a:off x="1517687" y="3780148"/>
            <a:ext cx="5524124" cy="2455166"/>
          </a:xfrm>
          <a:prstGeom prst="rect">
            <a:avLst/>
          </a:prstGeom>
        </p:spPr>
      </p:pic>
      <p:sp>
        <p:nvSpPr>
          <p:cNvPr id="15" name="TextBox 14">
            <a:extLst>
              <a:ext uri="{FF2B5EF4-FFF2-40B4-BE49-F238E27FC236}">
                <a16:creationId xmlns:a16="http://schemas.microsoft.com/office/drawing/2014/main" id="{C0CA64FC-91A3-6F2D-EBCF-9F4CF8BC729C}"/>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7" name="TextBox 6">
            <a:extLst>
              <a:ext uri="{FF2B5EF4-FFF2-40B4-BE49-F238E27FC236}">
                <a16:creationId xmlns:a16="http://schemas.microsoft.com/office/drawing/2014/main" id="{99521B0E-9E3E-89D2-9E88-0D7130596435}"/>
              </a:ext>
            </a:extLst>
          </p:cNvPr>
          <p:cNvSpPr txBox="1"/>
          <p:nvPr/>
        </p:nvSpPr>
        <p:spPr>
          <a:xfrm>
            <a:off x="11845296" y="6450402"/>
            <a:ext cx="414779" cy="369332"/>
          </a:xfrm>
          <a:prstGeom prst="rect">
            <a:avLst/>
          </a:prstGeom>
          <a:noFill/>
        </p:spPr>
        <p:txBody>
          <a:bodyPr wrap="square" rtlCol="0">
            <a:spAutoFit/>
          </a:bodyPr>
          <a:lstStyle/>
          <a:p>
            <a:r>
              <a:rPr lang="en-IN" dirty="0">
                <a:solidFill>
                  <a:schemeClr val="bg1"/>
                </a:solidFill>
              </a:rPr>
              <a:t>11</a:t>
            </a:r>
          </a:p>
        </p:txBody>
      </p:sp>
    </p:spTree>
    <p:extLst>
      <p:ext uri="{BB962C8B-B14F-4D97-AF65-F5344CB8AC3E}">
        <p14:creationId xmlns:p14="http://schemas.microsoft.com/office/powerpoint/2010/main" val="365930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AF96-78E6-AA7A-5B8A-536FE96A1E7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A5F7C5D-0F55-C792-B48A-1EDE3F06DB32}"/>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026F20F6-DE20-1035-8AC0-F15260E11AF4}"/>
              </a:ext>
            </a:extLst>
          </p:cNvPr>
          <p:cNvPicPr>
            <a:picLocks noChangeAspect="1"/>
          </p:cNvPicPr>
          <p:nvPr/>
        </p:nvPicPr>
        <p:blipFill>
          <a:blip r:embed="rId3"/>
          <a:stretch>
            <a:fillRect/>
          </a:stretch>
        </p:blipFill>
        <p:spPr>
          <a:xfrm>
            <a:off x="0" y="0"/>
            <a:ext cx="12192000" cy="577333"/>
          </a:xfrm>
          <a:prstGeom prst="rect">
            <a:avLst/>
          </a:prstGeom>
        </p:spPr>
      </p:pic>
      <p:sp>
        <p:nvSpPr>
          <p:cNvPr id="9" name="TextBox 8">
            <a:extLst>
              <a:ext uri="{FF2B5EF4-FFF2-40B4-BE49-F238E27FC236}">
                <a16:creationId xmlns:a16="http://schemas.microsoft.com/office/drawing/2014/main" id="{E16B4992-0C62-B9B5-FDC7-7170EDE46415}"/>
              </a:ext>
            </a:extLst>
          </p:cNvPr>
          <p:cNvSpPr txBox="1"/>
          <p:nvPr/>
        </p:nvSpPr>
        <p:spPr>
          <a:xfrm>
            <a:off x="0" y="2184696"/>
            <a:ext cx="11962613" cy="3170099"/>
          </a:xfrm>
          <a:prstGeom prst="rect">
            <a:avLst/>
          </a:prstGeom>
          <a:noFill/>
        </p:spPr>
        <p:txBody>
          <a:bodyPr wrap="square" rtlCol="0">
            <a:spAutoFit/>
          </a:bodyPr>
          <a:lstStyle/>
          <a:p>
            <a:r>
              <a:rPr lang="en-US" dirty="0"/>
              <a:t> </a:t>
            </a:r>
            <a:r>
              <a:rPr lang="en-US" sz="4000" dirty="0">
                <a:latin typeface="Calibri" panose="020F0502020204030204" pitchFamily="34" charset="0"/>
                <a:ea typeface="Calibri" panose="020F0502020204030204" pitchFamily="34" charset="0"/>
                <a:cs typeface="Calibri" panose="020F0502020204030204" pitchFamily="34" charset="0"/>
              </a:rPr>
              <a:t>From the obtained output in the SQL Workbench, we can observe that there are two duplicate rows in the data. The row with actor id as </a:t>
            </a:r>
            <a:r>
              <a:rPr lang="en-US" sz="4000" b="1" dirty="0">
                <a:latin typeface="Calibri" panose="020F0502020204030204" pitchFamily="34" charset="0"/>
                <a:ea typeface="Calibri" panose="020F0502020204030204" pitchFamily="34" charset="0"/>
                <a:cs typeface="Calibri" panose="020F0502020204030204" pitchFamily="34" charset="0"/>
              </a:rPr>
              <a:t>1003 </a:t>
            </a:r>
            <a:r>
              <a:rPr lang="en-US" sz="4000" dirty="0">
                <a:latin typeface="Calibri" panose="020F0502020204030204" pitchFamily="34" charset="0"/>
                <a:ea typeface="Calibri" panose="020F0502020204030204" pitchFamily="34" charset="0"/>
                <a:cs typeface="Calibri" panose="020F0502020204030204" pitchFamily="34" charset="0"/>
              </a:rPr>
              <a:t>is repeated and appears twice in the table. Hence, by using SQL we can detect duplicate rows within any given data.</a:t>
            </a:r>
          </a:p>
        </p:txBody>
      </p:sp>
      <p:pic>
        <p:nvPicPr>
          <p:cNvPr id="2" name="Picture 1">
            <a:extLst>
              <a:ext uri="{FF2B5EF4-FFF2-40B4-BE49-F238E27FC236}">
                <a16:creationId xmlns:a16="http://schemas.microsoft.com/office/drawing/2014/main" id="{7C4C3575-CD42-6B7A-8DDD-2D9747C9C646}"/>
              </a:ext>
            </a:extLst>
          </p:cNvPr>
          <p:cNvPicPr>
            <a:picLocks noChangeAspect="1"/>
          </p:cNvPicPr>
          <p:nvPr/>
        </p:nvPicPr>
        <p:blipFill>
          <a:blip r:embed="rId4"/>
          <a:stretch>
            <a:fillRect/>
          </a:stretch>
        </p:blipFill>
        <p:spPr>
          <a:xfrm>
            <a:off x="0" y="897371"/>
            <a:ext cx="12192000" cy="967287"/>
          </a:xfrm>
          <a:prstGeom prst="rect">
            <a:avLst/>
          </a:prstGeom>
        </p:spPr>
      </p:pic>
      <p:sp>
        <p:nvSpPr>
          <p:cNvPr id="3" name="Freeform 1">
            <a:extLst>
              <a:ext uri="{FF2B5EF4-FFF2-40B4-BE49-F238E27FC236}">
                <a16:creationId xmlns:a16="http://schemas.microsoft.com/office/drawing/2014/main" id="{C6AC0FB7-2A2F-E842-86F8-2592871219A4}"/>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extBox 3">
            <a:extLst>
              <a:ext uri="{FF2B5EF4-FFF2-40B4-BE49-F238E27FC236}">
                <a16:creationId xmlns:a16="http://schemas.microsoft.com/office/drawing/2014/main" id="{465F99C9-5356-5F4A-583D-D9E139E95719}"/>
              </a:ext>
            </a:extLst>
          </p:cNvPr>
          <p:cNvSpPr txBox="1"/>
          <p:nvPr/>
        </p:nvSpPr>
        <p:spPr>
          <a:xfrm>
            <a:off x="207390" y="970961"/>
            <a:ext cx="11246177" cy="646331"/>
          </a:xfrm>
          <a:prstGeom prst="rect">
            <a:avLst/>
          </a:prstGeom>
          <a:noFill/>
        </p:spPr>
        <p:txBody>
          <a:bodyPr wrap="square" rtlCol="0">
            <a:spAutoFit/>
          </a:bodyPr>
          <a:lstStyle/>
          <a:p>
            <a:pPr algn="ctr"/>
            <a:r>
              <a:rPr lang="en-IN" sz="3600" dirty="0">
                <a:solidFill>
                  <a:schemeClr val="bg1"/>
                </a:solidFill>
              </a:rPr>
              <a:t>Key Observation from Duplicate Rows Detection</a:t>
            </a:r>
          </a:p>
        </p:txBody>
      </p:sp>
      <p:sp>
        <p:nvSpPr>
          <p:cNvPr id="7" name="TextBox 6">
            <a:extLst>
              <a:ext uri="{FF2B5EF4-FFF2-40B4-BE49-F238E27FC236}">
                <a16:creationId xmlns:a16="http://schemas.microsoft.com/office/drawing/2014/main" id="{2B5D12BC-0B4C-4F64-642D-98E3B46381E1}"/>
              </a:ext>
            </a:extLst>
          </p:cNvPr>
          <p:cNvSpPr txBox="1"/>
          <p:nvPr/>
        </p:nvSpPr>
        <p:spPr>
          <a:xfrm>
            <a:off x="1983405" y="70758"/>
            <a:ext cx="7588577" cy="646331"/>
          </a:xfrm>
          <a:prstGeom prst="rect">
            <a:avLst/>
          </a:prstGeom>
          <a:noFill/>
        </p:spPr>
        <p:txBody>
          <a:bodyPr wrap="square" rtlCol="0">
            <a:spAutoFit/>
          </a:bodyPr>
          <a:lstStyle/>
          <a:p>
            <a:pPr algn="ctr"/>
            <a:r>
              <a:rPr lang="en-IN" b="1" u="sng" dirty="0">
                <a:solidFill>
                  <a:schemeClr val="bg1"/>
                </a:solidFill>
              </a:rPr>
              <a:t>CASE STUDY 1 : JOB DATA ANALYSIS</a:t>
            </a:r>
          </a:p>
          <a:p>
            <a:endParaRPr lang="en-IN" dirty="0"/>
          </a:p>
        </p:txBody>
      </p:sp>
      <p:sp>
        <p:nvSpPr>
          <p:cNvPr id="8" name="TextBox 7">
            <a:extLst>
              <a:ext uri="{FF2B5EF4-FFF2-40B4-BE49-F238E27FC236}">
                <a16:creationId xmlns:a16="http://schemas.microsoft.com/office/drawing/2014/main" id="{A9EC7F6B-F1B8-B509-4173-668FD023E8AC}"/>
              </a:ext>
            </a:extLst>
          </p:cNvPr>
          <p:cNvSpPr txBox="1"/>
          <p:nvPr/>
        </p:nvSpPr>
        <p:spPr>
          <a:xfrm>
            <a:off x="11770066" y="6450402"/>
            <a:ext cx="565240" cy="369332"/>
          </a:xfrm>
          <a:prstGeom prst="rect">
            <a:avLst/>
          </a:prstGeom>
          <a:noFill/>
        </p:spPr>
        <p:txBody>
          <a:bodyPr wrap="square" rtlCol="0">
            <a:spAutoFit/>
          </a:bodyPr>
          <a:lstStyle/>
          <a:p>
            <a:r>
              <a:rPr lang="en-IN" dirty="0">
                <a:solidFill>
                  <a:schemeClr val="bg1"/>
                </a:solidFill>
              </a:rPr>
              <a:t>12</a:t>
            </a:r>
          </a:p>
        </p:txBody>
      </p:sp>
    </p:spTree>
    <p:extLst>
      <p:ext uri="{BB962C8B-B14F-4D97-AF65-F5344CB8AC3E}">
        <p14:creationId xmlns:p14="http://schemas.microsoft.com/office/powerpoint/2010/main" val="3302791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9B0F8-8364-2AAC-730D-2326DE8C98F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AA57135-D76D-D0D6-24A0-A7EF079D19A8}"/>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8D7A0607-315C-4860-02B4-01DD99FC582C}"/>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22587C56-7EFF-ED31-D6CD-D713AE5885CD}"/>
              </a:ext>
            </a:extLst>
          </p:cNvPr>
          <p:cNvPicPr>
            <a:picLocks noChangeAspect="1"/>
          </p:cNvPicPr>
          <p:nvPr/>
        </p:nvPicPr>
        <p:blipFill>
          <a:blip r:embed="rId4"/>
          <a:stretch>
            <a:fillRect/>
          </a:stretch>
        </p:blipFill>
        <p:spPr>
          <a:xfrm>
            <a:off x="0" y="930357"/>
            <a:ext cx="12192000" cy="652665"/>
          </a:xfrm>
          <a:prstGeom prst="rect">
            <a:avLst/>
          </a:prstGeom>
        </p:spPr>
      </p:pic>
      <p:sp>
        <p:nvSpPr>
          <p:cNvPr id="3" name="Freeform 1">
            <a:extLst>
              <a:ext uri="{FF2B5EF4-FFF2-40B4-BE49-F238E27FC236}">
                <a16:creationId xmlns:a16="http://schemas.microsoft.com/office/drawing/2014/main" id="{0A139930-7FAE-B9EA-9BEB-8682186B640A}"/>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extBox 3">
            <a:extLst>
              <a:ext uri="{FF2B5EF4-FFF2-40B4-BE49-F238E27FC236}">
                <a16:creationId xmlns:a16="http://schemas.microsoft.com/office/drawing/2014/main" id="{0F0C9C89-3188-31EE-A0CB-AF8433A61538}"/>
              </a:ext>
            </a:extLst>
          </p:cNvPr>
          <p:cNvSpPr txBox="1"/>
          <p:nvPr/>
        </p:nvSpPr>
        <p:spPr>
          <a:xfrm>
            <a:off x="348791" y="-16904"/>
            <a:ext cx="11114203" cy="707886"/>
          </a:xfrm>
          <a:prstGeom prst="rect">
            <a:avLst/>
          </a:prstGeom>
          <a:noFill/>
        </p:spPr>
        <p:txBody>
          <a:bodyPr wrap="square" rtlCol="0">
            <a:spAutoFit/>
          </a:bodyPr>
          <a:lstStyle/>
          <a:p>
            <a:pPr algn="ctr"/>
            <a:r>
              <a:rPr lang="en-US" sz="4000" b="1" u="sng" dirty="0">
                <a:solidFill>
                  <a:schemeClr val="bg1"/>
                </a:solidFill>
              </a:rPr>
              <a:t>Case Study 2: Investigating Metric Spike</a:t>
            </a:r>
            <a:endParaRPr lang="en-IN" sz="4000" b="1" u="sng" dirty="0">
              <a:solidFill>
                <a:schemeClr val="bg1"/>
              </a:solidFill>
            </a:endParaRPr>
          </a:p>
        </p:txBody>
      </p:sp>
      <p:sp>
        <p:nvSpPr>
          <p:cNvPr id="7" name="TextBox 6">
            <a:extLst>
              <a:ext uri="{FF2B5EF4-FFF2-40B4-BE49-F238E27FC236}">
                <a16:creationId xmlns:a16="http://schemas.microsoft.com/office/drawing/2014/main" id="{22031188-CF55-96CD-9C22-BBA8FDBE140E}"/>
              </a:ext>
            </a:extLst>
          </p:cNvPr>
          <p:cNvSpPr txBox="1"/>
          <p:nvPr/>
        </p:nvSpPr>
        <p:spPr>
          <a:xfrm>
            <a:off x="443929" y="936691"/>
            <a:ext cx="11304141" cy="646331"/>
          </a:xfrm>
          <a:prstGeom prst="rect">
            <a:avLst/>
          </a:prstGeom>
          <a:noFill/>
        </p:spPr>
        <p:txBody>
          <a:bodyPr wrap="square" rtlCol="0">
            <a:spAutoFit/>
          </a:bodyPr>
          <a:lstStyle/>
          <a:p>
            <a:pPr algn="ctr"/>
            <a:r>
              <a:rPr lang="en-IN" sz="3600" dirty="0">
                <a:solidFill>
                  <a:schemeClr val="bg1"/>
                </a:solidFill>
              </a:rPr>
              <a:t>IMPORTING DATA IN SQL</a:t>
            </a:r>
          </a:p>
        </p:txBody>
      </p:sp>
      <p:sp>
        <p:nvSpPr>
          <p:cNvPr id="10" name="TextBox 9">
            <a:extLst>
              <a:ext uri="{FF2B5EF4-FFF2-40B4-BE49-F238E27FC236}">
                <a16:creationId xmlns:a16="http://schemas.microsoft.com/office/drawing/2014/main" id="{4ED64CAF-3E01-932A-8CF7-E4752E1341B2}"/>
              </a:ext>
            </a:extLst>
          </p:cNvPr>
          <p:cNvSpPr txBox="1"/>
          <p:nvPr/>
        </p:nvSpPr>
        <p:spPr>
          <a:xfrm>
            <a:off x="5566528" y="2137020"/>
            <a:ext cx="5270986" cy="3970318"/>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INTO TABLE users</a:t>
            </a:r>
          </a:p>
          <a:p>
            <a:r>
              <a:rPr lang="en-IN" dirty="0">
                <a:latin typeface="Calibri" panose="020F0502020204030204" pitchFamily="34" charset="0"/>
                <a:ea typeface="Calibri" panose="020F0502020204030204" pitchFamily="34" charset="0"/>
                <a:cs typeface="Calibri" panose="020F0502020204030204" pitchFamily="34" charset="0"/>
              </a:rPr>
              <a:t>FIELDS TERMINATED BY ','</a:t>
            </a:r>
          </a:p>
          <a:p>
            <a:r>
              <a:rPr lang="en-IN" dirty="0">
                <a:latin typeface="Calibri" panose="020F0502020204030204" pitchFamily="34" charset="0"/>
                <a:ea typeface="Calibri" panose="020F0502020204030204" pitchFamily="34" charset="0"/>
                <a:cs typeface="Calibri" panose="020F0502020204030204" pitchFamily="34" charset="0"/>
              </a:rPr>
              <a:t>OPTIONALLY ENCLOSED BY '"'</a:t>
            </a:r>
          </a:p>
          <a:p>
            <a:r>
              <a:rPr lang="en-IN" dirty="0">
                <a:latin typeface="Calibri" panose="020F0502020204030204" pitchFamily="34" charset="0"/>
                <a:ea typeface="Calibri" panose="020F0502020204030204" pitchFamily="34" charset="0"/>
                <a:cs typeface="Calibri" panose="020F0502020204030204" pitchFamily="34" charset="0"/>
              </a:rPr>
              <a:t>LINES TERMINATED BY '\r\n'</a:t>
            </a:r>
          </a:p>
          <a:p>
            <a:r>
              <a:rPr lang="en-IN" dirty="0">
                <a:latin typeface="Calibri" panose="020F0502020204030204" pitchFamily="34" charset="0"/>
                <a:ea typeface="Calibri" panose="020F0502020204030204" pitchFamily="34" charset="0"/>
                <a:cs typeface="Calibri" panose="020F0502020204030204" pitchFamily="34" charset="0"/>
              </a:rPr>
              <a:t>IGNORE 1 ROWS;</a:t>
            </a:r>
          </a:p>
          <a:p>
            <a:r>
              <a:rPr lang="en-IN" dirty="0">
                <a:latin typeface="Calibri" panose="020F0502020204030204" pitchFamily="34" charset="0"/>
                <a:ea typeface="Calibri" panose="020F0502020204030204" pitchFamily="34" charset="0"/>
                <a:cs typeface="Calibri" panose="020F0502020204030204" pitchFamily="34" charset="0"/>
              </a:rPr>
              <a:t>SELECT * FROM users;</a:t>
            </a:r>
          </a:p>
          <a:p>
            <a:r>
              <a:rPr lang="en-IN" dirty="0">
                <a:latin typeface="Calibri" panose="020F0502020204030204" pitchFamily="34" charset="0"/>
                <a:ea typeface="Calibri" panose="020F0502020204030204" pitchFamily="34" charset="0"/>
                <a:cs typeface="Calibri" panose="020F0502020204030204" pitchFamily="34" charset="0"/>
              </a:rPr>
              <a:t>-------# add temporary column temp_created_at----</a:t>
            </a:r>
          </a:p>
          <a:p>
            <a:r>
              <a:rPr lang="en-IN" dirty="0">
                <a:latin typeface="Calibri" panose="020F0502020204030204" pitchFamily="34" charset="0"/>
                <a:ea typeface="Calibri" panose="020F0502020204030204" pitchFamily="34" charset="0"/>
                <a:cs typeface="Calibri" panose="020F0502020204030204" pitchFamily="34" charset="0"/>
              </a:rPr>
              <a:t>ALTER TABLE users add column temp_created_at datetime;</a:t>
            </a:r>
          </a:p>
          <a:p>
            <a:r>
              <a:rPr lang="en-IN" dirty="0">
                <a:latin typeface="Calibri" panose="020F0502020204030204" pitchFamily="34" charset="0"/>
                <a:ea typeface="Calibri" panose="020F0502020204030204" pitchFamily="34" charset="0"/>
                <a:cs typeface="Calibri" panose="020F0502020204030204" pitchFamily="34" charset="0"/>
              </a:rPr>
              <a:t>#-----add data to the temporary column-----</a:t>
            </a:r>
          </a:p>
          <a:p>
            <a:r>
              <a:rPr lang="en-IN" dirty="0">
                <a:latin typeface="Calibri" panose="020F0502020204030204" pitchFamily="34" charset="0"/>
                <a:ea typeface="Calibri" panose="020F0502020204030204" pitchFamily="34" charset="0"/>
                <a:cs typeface="Calibri" panose="020F0502020204030204" pitchFamily="34" charset="0"/>
              </a:rPr>
              <a:t>SET SQL_SAFE_UPDATES = 0;</a:t>
            </a:r>
          </a:p>
          <a:p>
            <a:r>
              <a:rPr lang="en-IN" dirty="0">
                <a:latin typeface="Calibri" panose="020F0502020204030204" pitchFamily="34" charset="0"/>
                <a:ea typeface="Calibri" panose="020F0502020204030204" pitchFamily="34" charset="0"/>
                <a:cs typeface="Calibri" panose="020F0502020204030204" pitchFamily="34" charset="0"/>
              </a:rPr>
              <a:t>UPDATE users SET  temp_created_at = STR_TO_DATE(created_at, '%d-%m-%Y %H:%i');</a:t>
            </a:r>
          </a:p>
          <a:p>
            <a:r>
              <a:rPr lang="en-IN" dirty="0">
                <a:latin typeface="Calibri" panose="020F0502020204030204" pitchFamily="34" charset="0"/>
                <a:ea typeface="Calibri" panose="020F0502020204030204" pitchFamily="34" charset="0"/>
                <a:cs typeface="Calibri" panose="020F0502020204030204" pitchFamily="34" charset="0"/>
              </a:rPr>
              <a:t>SET SQL_SAFE_UPDATES = 1;</a:t>
            </a:r>
          </a:p>
        </p:txBody>
      </p:sp>
      <p:sp>
        <p:nvSpPr>
          <p:cNvPr id="11" name="TextBox 10">
            <a:extLst>
              <a:ext uri="{FF2B5EF4-FFF2-40B4-BE49-F238E27FC236}">
                <a16:creationId xmlns:a16="http://schemas.microsoft.com/office/drawing/2014/main" id="{5D5CAC89-8EB2-ACA3-589C-C001A0DE1979}"/>
              </a:ext>
            </a:extLst>
          </p:cNvPr>
          <p:cNvSpPr txBox="1"/>
          <p:nvPr/>
        </p:nvSpPr>
        <p:spPr>
          <a:xfrm>
            <a:off x="168275" y="1779687"/>
            <a:ext cx="4990544" cy="4524315"/>
          </a:xfrm>
          <a:prstGeom prst="rect">
            <a:avLst/>
          </a:prstGeom>
          <a:noFill/>
        </p:spPr>
        <p:txBody>
          <a:bodyPr wrap="square" rtlCol="0">
            <a:spAutoFit/>
          </a:bodyPr>
          <a:lstStyle/>
          <a:p>
            <a:r>
              <a:rPr lang="en-IN" dirty="0"/>
              <a:t>ANS. The dataset given by Trainity had three csv files, users, events and email_events.</a:t>
            </a:r>
          </a:p>
          <a:p>
            <a:endParaRPr lang="en-IN" b="1" dirty="0"/>
          </a:p>
          <a:p>
            <a:r>
              <a:rPr lang="en-IN" b="1" dirty="0"/>
              <a:t>SQL code used</a:t>
            </a:r>
            <a:r>
              <a:rPr lang="en-IN" dirty="0"/>
              <a:t>:</a:t>
            </a:r>
          </a:p>
          <a:p>
            <a:r>
              <a:rPr lang="en-IN" dirty="0">
                <a:latin typeface="Calibri" panose="020F0502020204030204" pitchFamily="34" charset="0"/>
                <a:ea typeface="Calibri" panose="020F0502020204030204" pitchFamily="34" charset="0"/>
                <a:cs typeface="Calibri" panose="020F0502020204030204" pitchFamily="34" charset="0"/>
              </a:rPr>
              <a:t>Use operation_project3;</a:t>
            </a:r>
          </a:p>
          <a:p>
            <a:r>
              <a:rPr lang="en-IN" dirty="0">
                <a:latin typeface="Calibri" panose="020F0502020204030204" pitchFamily="34" charset="0"/>
                <a:ea typeface="Calibri" panose="020F0502020204030204" pitchFamily="34" charset="0"/>
                <a:cs typeface="Calibri" panose="020F0502020204030204" pitchFamily="34" charset="0"/>
              </a:rPr>
              <a:t>#Table 1 users </a:t>
            </a:r>
          </a:p>
          <a:p>
            <a:r>
              <a:rPr lang="en-IN" dirty="0">
                <a:latin typeface="Calibri" panose="020F0502020204030204" pitchFamily="34" charset="0"/>
                <a:ea typeface="Calibri" panose="020F0502020204030204" pitchFamily="34" charset="0"/>
                <a:cs typeface="Calibri" panose="020F0502020204030204" pitchFamily="34" charset="0"/>
              </a:rPr>
              <a:t>CREATE TABLE users;</a:t>
            </a:r>
          </a:p>
          <a:p>
            <a:r>
              <a:rPr lang="en-IN" dirty="0">
                <a:latin typeface="Calibri" panose="020F0502020204030204" pitchFamily="34" charset="0"/>
                <a:ea typeface="Calibri" panose="020F0502020204030204" pitchFamily="34" charset="0"/>
                <a:cs typeface="Calibri" panose="020F0502020204030204" pitchFamily="34" charset="0"/>
              </a:rPr>
              <a:t>user_id INT;</a:t>
            </a:r>
          </a:p>
          <a:p>
            <a:r>
              <a:rPr lang="en-IN" dirty="0">
                <a:latin typeface="Calibri" panose="020F0502020204030204" pitchFamily="34" charset="0"/>
                <a:ea typeface="Calibri" panose="020F0502020204030204" pitchFamily="34" charset="0"/>
                <a:cs typeface="Calibri" panose="020F0502020204030204" pitchFamily="34" charset="0"/>
              </a:rPr>
              <a:t>Created_at VARCHAR(100)</a:t>
            </a:r>
          </a:p>
          <a:p>
            <a:r>
              <a:rPr lang="en-IN" dirty="0">
                <a:latin typeface="Calibri" panose="020F0502020204030204" pitchFamily="34" charset="0"/>
                <a:ea typeface="Calibri" panose="020F0502020204030204" pitchFamily="34" charset="0"/>
                <a:cs typeface="Calibri" panose="020F0502020204030204" pitchFamily="34" charset="0"/>
              </a:rPr>
              <a:t>Company_id INT,</a:t>
            </a:r>
          </a:p>
          <a:p>
            <a:r>
              <a:rPr lang="en-IN" dirty="0">
                <a:latin typeface="Calibri" panose="020F0502020204030204" pitchFamily="34" charset="0"/>
                <a:ea typeface="Calibri" panose="020F0502020204030204" pitchFamily="34" charset="0"/>
                <a:cs typeface="Calibri" panose="020F0502020204030204" pitchFamily="34" charset="0"/>
              </a:rPr>
              <a:t>lang VARCHAR(70),</a:t>
            </a:r>
          </a:p>
          <a:p>
            <a:r>
              <a:rPr lang="en-IN" dirty="0">
                <a:latin typeface="Calibri" panose="020F0502020204030204" pitchFamily="34" charset="0"/>
                <a:ea typeface="Calibri" panose="020F0502020204030204" pitchFamily="34" charset="0"/>
                <a:cs typeface="Calibri" panose="020F0502020204030204" pitchFamily="34" charset="0"/>
              </a:rPr>
              <a:t>activated_at VARCHAR(100),</a:t>
            </a:r>
          </a:p>
          <a:p>
            <a:r>
              <a:rPr lang="en-IN" dirty="0">
                <a:latin typeface="Calibri" panose="020F0502020204030204" pitchFamily="34" charset="0"/>
                <a:ea typeface="Calibri" panose="020F0502020204030204" pitchFamily="34" charset="0"/>
                <a:cs typeface="Calibri" panose="020F0502020204030204" pitchFamily="34" charset="0"/>
              </a:rPr>
              <a:t>state VARCHAR(60) );</a:t>
            </a:r>
          </a:p>
          <a:p>
            <a:r>
              <a:rPr lang="en-IN" dirty="0">
                <a:latin typeface="Calibri" panose="020F0502020204030204" pitchFamily="34" charset="0"/>
                <a:ea typeface="Calibri" panose="020F0502020204030204" pitchFamily="34" charset="0"/>
                <a:cs typeface="Calibri" panose="020F0502020204030204" pitchFamily="34" charset="0"/>
              </a:rPr>
              <a:t>SHOW VARIABLES LIKE 'SECURE_FILE_PRIV’;</a:t>
            </a:r>
          </a:p>
          <a:p>
            <a:r>
              <a:rPr lang="en-IN" dirty="0">
                <a:latin typeface="Calibri" panose="020F0502020204030204" pitchFamily="34" charset="0"/>
                <a:ea typeface="Calibri" panose="020F0502020204030204" pitchFamily="34" charset="0"/>
                <a:cs typeface="Calibri" panose="020F0502020204030204" pitchFamily="34" charset="0"/>
              </a:rPr>
              <a:t>LOAD DATA INFILE "C:/ProgramData/MySQL/MySQL Server 8.0/Uploads/users.csv"</a:t>
            </a:r>
          </a:p>
        </p:txBody>
      </p:sp>
      <p:sp>
        <p:nvSpPr>
          <p:cNvPr id="8" name="TextBox 7">
            <a:extLst>
              <a:ext uri="{FF2B5EF4-FFF2-40B4-BE49-F238E27FC236}">
                <a16:creationId xmlns:a16="http://schemas.microsoft.com/office/drawing/2014/main" id="{730F8933-C41D-6121-6838-86BC34729EE4}"/>
              </a:ext>
            </a:extLst>
          </p:cNvPr>
          <p:cNvSpPr txBox="1"/>
          <p:nvPr/>
        </p:nvSpPr>
        <p:spPr>
          <a:xfrm>
            <a:off x="11799734" y="6450402"/>
            <a:ext cx="505904" cy="369332"/>
          </a:xfrm>
          <a:prstGeom prst="rect">
            <a:avLst/>
          </a:prstGeom>
          <a:noFill/>
        </p:spPr>
        <p:txBody>
          <a:bodyPr wrap="square" rtlCol="0">
            <a:spAutoFit/>
          </a:bodyPr>
          <a:lstStyle/>
          <a:p>
            <a:r>
              <a:rPr lang="en-IN" dirty="0">
                <a:solidFill>
                  <a:schemeClr val="bg1"/>
                </a:solidFill>
              </a:rPr>
              <a:t>13</a:t>
            </a:r>
          </a:p>
        </p:txBody>
      </p:sp>
    </p:spTree>
    <p:extLst>
      <p:ext uri="{BB962C8B-B14F-4D97-AF65-F5344CB8AC3E}">
        <p14:creationId xmlns:p14="http://schemas.microsoft.com/office/powerpoint/2010/main" val="314240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3420-E768-326C-F43B-99189115C63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9F6F094-3D02-1694-DD36-A132FDA52F87}"/>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D550DDDD-E805-2F7C-0691-CEDF8E7009DD}"/>
              </a:ext>
            </a:extLst>
          </p:cNvPr>
          <p:cNvPicPr>
            <a:picLocks noChangeAspect="1"/>
          </p:cNvPicPr>
          <p:nvPr/>
        </p:nvPicPr>
        <p:blipFill>
          <a:blip r:embed="rId3"/>
          <a:stretch>
            <a:fillRect/>
          </a:stretch>
        </p:blipFill>
        <p:spPr>
          <a:xfrm>
            <a:off x="0" y="0"/>
            <a:ext cx="12192000" cy="577333"/>
          </a:xfrm>
          <a:prstGeom prst="rect">
            <a:avLst/>
          </a:prstGeom>
        </p:spPr>
      </p:pic>
      <p:sp>
        <p:nvSpPr>
          <p:cNvPr id="8" name="TextBox 7">
            <a:extLst>
              <a:ext uri="{FF2B5EF4-FFF2-40B4-BE49-F238E27FC236}">
                <a16:creationId xmlns:a16="http://schemas.microsoft.com/office/drawing/2014/main" id="{24B5C28F-0B26-8774-2285-B43AB01D0B20}"/>
              </a:ext>
            </a:extLst>
          </p:cNvPr>
          <p:cNvSpPr txBox="1"/>
          <p:nvPr/>
        </p:nvSpPr>
        <p:spPr>
          <a:xfrm>
            <a:off x="6096000" y="1292583"/>
            <a:ext cx="5718928" cy="5355312"/>
          </a:xfrm>
          <a:prstGeom prst="rect">
            <a:avLst/>
          </a:prstGeom>
          <a:noFill/>
        </p:spPr>
        <p:txBody>
          <a:bodyPr wrap="square">
            <a:spAutoFit/>
          </a:bodyPr>
          <a:lstStyle/>
          <a:p>
            <a:r>
              <a:rPr lang="en-IN" dirty="0">
                <a:latin typeface="Calibri" panose="020F0502020204030204" pitchFamily="34" charset="0"/>
                <a:ea typeface="Calibri" panose="020F0502020204030204" pitchFamily="34" charset="0"/>
                <a:cs typeface="Calibri" panose="020F0502020204030204" pitchFamily="34" charset="0"/>
              </a:rPr>
              <a:t>LOAD DATA INFILE "C:/ProgramData/MySQL/MySQL Server 8.0/Uploads/events.csv"</a:t>
            </a:r>
          </a:p>
          <a:p>
            <a:r>
              <a:rPr lang="en-IN" dirty="0">
                <a:latin typeface="Calibri" panose="020F0502020204030204" pitchFamily="34" charset="0"/>
                <a:ea typeface="Calibri" panose="020F0502020204030204" pitchFamily="34" charset="0"/>
                <a:cs typeface="Calibri" panose="020F0502020204030204" pitchFamily="34" charset="0"/>
              </a:rPr>
              <a:t>INTO TABLE events</a:t>
            </a:r>
          </a:p>
          <a:p>
            <a:r>
              <a:rPr lang="en-IN" dirty="0">
                <a:latin typeface="Calibri" panose="020F0502020204030204" pitchFamily="34" charset="0"/>
                <a:ea typeface="Calibri" panose="020F0502020204030204" pitchFamily="34" charset="0"/>
                <a:cs typeface="Calibri" panose="020F0502020204030204" pitchFamily="34" charset="0"/>
              </a:rPr>
              <a:t>FIELDS TERMINATED BY ','</a:t>
            </a:r>
          </a:p>
          <a:p>
            <a:r>
              <a:rPr lang="en-IN" dirty="0">
                <a:latin typeface="Calibri" panose="020F0502020204030204" pitchFamily="34" charset="0"/>
                <a:ea typeface="Calibri" panose="020F0502020204030204" pitchFamily="34" charset="0"/>
                <a:cs typeface="Calibri" panose="020F0502020204030204" pitchFamily="34" charset="0"/>
              </a:rPr>
              <a:t>OPTIONALLY ENCLOSED BY '"'</a:t>
            </a:r>
          </a:p>
          <a:p>
            <a:r>
              <a:rPr lang="en-IN" dirty="0">
                <a:latin typeface="Calibri" panose="020F0502020204030204" pitchFamily="34" charset="0"/>
                <a:ea typeface="Calibri" panose="020F0502020204030204" pitchFamily="34" charset="0"/>
                <a:cs typeface="Calibri" panose="020F0502020204030204" pitchFamily="34" charset="0"/>
              </a:rPr>
              <a:t>LINES TERMINATED BY '\r\n'</a:t>
            </a:r>
          </a:p>
          <a:p>
            <a:r>
              <a:rPr lang="en-IN" dirty="0">
                <a:latin typeface="Calibri" panose="020F0502020204030204" pitchFamily="34" charset="0"/>
                <a:ea typeface="Calibri" panose="020F0502020204030204" pitchFamily="34" charset="0"/>
                <a:cs typeface="Calibri" panose="020F0502020204030204" pitchFamily="34" charset="0"/>
              </a:rPr>
              <a:t>IGNORE 1 ROWS;</a:t>
            </a:r>
          </a:p>
          <a:p>
            <a:r>
              <a:rPr lang="en-IN" dirty="0">
                <a:latin typeface="Calibri" panose="020F0502020204030204" pitchFamily="34" charset="0"/>
                <a:ea typeface="Calibri" panose="020F0502020204030204" pitchFamily="34" charset="0"/>
                <a:cs typeface="Calibri" panose="020F0502020204030204" pitchFamily="34" charset="0"/>
              </a:rPr>
              <a:t>SELECT * FROM events;</a:t>
            </a:r>
          </a:p>
          <a:p>
            <a:r>
              <a:rPr lang="en-IN" dirty="0">
                <a:latin typeface="Calibri" panose="020F0502020204030204" pitchFamily="34" charset="0"/>
                <a:ea typeface="Calibri" panose="020F0502020204030204" pitchFamily="34" charset="0"/>
                <a:cs typeface="Calibri" panose="020F0502020204030204" pitchFamily="34" charset="0"/>
              </a:rPr>
              <a:t>-------# add temporary column temp_created_at------</a:t>
            </a:r>
          </a:p>
          <a:p>
            <a:r>
              <a:rPr lang="en-IN" dirty="0">
                <a:latin typeface="Calibri" panose="020F0502020204030204" pitchFamily="34" charset="0"/>
                <a:ea typeface="Calibri" panose="020F0502020204030204" pitchFamily="34" charset="0"/>
                <a:cs typeface="Calibri" panose="020F0502020204030204" pitchFamily="34" charset="0"/>
              </a:rPr>
              <a:t>ALTER TABLE events add column temp_occurred_at datetime;</a:t>
            </a:r>
          </a:p>
          <a:p>
            <a:r>
              <a:rPr lang="en-IN" dirty="0">
                <a:latin typeface="Calibri" panose="020F0502020204030204" pitchFamily="34" charset="0"/>
                <a:ea typeface="Calibri" panose="020F0502020204030204" pitchFamily="34" charset="0"/>
                <a:cs typeface="Calibri" panose="020F0502020204030204" pitchFamily="34" charset="0"/>
              </a:rPr>
              <a:t>#-----add data to the temporary column-----</a:t>
            </a:r>
          </a:p>
          <a:p>
            <a:r>
              <a:rPr lang="en-IN" dirty="0">
                <a:latin typeface="Calibri" panose="020F0502020204030204" pitchFamily="34" charset="0"/>
                <a:ea typeface="Calibri" panose="020F0502020204030204" pitchFamily="34" charset="0"/>
                <a:cs typeface="Calibri" panose="020F0502020204030204" pitchFamily="34" charset="0"/>
              </a:rPr>
              <a:t>SET SQL_SAFE_UPDATES = 0;</a:t>
            </a:r>
          </a:p>
          <a:p>
            <a:r>
              <a:rPr lang="en-IN" dirty="0">
                <a:latin typeface="Calibri" panose="020F0502020204030204" pitchFamily="34" charset="0"/>
                <a:ea typeface="Calibri" panose="020F0502020204030204" pitchFamily="34" charset="0"/>
                <a:cs typeface="Calibri" panose="020F0502020204030204" pitchFamily="34" charset="0"/>
              </a:rPr>
              <a:t>UPDATE events SET temp_occurred_at = STR_TO_DATE(occurred_at, '%d-%m-%Y %H:%i’);</a:t>
            </a:r>
          </a:p>
          <a:p>
            <a:r>
              <a:rPr lang="en-IN" dirty="0">
                <a:latin typeface="Calibri" panose="020F0502020204030204" pitchFamily="34" charset="0"/>
                <a:ea typeface="Calibri" panose="020F0502020204030204" pitchFamily="34" charset="0"/>
                <a:cs typeface="Calibri" panose="020F0502020204030204" pitchFamily="34" charset="0"/>
              </a:rPr>
              <a:t>SET SQL_SAFE_UPDATES = 1;</a:t>
            </a:r>
          </a:p>
          <a:p>
            <a:r>
              <a:rPr lang="en-IN" dirty="0">
                <a:latin typeface="Calibri" panose="020F0502020204030204" pitchFamily="34" charset="0"/>
                <a:ea typeface="Calibri" panose="020F0502020204030204" pitchFamily="34" charset="0"/>
                <a:cs typeface="Calibri" panose="020F0502020204030204" pitchFamily="34" charset="0"/>
              </a:rPr>
              <a:t> </a:t>
            </a:r>
          </a:p>
          <a:p>
            <a:r>
              <a:rPr lang="en-IN" dirty="0">
                <a:latin typeface="Calibri" panose="020F0502020204030204" pitchFamily="34" charset="0"/>
                <a:ea typeface="Calibri" panose="020F0502020204030204" pitchFamily="34" charset="0"/>
                <a:cs typeface="Calibri" panose="020F0502020204030204" pitchFamily="34" charset="0"/>
              </a:rPr>
              <a:t>#-----change column name from temp_created_at to created_at------</a:t>
            </a:r>
          </a:p>
        </p:txBody>
      </p:sp>
      <p:sp>
        <p:nvSpPr>
          <p:cNvPr id="9" name="TextBox 8">
            <a:extLst>
              <a:ext uri="{FF2B5EF4-FFF2-40B4-BE49-F238E27FC236}">
                <a16:creationId xmlns:a16="http://schemas.microsoft.com/office/drawing/2014/main" id="{E1915B9A-C8AF-3450-97C6-B1CB16F40954}"/>
              </a:ext>
            </a:extLst>
          </p:cNvPr>
          <p:cNvSpPr txBox="1"/>
          <p:nvPr/>
        </p:nvSpPr>
        <p:spPr>
          <a:xfrm>
            <a:off x="197964" y="1217168"/>
            <a:ext cx="5561813" cy="4524315"/>
          </a:xfrm>
          <a:prstGeom prst="rect">
            <a:avLst/>
          </a:prstGeom>
          <a:noFill/>
        </p:spPr>
        <p:txBody>
          <a:bodyPr wrap="square" rtlCol="0">
            <a:spAutoFit/>
          </a:bodyPr>
          <a:lstStyle/>
          <a:p>
            <a:r>
              <a:rPr lang="en-IN" b="1" dirty="0"/>
              <a:t>SQL code used (continued):</a:t>
            </a:r>
          </a:p>
          <a:p>
            <a:r>
              <a:rPr lang="en-IN" dirty="0">
                <a:latin typeface="Calibri" panose="020F0502020204030204" pitchFamily="34" charset="0"/>
                <a:ea typeface="Calibri" panose="020F0502020204030204" pitchFamily="34" charset="0"/>
                <a:cs typeface="Calibri" panose="020F0502020204030204" pitchFamily="34" charset="0"/>
              </a:rPr>
              <a:t>#-----change column name from temp_created_at to created_at------</a:t>
            </a:r>
          </a:p>
          <a:p>
            <a:r>
              <a:rPr lang="en-IN" dirty="0">
                <a:latin typeface="Calibri" panose="020F0502020204030204" pitchFamily="34" charset="0"/>
                <a:ea typeface="Calibri" panose="020F0502020204030204" pitchFamily="34" charset="0"/>
                <a:cs typeface="Calibri" panose="020F0502020204030204" pitchFamily="34" charset="0"/>
              </a:rPr>
              <a:t>ALTER TABLE users DROP COLUMN created_at;</a:t>
            </a:r>
          </a:p>
          <a:p>
            <a:r>
              <a:rPr lang="en-IN" dirty="0">
                <a:latin typeface="Calibri" panose="020F0502020204030204" pitchFamily="34" charset="0"/>
                <a:ea typeface="Calibri" panose="020F0502020204030204" pitchFamily="34" charset="0"/>
                <a:cs typeface="Calibri" panose="020F0502020204030204" pitchFamily="34" charset="0"/>
              </a:rPr>
              <a:t>ALTER TABLE users CHANGE COLUMN temp_created_at created_at DATETIME;</a:t>
            </a:r>
          </a:p>
          <a:p>
            <a:r>
              <a:rPr lang="en-IN" dirty="0">
                <a:latin typeface="Calibri" panose="020F0502020204030204" pitchFamily="34" charset="0"/>
                <a:ea typeface="Calibri" panose="020F0502020204030204" pitchFamily="34" charset="0"/>
                <a:cs typeface="Calibri" panose="020F0502020204030204" pitchFamily="34" charset="0"/>
              </a:rPr>
              <a:t>#####Table 2 Events-------</a:t>
            </a:r>
          </a:p>
          <a:p>
            <a:r>
              <a:rPr lang="en-IN" dirty="0">
                <a:latin typeface="Calibri" panose="020F0502020204030204" pitchFamily="34" charset="0"/>
                <a:ea typeface="Calibri" panose="020F0502020204030204" pitchFamily="34" charset="0"/>
                <a:cs typeface="Calibri" panose="020F0502020204030204" pitchFamily="34" charset="0"/>
              </a:rPr>
              <a:t>CREATE TABLE events(</a:t>
            </a:r>
          </a:p>
          <a:p>
            <a:r>
              <a:rPr lang="en-IN" dirty="0">
                <a:latin typeface="Calibri" panose="020F0502020204030204" pitchFamily="34" charset="0"/>
                <a:ea typeface="Calibri" panose="020F0502020204030204" pitchFamily="34" charset="0"/>
                <a:cs typeface="Calibri" panose="020F0502020204030204" pitchFamily="34" charset="0"/>
              </a:rPr>
              <a:t>user_id INT,</a:t>
            </a:r>
          </a:p>
          <a:p>
            <a:r>
              <a:rPr lang="en-IN" dirty="0">
                <a:latin typeface="Calibri" panose="020F0502020204030204" pitchFamily="34" charset="0"/>
                <a:ea typeface="Calibri" panose="020F0502020204030204" pitchFamily="34" charset="0"/>
                <a:cs typeface="Calibri" panose="020F0502020204030204" pitchFamily="34" charset="0"/>
              </a:rPr>
              <a:t>occurred_at VARCHAR(100),</a:t>
            </a:r>
          </a:p>
          <a:p>
            <a:r>
              <a:rPr lang="en-IN" dirty="0">
                <a:latin typeface="Calibri" panose="020F0502020204030204" pitchFamily="34" charset="0"/>
                <a:ea typeface="Calibri" panose="020F0502020204030204" pitchFamily="34" charset="0"/>
                <a:cs typeface="Calibri" panose="020F0502020204030204" pitchFamily="34" charset="0"/>
              </a:rPr>
              <a:t>event_type VARCHAR(50),</a:t>
            </a:r>
          </a:p>
          <a:p>
            <a:r>
              <a:rPr lang="en-IN" dirty="0">
                <a:latin typeface="Calibri" panose="020F0502020204030204" pitchFamily="34" charset="0"/>
                <a:ea typeface="Calibri" panose="020F0502020204030204" pitchFamily="34" charset="0"/>
                <a:cs typeface="Calibri" panose="020F0502020204030204" pitchFamily="34" charset="0"/>
              </a:rPr>
              <a:t>event_name VARCHAR(100),</a:t>
            </a:r>
          </a:p>
          <a:p>
            <a:r>
              <a:rPr lang="en-IN" dirty="0">
                <a:latin typeface="Calibri" panose="020F0502020204030204" pitchFamily="34" charset="0"/>
                <a:ea typeface="Calibri" panose="020F0502020204030204" pitchFamily="34" charset="0"/>
                <a:cs typeface="Calibri" panose="020F0502020204030204" pitchFamily="34" charset="0"/>
              </a:rPr>
              <a:t>location VARCHAR(50),</a:t>
            </a:r>
          </a:p>
          <a:p>
            <a:r>
              <a:rPr lang="en-IN" dirty="0">
                <a:latin typeface="Calibri" panose="020F0502020204030204" pitchFamily="34" charset="0"/>
                <a:ea typeface="Calibri" panose="020F0502020204030204" pitchFamily="34" charset="0"/>
                <a:cs typeface="Calibri" panose="020F0502020204030204" pitchFamily="34" charset="0"/>
              </a:rPr>
              <a:t>device VARCHAR(50),</a:t>
            </a:r>
          </a:p>
          <a:p>
            <a:r>
              <a:rPr lang="en-IN" dirty="0">
                <a:latin typeface="Calibri" panose="020F0502020204030204" pitchFamily="34" charset="0"/>
                <a:ea typeface="Calibri" panose="020F0502020204030204" pitchFamily="34" charset="0"/>
                <a:cs typeface="Calibri" panose="020F0502020204030204" pitchFamily="34" charset="0"/>
              </a:rPr>
              <a:t>user_type int</a:t>
            </a:r>
          </a:p>
          <a:p>
            <a:r>
              <a:rPr lang="en-IN" dirty="0">
                <a:latin typeface="Calibri" panose="020F0502020204030204" pitchFamily="34" charset="0"/>
                <a:ea typeface="Calibri" panose="020F0502020204030204" pitchFamily="34" charset="0"/>
                <a:cs typeface="Calibri" panose="020F0502020204030204" pitchFamily="34" charset="0"/>
              </a:rPr>
              <a:t>);	</a:t>
            </a:r>
          </a:p>
        </p:txBody>
      </p:sp>
      <p:pic>
        <p:nvPicPr>
          <p:cNvPr id="2" name="Picture 1">
            <a:extLst>
              <a:ext uri="{FF2B5EF4-FFF2-40B4-BE49-F238E27FC236}">
                <a16:creationId xmlns:a16="http://schemas.microsoft.com/office/drawing/2014/main" id="{17946314-D0D6-D4FC-9201-24E771930789}"/>
              </a:ext>
            </a:extLst>
          </p:cNvPr>
          <p:cNvPicPr>
            <a:picLocks noChangeAspect="1"/>
          </p:cNvPicPr>
          <p:nvPr/>
        </p:nvPicPr>
        <p:blipFill>
          <a:blip r:embed="rId4"/>
          <a:stretch>
            <a:fillRect/>
          </a:stretch>
        </p:blipFill>
        <p:spPr>
          <a:xfrm>
            <a:off x="0" y="897372"/>
            <a:ext cx="12192000" cy="167858"/>
          </a:xfrm>
          <a:prstGeom prst="rect">
            <a:avLst/>
          </a:prstGeom>
        </p:spPr>
      </p:pic>
      <p:sp>
        <p:nvSpPr>
          <p:cNvPr id="3" name="Freeform 1">
            <a:extLst>
              <a:ext uri="{FF2B5EF4-FFF2-40B4-BE49-F238E27FC236}">
                <a16:creationId xmlns:a16="http://schemas.microsoft.com/office/drawing/2014/main" id="{548060DB-5674-5E43-D72E-1DD073AE97E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AADC1ACC-00C9-7E75-AEFD-FA34A1C68734}"/>
              </a:ext>
            </a:extLst>
          </p:cNvPr>
          <p:cNvSpPr txBox="1"/>
          <p:nvPr/>
        </p:nvSpPr>
        <p:spPr>
          <a:xfrm>
            <a:off x="3011079" y="99304"/>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6CA78B3C-9623-4F5E-A89A-7C3906F5CEA0}"/>
              </a:ext>
            </a:extLst>
          </p:cNvPr>
          <p:cNvSpPr txBox="1"/>
          <p:nvPr/>
        </p:nvSpPr>
        <p:spPr>
          <a:xfrm>
            <a:off x="11814928" y="6476214"/>
            <a:ext cx="539068" cy="369332"/>
          </a:xfrm>
          <a:prstGeom prst="rect">
            <a:avLst/>
          </a:prstGeom>
          <a:noFill/>
        </p:spPr>
        <p:txBody>
          <a:bodyPr wrap="square" rtlCol="0">
            <a:spAutoFit/>
          </a:bodyPr>
          <a:lstStyle/>
          <a:p>
            <a:r>
              <a:rPr lang="en-IN" dirty="0">
                <a:solidFill>
                  <a:schemeClr val="bg1"/>
                </a:solidFill>
              </a:rPr>
              <a:t>14</a:t>
            </a:r>
          </a:p>
        </p:txBody>
      </p:sp>
    </p:spTree>
    <p:extLst>
      <p:ext uri="{BB962C8B-B14F-4D97-AF65-F5344CB8AC3E}">
        <p14:creationId xmlns:p14="http://schemas.microsoft.com/office/powerpoint/2010/main" val="584971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341D8-BE15-7EBD-A611-426B6AC689C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79A8A5-6417-5810-4F24-45655E02FC2F}"/>
              </a:ext>
            </a:extLst>
          </p:cNvPr>
          <p:cNvPicPr>
            <a:picLocks noChangeAspect="1"/>
          </p:cNvPicPr>
          <p:nvPr/>
        </p:nvPicPr>
        <p:blipFill>
          <a:blip r:embed="rId2"/>
          <a:stretch>
            <a:fillRect/>
          </a:stretch>
        </p:blipFill>
        <p:spPr>
          <a:xfrm>
            <a:off x="0" y="1"/>
            <a:ext cx="12192000" cy="577332"/>
          </a:xfrm>
          <a:prstGeom prst="rect">
            <a:avLst/>
          </a:prstGeom>
        </p:spPr>
      </p:pic>
      <p:pic>
        <p:nvPicPr>
          <p:cNvPr id="5" name="Picture 4">
            <a:extLst>
              <a:ext uri="{FF2B5EF4-FFF2-40B4-BE49-F238E27FC236}">
                <a16:creationId xmlns:a16="http://schemas.microsoft.com/office/drawing/2014/main" id="{6C561F37-74FA-5108-6038-67E9A720598D}"/>
              </a:ext>
            </a:extLst>
          </p:cNvPr>
          <p:cNvPicPr>
            <a:picLocks noChangeAspect="1"/>
          </p:cNvPicPr>
          <p:nvPr/>
        </p:nvPicPr>
        <p:blipFill>
          <a:blip r:embed="rId3"/>
          <a:stretch>
            <a:fillRect/>
          </a:stretch>
        </p:blipFill>
        <p:spPr>
          <a:xfrm>
            <a:off x="0" y="0"/>
            <a:ext cx="12192000" cy="577333"/>
          </a:xfrm>
          <a:prstGeom prst="rect">
            <a:avLst/>
          </a:prstGeom>
        </p:spPr>
      </p:pic>
      <p:sp>
        <p:nvSpPr>
          <p:cNvPr id="8" name="TextBox 7">
            <a:extLst>
              <a:ext uri="{FF2B5EF4-FFF2-40B4-BE49-F238E27FC236}">
                <a16:creationId xmlns:a16="http://schemas.microsoft.com/office/drawing/2014/main" id="{39BC6C69-CC0C-6137-C95C-CF164DAF76BA}"/>
              </a:ext>
            </a:extLst>
          </p:cNvPr>
          <p:cNvSpPr txBox="1"/>
          <p:nvPr/>
        </p:nvSpPr>
        <p:spPr>
          <a:xfrm>
            <a:off x="6096000" y="1292583"/>
            <a:ext cx="5718928" cy="4524315"/>
          </a:xfrm>
          <a:prstGeom prst="rect">
            <a:avLst/>
          </a:prstGeom>
          <a:noFill/>
        </p:spPr>
        <p:txBody>
          <a:bodyPr wrap="square">
            <a:spAutoFit/>
          </a:bodyPr>
          <a:lstStyle/>
          <a:p>
            <a:r>
              <a:rPr lang="en-IN" dirty="0">
                <a:latin typeface="Calibri" panose="020F0502020204030204" pitchFamily="34" charset="0"/>
                <a:ea typeface="Calibri" panose="020F0502020204030204" pitchFamily="34" charset="0"/>
                <a:cs typeface="Calibri" panose="020F0502020204030204" pitchFamily="34" charset="0"/>
              </a:rPr>
              <a:t>SELECT * FROM email_events;</a:t>
            </a:r>
          </a:p>
          <a:p>
            <a:r>
              <a:rPr lang="en-IN" dirty="0">
                <a:latin typeface="Calibri" panose="020F0502020204030204" pitchFamily="34" charset="0"/>
                <a:ea typeface="Calibri" panose="020F0502020204030204" pitchFamily="34" charset="0"/>
                <a:cs typeface="Calibri" panose="020F0502020204030204" pitchFamily="34" charset="0"/>
              </a:rPr>
              <a:t>-------# add temporary column temp_created_at------</a:t>
            </a:r>
          </a:p>
          <a:p>
            <a:r>
              <a:rPr lang="en-IN" dirty="0">
                <a:latin typeface="Calibri" panose="020F0502020204030204" pitchFamily="34" charset="0"/>
                <a:ea typeface="Calibri" panose="020F0502020204030204" pitchFamily="34" charset="0"/>
                <a:cs typeface="Calibri" panose="020F0502020204030204" pitchFamily="34" charset="0"/>
              </a:rPr>
              <a:t>ALTER TABLE email_events add column temp_occurred_at datetime;</a:t>
            </a:r>
          </a:p>
          <a:p>
            <a:r>
              <a:rPr lang="en-IN" dirty="0">
                <a:latin typeface="Calibri" panose="020F0502020204030204" pitchFamily="34" charset="0"/>
                <a:ea typeface="Calibri" panose="020F0502020204030204" pitchFamily="34" charset="0"/>
                <a:cs typeface="Calibri" panose="020F0502020204030204" pitchFamily="34" charset="0"/>
              </a:rPr>
              <a:t> #-----add data to the temporary column-----</a:t>
            </a:r>
          </a:p>
          <a:p>
            <a:r>
              <a:rPr lang="en-IN" dirty="0">
                <a:latin typeface="Calibri" panose="020F0502020204030204" pitchFamily="34" charset="0"/>
                <a:ea typeface="Calibri" panose="020F0502020204030204" pitchFamily="34" charset="0"/>
                <a:cs typeface="Calibri" panose="020F0502020204030204" pitchFamily="34" charset="0"/>
              </a:rPr>
              <a:t> SET SQL_SAFE_UPDATES = 0;</a:t>
            </a:r>
          </a:p>
          <a:p>
            <a:r>
              <a:rPr lang="en-IN" dirty="0">
                <a:latin typeface="Calibri" panose="020F0502020204030204" pitchFamily="34" charset="0"/>
                <a:ea typeface="Calibri" panose="020F0502020204030204" pitchFamily="34" charset="0"/>
                <a:cs typeface="Calibri" panose="020F0502020204030204" pitchFamily="34" charset="0"/>
              </a:rPr>
              <a:t>UPDATE email_events SET temp_occurred_at = STR_TO_DATE(occurred_at, '%d-%m-%Y %H:%i');</a:t>
            </a:r>
          </a:p>
          <a:p>
            <a:r>
              <a:rPr lang="en-IN" dirty="0">
                <a:latin typeface="Calibri" panose="020F0502020204030204" pitchFamily="34" charset="0"/>
                <a:ea typeface="Calibri" panose="020F0502020204030204" pitchFamily="34" charset="0"/>
                <a:cs typeface="Calibri" panose="020F0502020204030204" pitchFamily="34" charset="0"/>
              </a:rPr>
              <a:t>SET SQL_SAFE_UPDATES = 1;</a:t>
            </a:r>
          </a:p>
          <a:p>
            <a:r>
              <a:rPr lang="en-IN" dirty="0">
                <a:latin typeface="Calibri" panose="020F0502020204030204" pitchFamily="34" charset="0"/>
                <a:ea typeface="Calibri" panose="020F0502020204030204" pitchFamily="34" charset="0"/>
                <a:cs typeface="Calibri" panose="020F0502020204030204" pitchFamily="34" charset="0"/>
              </a:rPr>
              <a:t>#-----change column name from temp_created_at to created_at------</a:t>
            </a:r>
          </a:p>
          <a:p>
            <a:r>
              <a:rPr lang="en-IN" dirty="0">
                <a:latin typeface="Calibri" panose="020F0502020204030204" pitchFamily="34" charset="0"/>
                <a:ea typeface="Calibri" panose="020F0502020204030204" pitchFamily="34" charset="0"/>
                <a:cs typeface="Calibri" panose="020F0502020204030204" pitchFamily="34" charset="0"/>
              </a:rPr>
              <a:t>ALTER TABLE email_events DROP COLUMN occurred_at;</a:t>
            </a:r>
          </a:p>
          <a:p>
            <a:r>
              <a:rPr lang="en-IN" dirty="0">
                <a:latin typeface="Calibri" panose="020F0502020204030204" pitchFamily="34" charset="0"/>
                <a:ea typeface="Calibri" panose="020F0502020204030204" pitchFamily="34" charset="0"/>
                <a:cs typeface="Calibri" panose="020F0502020204030204" pitchFamily="34" charset="0"/>
              </a:rPr>
              <a:t>ALTER TABLE email_events CHANGE COLUMN temp_occurred_at occurred_at DATETIME;</a:t>
            </a:r>
          </a:p>
          <a:p>
            <a:endParaRPr lang="en-IN" dirty="0"/>
          </a:p>
          <a:p>
            <a:endParaRPr lang="en-IN" dirty="0"/>
          </a:p>
        </p:txBody>
      </p:sp>
      <p:sp>
        <p:nvSpPr>
          <p:cNvPr id="9" name="TextBox 8">
            <a:extLst>
              <a:ext uri="{FF2B5EF4-FFF2-40B4-BE49-F238E27FC236}">
                <a16:creationId xmlns:a16="http://schemas.microsoft.com/office/drawing/2014/main" id="{B9507790-7851-0589-5095-71EA18667E47}"/>
              </a:ext>
            </a:extLst>
          </p:cNvPr>
          <p:cNvSpPr txBox="1"/>
          <p:nvPr/>
        </p:nvSpPr>
        <p:spPr>
          <a:xfrm>
            <a:off x="226244" y="1157001"/>
            <a:ext cx="5561813" cy="5078313"/>
          </a:xfrm>
          <a:prstGeom prst="rect">
            <a:avLst/>
          </a:prstGeom>
          <a:noFill/>
        </p:spPr>
        <p:txBody>
          <a:bodyPr wrap="square" rtlCol="0">
            <a:spAutoFit/>
          </a:bodyPr>
          <a:lstStyle/>
          <a:p>
            <a:r>
              <a:rPr lang="en-IN" b="1" dirty="0"/>
              <a:t>SQL code used (continued):</a:t>
            </a:r>
          </a:p>
          <a:p>
            <a:r>
              <a:rPr lang="en-IN" dirty="0">
                <a:latin typeface="Calibri" panose="020F0502020204030204" pitchFamily="34" charset="0"/>
                <a:ea typeface="Calibri" panose="020F0502020204030204" pitchFamily="34" charset="0"/>
                <a:cs typeface="Calibri" panose="020F0502020204030204" pitchFamily="34" charset="0"/>
              </a:rPr>
              <a:t>ALTER TABLE events DROP COLUMN occurred_at;</a:t>
            </a:r>
          </a:p>
          <a:p>
            <a:r>
              <a:rPr lang="en-IN" dirty="0">
                <a:latin typeface="Calibri" panose="020F0502020204030204" pitchFamily="34" charset="0"/>
                <a:ea typeface="Calibri" panose="020F0502020204030204" pitchFamily="34" charset="0"/>
                <a:cs typeface="Calibri" panose="020F0502020204030204" pitchFamily="34" charset="0"/>
              </a:rPr>
              <a:t> ALTER TABLE events CHANGE COLUMN temp_occurred_at occurred_at DATETIME;</a:t>
            </a:r>
          </a:p>
          <a:p>
            <a:r>
              <a:rPr lang="en-IN" dirty="0">
                <a:latin typeface="Calibri" panose="020F0502020204030204" pitchFamily="34" charset="0"/>
                <a:ea typeface="Calibri" panose="020F0502020204030204" pitchFamily="34" charset="0"/>
                <a:cs typeface="Calibri" panose="020F0502020204030204" pitchFamily="34" charset="0"/>
              </a:rPr>
              <a:t> </a:t>
            </a:r>
          </a:p>
          <a:p>
            <a:r>
              <a:rPr lang="en-IN" dirty="0">
                <a:latin typeface="Calibri" panose="020F0502020204030204" pitchFamily="34" charset="0"/>
                <a:ea typeface="Calibri" panose="020F0502020204030204" pitchFamily="34" charset="0"/>
                <a:cs typeface="Calibri" panose="020F0502020204030204" pitchFamily="34" charset="0"/>
              </a:rPr>
              <a:t>#####Table 3 email_events-----</a:t>
            </a:r>
          </a:p>
          <a:p>
            <a:r>
              <a:rPr lang="en-IN" dirty="0">
                <a:latin typeface="Calibri" panose="020F0502020204030204" pitchFamily="34" charset="0"/>
                <a:ea typeface="Calibri" panose="020F0502020204030204" pitchFamily="34" charset="0"/>
                <a:cs typeface="Calibri" panose="020F0502020204030204" pitchFamily="34" charset="0"/>
              </a:rPr>
              <a:t>CREATE TABLE email_events(</a:t>
            </a:r>
          </a:p>
          <a:p>
            <a:r>
              <a:rPr lang="en-IN" dirty="0">
                <a:latin typeface="Calibri" panose="020F0502020204030204" pitchFamily="34" charset="0"/>
                <a:ea typeface="Calibri" panose="020F0502020204030204" pitchFamily="34" charset="0"/>
                <a:cs typeface="Calibri" panose="020F0502020204030204" pitchFamily="34" charset="0"/>
              </a:rPr>
              <a:t>user_id INT,</a:t>
            </a:r>
          </a:p>
          <a:p>
            <a:r>
              <a:rPr lang="en-IN" dirty="0">
                <a:latin typeface="Calibri" panose="020F0502020204030204" pitchFamily="34" charset="0"/>
                <a:ea typeface="Calibri" panose="020F0502020204030204" pitchFamily="34" charset="0"/>
                <a:cs typeface="Calibri" panose="020F0502020204030204" pitchFamily="34" charset="0"/>
              </a:rPr>
              <a:t>occurred_at VARCHAR(100),</a:t>
            </a:r>
          </a:p>
          <a:p>
            <a:r>
              <a:rPr lang="en-IN" dirty="0">
                <a:latin typeface="Calibri" panose="020F0502020204030204" pitchFamily="34" charset="0"/>
                <a:ea typeface="Calibri" panose="020F0502020204030204" pitchFamily="34" charset="0"/>
                <a:cs typeface="Calibri" panose="020F0502020204030204" pitchFamily="34" charset="0"/>
              </a:rPr>
              <a:t>action VARCHAR(100),</a:t>
            </a:r>
          </a:p>
          <a:p>
            <a:r>
              <a:rPr lang="en-IN" dirty="0">
                <a:latin typeface="Calibri" panose="020F0502020204030204" pitchFamily="34" charset="0"/>
                <a:ea typeface="Calibri" panose="020F0502020204030204" pitchFamily="34" charset="0"/>
                <a:cs typeface="Calibri" panose="020F0502020204030204" pitchFamily="34" charset="0"/>
              </a:rPr>
              <a:t>user_type INT );</a:t>
            </a:r>
          </a:p>
          <a:p>
            <a:r>
              <a:rPr lang="en-IN" dirty="0">
                <a:latin typeface="Calibri" panose="020F0502020204030204" pitchFamily="34" charset="0"/>
                <a:ea typeface="Calibri" panose="020F0502020204030204" pitchFamily="34" charset="0"/>
                <a:cs typeface="Calibri" panose="020F0502020204030204" pitchFamily="34" charset="0"/>
              </a:rPr>
              <a:t>LOAD DATA INFILE "C:/ProgramData/MySQL/MySQL Server 8.0/Uploads/email_events.csv"</a:t>
            </a:r>
          </a:p>
          <a:p>
            <a:r>
              <a:rPr lang="en-IN" dirty="0">
                <a:latin typeface="Calibri" panose="020F0502020204030204" pitchFamily="34" charset="0"/>
                <a:ea typeface="Calibri" panose="020F0502020204030204" pitchFamily="34" charset="0"/>
                <a:cs typeface="Calibri" panose="020F0502020204030204" pitchFamily="34" charset="0"/>
              </a:rPr>
              <a:t>INTO TABLE email_events</a:t>
            </a:r>
          </a:p>
          <a:p>
            <a:r>
              <a:rPr lang="en-IN" dirty="0">
                <a:latin typeface="Calibri" panose="020F0502020204030204" pitchFamily="34" charset="0"/>
                <a:ea typeface="Calibri" panose="020F0502020204030204" pitchFamily="34" charset="0"/>
                <a:cs typeface="Calibri" panose="020F0502020204030204" pitchFamily="34" charset="0"/>
              </a:rPr>
              <a:t>FIELDS TERMINATED BY ','</a:t>
            </a:r>
          </a:p>
          <a:p>
            <a:r>
              <a:rPr lang="en-IN" dirty="0">
                <a:latin typeface="Calibri" panose="020F0502020204030204" pitchFamily="34" charset="0"/>
                <a:ea typeface="Calibri" panose="020F0502020204030204" pitchFamily="34" charset="0"/>
                <a:cs typeface="Calibri" panose="020F0502020204030204" pitchFamily="34" charset="0"/>
              </a:rPr>
              <a:t>OPTIONALLY ENCLOSED BY '"'</a:t>
            </a:r>
          </a:p>
          <a:p>
            <a:r>
              <a:rPr lang="en-IN" dirty="0">
                <a:latin typeface="Calibri" panose="020F0502020204030204" pitchFamily="34" charset="0"/>
                <a:ea typeface="Calibri" panose="020F0502020204030204" pitchFamily="34" charset="0"/>
                <a:cs typeface="Calibri" panose="020F0502020204030204" pitchFamily="34" charset="0"/>
              </a:rPr>
              <a:t>LINES TERMINATED BY '\r\n'</a:t>
            </a:r>
          </a:p>
          <a:p>
            <a:r>
              <a:rPr lang="en-IN" dirty="0">
                <a:latin typeface="Calibri" panose="020F0502020204030204" pitchFamily="34" charset="0"/>
                <a:ea typeface="Calibri" panose="020F0502020204030204" pitchFamily="34" charset="0"/>
                <a:cs typeface="Calibri" panose="020F0502020204030204" pitchFamily="34" charset="0"/>
              </a:rPr>
              <a:t>IGNORE 1 ROWS;</a:t>
            </a:r>
          </a:p>
        </p:txBody>
      </p:sp>
      <p:pic>
        <p:nvPicPr>
          <p:cNvPr id="2" name="Picture 1">
            <a:extLst>
              <a:ext uri="{FF2B5EF4-FFF2-40B4-BE49-F238E27FC236}">
                <a16:creationId xmlns:a16="http://schemas.microsoft.com/office/drawing/2014/main" id="{787CFEA2-D566-B654-E0C6-1D3A56172752}"/>
              </a:ext>
            </a:extLst>
          </p:cNvPr>
          <p:cNvPicPr>
            <a:picLocks noChangeAspect="1"/>
          </p:cNvPicPr>
          <p:nvPr/>
        </p:nvPicPr>
        <p:blipFill>
          <a:blip r:embed="rId4"/>
          <a:stretch>
            <a:fillRect/>
          </a:stretch>
        </p:blipFill>
        <p:spPr>
          <a:xfrm>
            <a:off x="0" y="897372"/>
            <a:ext cx="12192000" cy="167858"/>
          </a:xfrm>
          <a:prstGeom prst="rect">
            <a:avLst/>
          </a:prstGeom>
        </p:spPr>
      </p:pic>
      <p:sp>
        <p:nvSpPr>
          <p:cNvPr id="3" name="Freeform 1">
            <a:extLst>
              <a:ext uri="{FF2B5EF4-FFF2-40B4-BE49-F238E27FC236}">
                <a16:creationId xmlns:a16="http://schemas.microsoft.com/office/drawing/2014/main" id="{CB3974B9-05FF-2D58-C359-9A60A9DA2EFD}"/>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7DC809BB-6C70-3FE2-152C-ABD01FB5724B}"/>
              </a:ext>
            </a:extLst>
          </p:cNvPr>
          <p:cNvSpPr txBox="1"/>
          <p:nvPr/>
        </p:nvSpPr>
        <p:spPr>
          <a:xfrm>
            <a:off x="2703136" y="104000"/>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4BD9E149-33FF-821F-4C1B-737E34560E3F}"/>
              </a:ext>
            </a:extLst>
          </p:cNvPr>
          <p:cNvSpPr txBox="1"/>
          <p:nvPr/>
        </p:nvSpPr>
        <p:spPr>
          <a:xfrm>
            <a:off x="11814928" y="6450402"/>
            <a:ext cx="637512" cy="369332"/>
          </a:xfrm>
          <a:prstGeom prst="rect">
            <a:avLst/>
          </a:prstGeom>
          <a:noFill/>
        </p:spPr>
        <p:txBody>
          <a:bodyPr wrap="square" rtlCol="0">
            <a:spAutoFit/>
          </a:bodyPr>
          <a:lstStyle/>
          <a:p>
            <a:r>
              <a:rPr lang="en-IN" dirty="0">
                <a:solidFill>
                  <a:schemeClr val="bg1"/>
                </a:solidFill>
              </a:rPr>
              <a:t>15</a:t>
            </a:r>
          </a:p>
        </p:txBody>
      </p:sp>
    </p:spTree>
    <p:extLst>
      <p:ext uri="{BB962C8B-B14F-4D97-AF65-F5344CB8AC3E}">
        <p14:creationId xmlns:p14="http://schemas.microsoft.com/office/powerpoint/2010/main" val="2743184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07140-0BFC-D8AD-1D38-00E8709708E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3AD0E22-CF5E-719D-39B9-CA4339B4D7AA}"/>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CB5D685A-6167-546D-0687-E88EC0E23BC6}"/>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57128A5C-AB50-990D-BAD5-4A48BF14C53E}"/>
              </a:ext>
            </a:extLst>
          </p:cNvPr>
          <p:cNvSpPr txBox="1"/>
          <p:nvPr/>
        </p:nvSpPr>
        <p:spPr>
          <a:xfrm>
            <a:off x="118783" y="2137020"/>
            <a:ext cx="10659034" cy="3785652"/>
          </a:xfrm>
          <a:prstGeom prst="rect">
            <a:avLst/>
          </a:prstGeom>
          <a:noFill/>
        </p:spPr>
        <p:txBody>
          <a:bodyPr wrap="square" rtlCol="0">
            <a:spAutoFit/>
          </a:bodyPr>
          <a:lstStyle/>
          <a:p>
            <a:r>
              <a:rPr lang="en-IN" dirty="0"/>
              <a:t> ANS. </a:t>
            </a:r>
            <a:r>
              <a:rPr lang="en-IN" b="1" dirty="0"/>
              <a:t>SQL CODE used:</a:t>
            </a:r>
          </a:p>
          <a:p>
            <a:endParaRPr lang="en-IN" dirty="0"/>
          </a:p>
          <a:p>
            <a:endParaRPr lang="en-IN" dirty="0"/>
          </a:p>
          <a:p>
            <a:r>
              <a:rPr lang="en-IN" sz="2800" dirty="0">
                <a:latin typeface="Calibri" panose="020F0502020204030204" pitchFamily="34" charset="0"/>
                <a:ea typeface="Calibri" panose="020F0502020204030204" pitchFamily="34" charset="0"/>
                <a:cs typeface="Calibri" panose="020F0502020204030204" pitchFamily="34" charset="0"/>
              </a:rPr>
              <a:t>Select  EXTRACT(WEEK FROM occurred_at) AS week_num,</a:t>
            </a:r>
          </a:p>
          <a:p>
            <a:r>
              <a:rPr lang="en-IN" sz="2800" dirty="0">
                <a:latin typeface="Calibri" panose="020F0502020204030204" pitchFamily="34" charset="0"/>
                <a:ea typeface="Calibri" panose="020F0502020204030204" pitchFamily="34" charset="0"/>
                <a:cs typeface="Calibri" panose="020F0502020204030204" pitchFamily="34" charset="0"/>
              </a:rPr>
              <a:t>	COUNT(DISTINCT user_id) AS active_users</a:t>
            </a:r>
          </a:p>
          <a:p>
            <a:r>
              <a:rPr lang="en-IN" sz="2800" dirty="0">
                <a:latin typeface="Calibri" panose="020F0502020204030204" pitchFamily="34" charset="0"/>
                <a:ea typeface="Calibri" panose="020F0502020204030204" pitchFamily="34" charset="0"/>
                <a:cs typeface="Calibri" panose="020F0502020204030204" pitchFamily="34" charset="0"/>
              </a:rPr>
              <a:t>FROM events</a:t>
            </a:r>
          </a:p>
          <a:p>
            <a:r>
              <a:rPr lang="en-IN" sz="2800" dirty="0">
                <a:latin typeface="Calibri" panose="020F0502020204030204" pitchFamily="34" charset="0"/>
                <a:ea typeface="Calibri" panose="020F0502020204030204" pitchFamily="34" charset="0"/>
                <a:cs typeface="Calibri" panose="020F0502020204030204" pitchFamily="34" charset="0"/>
              </a:rPr>
              <a:t>WHERE event_type = 'engagement’</a:t>
            </a:r>
          </a:p>
          <a:p>
            <a:r>
              <a:rPr lang="en-IN" sz="2800" dirty="0">
                <a:latin typeface="Calibri" panose="020F0502020204030204" pitchFamily="34" charset="0"/>
                <a:ea typeface="Calibri" panose="020F0502020204030204" pitchFamily="34" charset="0"/>
                <a:cs typeface="Calibri" panose="020F0502020204030204" pitchFamily="34" charset="0"/>
              </a:rPr>
              <a:t>GROUP BY week_num</a:t>
            </a:r>
          </a:p>
          <a:p>
            <a:r>
              <a:rPr lang="en-IN" sz="2800" dirty="0">
                <a:latin typeface="Calibri" panose="020F0502020204030204" pitchFamily="34" charset="0"/>
                <a:ea typeface="Calibri" panose="020F0502020204030204" pitchFamily="34" charset="0"/>
                <a:cs typeface="Calibri" panose="020F0502020204030204" pitchFamily="34" charset="0"/>
              </a:rPr>
              <a:t>ORDER BY week_num;</a:t>
            </a:r>
          </a:p>
          <a:p>
            <a:endParaRPr lang="en-IN" b="1" dirty="0"/>
          </a:p>
        </p:txBody>
      </p:sp>
      <p:pic>
        <p:nvPicPr>
          <p:cNvPr id="2" name="Picture 1">
            <a:extLst>
              <a:ext uri="{FF2B5EF4-FFF2-40B4-BE49-F238E27FC236}">
                <a16:creationId xmlns:a16="http://schemas.microsoft.com/office/drawing/2014/main" id="{88FC55B2-50B1-6E07-E44B-F2F069E8E762}"/>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E93F64AD-C4C8-F6BA-19C5-948DC71BD4B2}"/>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extBox 3">
            <a:extLst>
              <a:ext uri="{FF2B5EF4-FFF2-40B4-BE49-F238E27FC236}">
                <a16:creationId xmlns:a16="http://schemas.microsoft.com/office/drawing/2014/main" id="{E945E2AD-4259-B46B-F59E-97408BC56369}"/>
              </a:ext>
            </a:extLst>
          </p:cNvPr>
          <p:cNvSpPr txBox="1"/>
          <p:nvPr/>
        </p:nvSpPr>
        <p:spPr>
          <a:xfrm>
            <a:off x="348791" y="-16904"/>
            <a:ext cx="11114203" cy="707886"/>
          </a:xfrm>
          <a:prstGeom prst="rect">
            <a:avLst/>
          </a:prstGeom>
          <a:noFill/>
        </p:spPr>
        <p:txBody>
          <a:bodyPr wrap="square" rtlCol="0">
            <a:spAutoFit/>
          </a:bodyPr>
          <a:lstStyle/>
          <a:p>
            <a:pPr algn="ctr"/>
            <a:r>
              <a:rPr lang="en-US" sz="4000" b="1" u="sng" dirty="0">
                <a:solidFill>
                  <a:schemeClr val="bg1"/>
                </a:solidFill>
              </a:rPr>
              <a:t>Case Study 2: Investigating Metric Spike</a:t>
            </a:r>
            <a:endParaRPr lang="en-IN" sz="4000" b="1" u="sng" dirty="0">
              <a:solidFill>
                <a:schemeClr val="bg1"/>
              </a:solidFill>
            </a:endParaRPr>
          </a:p>
        </p:txBody>
      </p:sp>
      <p:sp>
        <p:nvSpPr>
          <p:cNvPr id="7" name="TextBox 6">
            <a:extLst>
              <a:ext uri="{FF2B5EF4-FFF2-40B4-BE49-F238E27FC236}">
                <a16:creationId xmlns:a16="http://schemas.microsoft.com/office/drawing/2014/main" id="{9D9A96F4-3504-A955-ABBB-3BBD843008F5}"/>
              </a:ext>
            </a:extLst>
          </p:cNvPr>
          <p:cNvSpPr txBox="1"/>
          <p:nvPr/>
        </p:nvSpPr>
        <p:spPr>
          <a:xfrm>
            <a:off x="443929" y="936691"/>
            <a:ext cx="11304141" cy="1200329"/>
          </a:xfrm>
          <a:prstGeom prst="rect">
            <a:avLst/>
          </a:prstGeom>
          <a:noFill/>
        </p:spPr>
        <p:txBody>
          <a:bodyPr wrap="square" rtlCol="0">
            <a:spAutoFit/>
          </a:bodyPr>
          <a:lstStyle/>
          <a:p>
            <a:r>
              <a:rPr lang="en-IN" dirty="0">
                <a:solidFill>
                  <a:schemeClr val="bg1"/>
                </a:solidFill>
              </a:rPr>
              <a:t>TASK A. </a:t>
            </a:r>
            <a:r>
              <a:rPr lang="en-IN" b="1" dirty="0">
                <a:solidFill>
                  <a:schemeClr val="bg1"/>
                </a:solidFill>
              </a:rPr>
              <a:t>WEEKLY USER ENGAGEMENT</a:t>
            </a:r>
          </a:p>
          <a:p>
            <a:r>
              <a:rPr lang="en-US" dirty="0">
                <a:solidFill>
                  <a:schemeClr val="bg1"/>
                </a:solidFill>
              </a:rPr>
              <a:t>Objective: Measure the activeness of users on a weekly basis.</a:t>
            </a:r>
          </a:p>
          <a:p>
            <a:r>
              <a:rPr lang="en-US" dirty="0">
                <a:solidFill>
                  <a:schemeClr val="bg1"/>
                </a:solidFill>
              </a:rPr>
              <a:t>Your Task: Write an SQL query to calculate the weekly user engagement.</a:t>
            </a:r>
          </a:p>
          <a:p>
            <a:endParaRPr lang="en-IN" dirty="0"/>
          </a:p>
        </p:txBody>
      </p:sp>
      <p:sp>
        <p:nvSpPr>
          <p:cNvPr id="8" name="TextBox 7">
            <a:extLst>
              <a:ext uri="{FF2B5EF4-FFF2-40B4-BE49-F238E27FC236}">
                <a16:creationId xmlns:a16="http://schemas.microsoft.com/office/drawing/2014/main" id="{F64E3A1E-7736-7D1C-6583-739310AA163E}"/>
              </a:ext>
            </a:extLst>
          </p:cNvPr>
          <p:cNvSpPr txBox="1"/>
          <p:nvPr/>
        </p:nvSpPr>
        <p:spPr>
          <a:xfrm>
            <a:off x="11843209" y="6419654"/>
            <a:ext cx="515331" cy="369332"/>
          </a:xfrm>
          <a:prstGeom prst="rect">
            <a:avLst/>
          </a:prstGeom>
          <a:noFill/>
        </p:spPr>
        <p:txBody>
          <a:bodyPr wrap="square" rtlCol="0">
            <a:spAutoFit/>
          </a:bodyPr>
          <a:lstStyle/>
          <a:p>
            <a:r>
              <a:rPr lang="en-IN" dirty="0">
                <a:solidFill>
                  <a:schemeClr val="bg1"/>
                </a:solidFill>
              </a:rPr>
              <a:t>16</a:t>
            </a:r>
          </a:p>
        </p:txBody>
      </p:sp>
    </p:spTree>
    <p:extLst>
      <p:ext uri="{BB962C8B-B14F-4D97-AF65-F5344CB8AC3E}">
        <p14:creationId xmlns:p14="http://schemas.microsoft.com/office/powerpoint/2010/main" val="1758189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E955F-749A-0323-E0DA-9208417A525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3120206-610C-481C-D685-4983A16C96C3}"/>
              </a:ext>
            </a:extLst>
          </p:cNvPr>
          <p:cNvPicPr>
            <a:picLocks noChangeAspect="1"/>
          </p:cNvPicPr>
          <p:nvPr/>
        </p:nvPicPr>
        <p:blipFill>
          <a:blip r:embed="rId2"/>
          <a:stretch>
            <a:fillRect/>
          </a:stretch>
        </p:blipFill>
        <p:spPr>
          <a:xfrm>
            <a:off x="0" y="0"/>
            <a:ext cx="12192000" cy="508843"/>
          </a:xfrm>
          <a:prstGeom prst="rect">
            <a:avLst/>
          </a:prstGeom>
        </p:spPr>
      </p:pic>
      <p:pic>
        <p:nvPicPr>
          <p:cNvPr id="5" name="Picture 4">
            <a:extLst>
              <a:ext uri="{FF2B5EF4-FFF2-40B4-BE49-F238E27FC236}">
                <a16:creationId xmlns:a16="http://schemas.microsoft.com/office/drawing/2014/main" id="{31CE2255-B8A7-2F1E-E5E0-FEECBEA7310E}"/>
              </a:ext>
            </a:extLst>
          </p:cNvPr>
          <p:cNvPicPr>
            <a:picLocks noChangeAspect="1"/>
          </p:cNvPicPr>
          <p:nvPr/>
        </p:nvPicPr>
        <p:blipFill>
          <a:blip r:embed="rId3"/>
          <a:stretch>
            <a:fillRect/>
          </a:stretch>
        </p:blipFill>
        <p:spPr>
          <a:xfrm>
            <a:off x="0" y="1"/>
            <a:ext cx="12192000" cy="508842"/>
          </a:xfrm>
          <a:prstGeom prst="rect">
            <a:avLst/>
          </a:prstGeom>
        </p:spPr>
      </p:pic>
      <p:sp>
        <p:nvSpPr>
          <p:cNvPr id="9" name="TextBox 8">
            <a:extLst>
              <a:ext uri="{FF2B5EF4-FFF2-40B4-BE49-F238E27FC236}">
                <a16:creationId xmlns:a16="http://schemas.microsoft.com/office/drawing/2014/main" id="{BB532C7E-D86D-87D3-B062-18D3D78CD4BC}"/>
              </a:ext>
            </a:extLst>
          </p:cNvPr>
          <p:cNvSpPr txBox="1"/>
          <p:nvPr/>
        </p:nvSpPr>
        <p:spPr>
          <a:xfrm>
            <a:off x="175344" y="1614421"/>
            <a:ext cx="5103666" cy="3139321"/>
          </a:xfrm>
          <a:prstGeom prst="rect">
            <a:avLst/>
          </a:prstGeom>
          <a:noFill/>
        </p:spPr>
        <p:txBody>
          <a:bodyPr wrap="square" rtlCol="0">
            <a:sp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In the </a:t>
            </a:r>
            <a:r>
              <a:rPr lang="en-IN" sz="3600" u="sng" dirty="0">
                <a:latin typeface="Calibri" panose="020F0502020204030204" pitchFamily="34" charset="0"/>
                <a:ea typeface="Calibri" panose="020F0502020204030204" pitchFamily="34" charset="0"/>
                <a:cs typeface="Calibri" panose="020F0502020204030204" pitchFamily="34" charset="0"/>
              </a:rPr>
              <a:t>output</a:t>
            </a:r>
            <a:r>
              <a:rPr lang="en-IN" sz="3600" dirty="0">
                <a:latin typeface="Calibri" panose="020F0502020204030204" pitchFamily="34" charset="0"/>
                <a:ea typeface="Calibri" panose="020F0502020204030204" pitchFamily="34" charset="0"/>
                <a:cs typeface="Calibri" panose="020F0502020204030204" pitchFamily="34" charset="0"/>
              </a:rPr>
              <a:t> obtained, we can observe that various weeks have different amount of active users.</a:t>
            </a:r>
          </a:p>
          <a:p>
            <a:endParaRPr lang="en-IN" b="1" dirty="0"/>
          </a:p>
        </p:txBody>
      </p:sp>
      <p:pic>
        <p:nvPicPr>
          <p:cNvPr id="2" name="Picture 1">
            <a:extLst>
              <a:ext uri="{FF2B5EF4-FFF2-40B4-BE49-F238E27FC236}">
                <a16:creationId xmlns:a16="http://schemas.microsoft.com/office/drawing/2014/main" id="{F153B19D-7F6D-8EFE-930C-5F4813605471}"/>
              </a:ext>
            </a:extLst>
          </p:cNvPr>
          <p:cNvPicPr>
            <a:picLocks noChangeAspect="1"/>
          </p:cNvPicPr>
          <p:nvPr/>
        </p:nvPicPr>
        <p:blipFill>
          <a:blip r:embed="rId4"/>
          <a:stretch>
            <a:fillRect/>
          </a:stretch>
        </p:blipFill>
        <p:spPr>
          <a:xfrm>
            <a:off x="0" y="654050"/>
            <a:ext cx="12192000" cy="785149"/>
          </a:xfrm>
          <a:prstGeom prst="rect">
            <a:avLst/>
          </a:prstGeom>
        </p:spPr>
      </p:pic>
      <p:sp>
        <p:nvSpPr>
          <p:cNvPr id="3" name="Freeform 1">
            <a:extLst>
              <a:ext uri="{FF2B5EF4-FFF2-40B4-BE49-F238E27FC236}">
                <a16:creationId xmlns:a16="http://schemas.microsoft.com/office/drawing/2014/main" id="{BBBA61F1-2930-6DB7-8580-264D7DF3822F}"/>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439344D5-F81E-91E0-2000-C6E8A183FA7D}"/>
              </a:ext>
            </a:extLst>
          </p:cNvPr>
          <p:cNvSpPr txBox="1"/>
          <p:nvPr/>
        </p:nvSpPr>
        <p:spPr>
          <a:xfrm>
            <a:off x="443929" y="714221"/>
            <a:ext cx="11304141" cy="984885"/>
          </a:xfrm>
          <a:prstGeom prst="rect">
            <a:avLst/>
          </a:prstGeom>
          <a:noFill/>
        </p:spPr>
        <p:txBody>
          <a:bodyPr wrap="square" rtlCol="0">
            <a:spAutoFit/>
          </a:bodyPr>
          <a:lstStyle/>
          <a:p>
            <a:pPr algn="ctr"/>
            <a:r>
              <a:rPr lang="en-IN" sz="4000" dirty="0">
                <a:solidFill>
                  <a:schemeClr val="bg1"/>
                </a:solidFill>
              </a:rPr>
              <a:t>OUTPUT IN MySQL Workbench</a:t>
            </a:r>
            <a:endParaRPr lang="en-US" sz="4000" dirty="0">
              <a:solidFill>
                <a:schemeClr val="bg1"/>
              </a:solidFill>
            </a:endParaRPr>
          </a:p>
          <a:p>
            <a:endParaRPr lang="en-IN" dirty="0"/>
          </a:p>
        </p:txBody>
      </p:sp>
      <p:pic>
        <p:nvPicPr>
          <p:cNvPr id="10" name="Picture 9">
            <a:extLst>
              <a:ext uri="{FF2B5EF4-FFF2-40B4-BE49-F238E27FC236}">
                <a16:creationId xmlns:a16="http://schemas.microsoft.com/office/drawing/2014/main" id="{B804EA6D-1834-777D-AAFD-1EF7DECA18FA}"/>
              </a:ext>
            </a:extLst>
          </p:cNvPr>
          <p:cNvPicPr>
            <a:picLocks noChangeAspect="1"/>
          </p:cNvPicPr>
          <p:nvPr/>
        </p:nvPicPr>
        <p:blipFill>
          <a:blip r:embed="rId5"/>
          <a:stretch>
            <a:fillRect/>
          </a:stretch>
        </p:blipFill>
        <p:spPr>
          <a:xfrm>
            <a:off x="7191039" y="1499370"/>
            <a:ext cx="2754240" cy="5363521"/>
          </a:xfrm>
          <a:prstGeom prst="rect">
            <a:avLst/>
          </a:prstGeom>
        </p:spPr>
      </p:pic>
      <p:sp>
        <p:nvSpPr>
          <p:cNvPr id="11" name="Arrow: Right 10">
            <a:extLst>
              <a:ext uri="{FF2B5EF4-FFF2-40B4-BE49-F238E27FC236}">
                <a16:creationId xmlns:a16="http://schemas.microsoft.com/office/drawing/2014/main" id="{68729A1F-9CC3-1044-6E91-153990F7EF30}"/>
              </a:ext>
            </a:extLst>
          </p:cNvPr>
          <p:cNvSpPr/>
          <p:nvPr/>
        </p:nvSpPr>
        <p:spPr>
          <a:xfrm>
            <a:off x="5360273" y="2185750"/>
            <a:ext cx="1640264" cy="48076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BEA1DFA2-500D-9BAC-2BB1-AFD3C8C79089}"/>
              </a:ext>
            </a:extLst>
          </p:cNvPr>
          <p:cNvSpPr txBox="1"/>
          <p:nvPr/>
        </p:nvSpPr>
        <p:spPr>
          <a:xfrm>
            <a:off x="3011078" y="24811"/>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FD92E255-6962-3F02-9B60-65BFC6DEB172}"/>
              </a:ext>
            </a:extLst>
          </p:cNvPr>
          <p:cNvSpPr txBox="1"/>
          <p:nvPr/>
        </p:nvSpPr>
        <p:spPr>
          <a:xfrm>
            <a:off x="11793449" y="6450402"/>
            <a:ext cx="518474" cy="369332"/>
          </a:xfrm>
          <a:prstGeom prst="rect">
            <a:avLst/>
          </a:prstGeom>
          <a:noFill/>
        </p:spPr>
        <p:txBody>
          <a:bodyPr wrap="square" rtlCol="0">
            <a:spAutoFit/>
          </a:bodyPr>
          <a:lstStyle/>
          <a:p>
            <a:r>
              <a:rPr lang="en-IN" dirty="0">
                <a:solidFill>
                  <a:schemeClr val="bg1"/>
                </a:solidFill>
              </a:rPr>
              <a:t>17</a:t>
            </a:r>
          </a:p>
        </p:txBody>
      </p:sp>
    </p:spTree>
    <p:extLst>
      <p:ext uri="{BB962C8B-B14F-4D97-AF65-F5344CB8AC3E}">
        <p14:creationId xmlns:p14="http://schemas.microsoft.com/office/powerpoint/2010/main" val="2681760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CDDA3-E415-1DBA-0DA0-D82C2CD9DD9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4B7832D-118D-45A0-D045-A17E8DD77C9F}"/>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1550B934-5A01-4E10-D160-223C2C66915A}"/>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AE66FAA1-0B31-EBE4-6A36-9B1B50ACF887}"/>
              </a:ext>
            </a:extLst>
          </p:cNvPr>
          <p:cNvSpPr txBox="1"/>
          <p:nvPr/>
        </p:nvSpPr>
        <p:spPr>
          <a:xfrm>
            <a:off x="118783" y="2137020"/>
            <a:ext cx="10659034" cy="3970318"/>
          </a:xfrm>
          <a:prstGeom prst="rect">
            <a:avLst/>
          </a:prstGeom>
          <a:noFill/>
        </p:spPr>
        <p:txBody>
          <a:bodyPr wrap="square" rtlCol="0">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From the table, the </a:t>
            </a:r>
            <a:r>
              <a:rPr lang="en-IN" sz="2800" b="1" dirty="0">
                <a:latin typeface="Calibri" panose="020F0502020204030204" pitchFamily="34" charset="0"/>
                <a:ea typeface="Calibri" panose="020F0502020204030204" pitchFamily="34" charset="0"/>
                <a:cs typeface="Calibri" panose="020F0502020204030204" pitchFamily="34" charset="0"/>
              </a:rPr>
              <a:t>week number 30 </a:t>
            </a:r>
            <a:r>
              <a:rPr lang="en-IN" sz="2800" dirty="0">
                <a:latin typeface="Calibri" panose="020F0502020204030204" pitchFamily="34" charset="0"/>
                <a:ea typeface="Calibri" panose="020F0502020204030204" pitchFamily="34" charset="0"/>
                <a:cs typeface="Calibri" panose="020F0502020204030204" pitchFamily="34" charset="0"/>
              </a:rPr>
              <a:t>has </a:t>
            </a:r>
            <a:r>
              <a:rPr lang="en-IN" sz="2800" b="1" dirty="0">
                <a:latin typeface="Calibri" panose="020F0502020204030204" pitchFamily="34" charset="0"/>
                <a:ea typeface="Calibri" panose="020F0502020204030204" pitchFamily="34" charset="0"/>
                <a:cs typeface="Calibri" panose="020F0502020204030204" pitchFamily="34" charset="0"/>
              </a:rPr>
              <a:t>maximum number of active users</a:t>
            </a:r>
            <a:r>
              <a:rPr lang="en-IN" sz="2800" dirty="0">
                <a:latin typeface="Calibri" panose="020F0502020204030204" pitchFamily="34" charset="0"/>
                <a:ea typeface="Calibri" panose="020F0502020204030204" pitchFamily="34" charset="0"/>
                <a:cs typeface="Calibri" panose="020F0502020204030204" pitchFamily="34" charset="0"/>
              </a:rPr>
              <a:t> which is </a:t>
            </a:r>
            <a:r>
              <a:rPr lang="en-IN" sz="2800" b="1" u="sng" dirty="0">
                <a:latin typeface="Calibri" panose="020F0502020204030204" pitchFamily="34" charset="0"/>
                <a:ea typeface="Calibri" panose="020F0502020204030204" pitchFamily="34" charset="0"/>
                <a:cs typeface="Calibri" panose="020F0502020204030204" pitchFamily="34" charset="0"/>
              </a:rPr>
              <a:t>1,467</a:t>
            </a:r>
            <a:r>
              <a:rPr lang="en-IN" sz="2800" dirty="0">
                <a:latin typeface="Calibri" panose="020F0502020204030204" pitchFamily="34" charset="0"/>
                <a:ea typeface="Calibri" panose="020F0502020204030204" pitchFamily="34" charset="0"/>
                <a:cs typeface="Calibri" panose="020F0502020204030204" pitchFamily="34" charset="0"/>
              </a:rPr>
              <a:t>. It can indicate that any marketing campaign might have increased the user engagement. On the other hand, week no. 35 has least amount of active users, this might indicate that the impact of previous campaign started decreasing and the company needs to improve it’s user engagement.</a:t>
            </a:r>
          </a:p>
          <a:p>
            <a:r>
              <a:rPr lang="en-IN" sz="2800" dirty="0">
                <a:latin typeface="Calibri" panose="020F0502020204030204" pitchFamily="34" charset="0"/>
                <a:ea typeface="Calibri" panose="020F0502020204030204" pitchFamily="34" charset="0"/>
                <a:cs typeface="Calibri" panose="020F0502020204030204" pitchFamily="34" charset="0"/>
              </a:rPr>
              <a:t>In this way, analysing active users per week can help the company to find out innovative ways to keep the users engaged and also increase the amount of active users.</a:t>
            </a:r>
          </a:p>
        </p:txBody>
      </p:sp>
      <p:pic>
        <p:nvPicPr>
          <p:cNvPr id="2" name="Picture 1">
            <a:extLst>
              <a:ext uri="{FF2B5EF4-FFF2-40B4-BE49-F238E27FC236}">
                <a16:creationId xmlns:a16="http://schemas.microsoft.com/office/drawing/2014/main" id="{5FB0B467-A5B0-7BC6-A1CC-F3429305CD79}"/>
              </a:ext>
            </a:extLst>
          </p:cNvPr>
          <p:cNvPicPr>
            <a:picLocks noChangeAspect="1"/>
          </p:cNvPicPr>
          <p:nvPr/>
        </p:nvPicPr>
        <p:blipFill>
          <a:blip r:embed="rId4"/>
          <a:stretch>
            <a:fillRect/>
          </a:stretch>
        </p:blipFill>
        <p:spPr>
          <a:xfrm>
            <a:off x="0" y="930358"/>
            <a:ext cx="12192000" cy="700480"/>
          </a:xfrm>
          <a:prstGeom prst="rect">
            <a:avLst/>
          </a:prstGeom>
        </p:spPr>
      </p:pic>
      <p:sp>
        <p:nvSpPr>
          <p:cNvPr id="3" name="Freeform 1">
            <a:extLst>
              <a:ext uri="{FF2B5EF4-FFF2-40B4-BE49-F238E27FC236}">
                <a16:creationId xmlns:a16="http://schemas.microsoft.com/office/drawing/2014/main" id="{E0A2D11A-8AA0-CB96-509A-B29E6CEE9A61}"/>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3F3B61F4-2379-BE2E-F337-DF99BF4BF6FE}"/>
              </a:ext>
            </a:extLst>
          </p:cNvPr>
          <p:cNvSpPr txBox="1"/>
          <p:nvPr/>
        </p:nvSpPr>
        <p:spPr>
          <a:xfrm>
            <a:off x="443929" y="936691"/>
            <a:ext cx="11304141" cy="923330"/>
          </a:xfrm>
          <a:prstGeom prst="rect">
            <a:avLst/>
          </a:prstGeom>
          <a:noFill/>
        </p:spPr>
        <p:txBody>
          <a:bodyPr wrap="square" rtlCol="0">
            <a:spAutoFit/>
          </a:bodyPr>
          <a:lstStyle/>
          <a:p>
            <a:pPr algn="ctr"/>
            <a:r>
              <a:rPr lang="en-US" sz="3600" dirty="0">
                <a:solidFill>
                  <a:schemeClr val="bg1"/>
                </a:solidFill>
              </a:rPr>
              <a:t>Key Observations from Weekly user engagement </a:t>
            </a:r>
          </a:p>
          <a:p>
            <a:endParaRPr lang="en-IN" dirty="0"/>
          </a:p>
        </p:txBody>
      </p:sp>
      <p:sp>
        <p:nvSpPr>
          <p:cNvPr id="10" name="TextBox 9">
            <a:extLst>
              <a:ext uri="{FF2B5EF4-FFF2-40B4-BE49-F238E27FC236}">
                <a16:creationId xmlns:a16="http://schemas.microsoft.com/office/drawing/2014/main" id="{30284A49-15A6-ABC0-2803-AEE1CC3F44C5}"/>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F179FD94-1C6F-EB2D-5CF4-58BB740D1100}"/>
              </a:ext>
            </a:extLst>
          </p:cNvPr>
          <p:cNvSpPr txBox="1"/>
          <p:nvPr/>
        </p:nvSpPr>
        <p:spPr>
          <a:xfrm>
            <a:off x="11783152" y="6450402"/>
            <a:ext cx="539068" cy="369332"/>
          </a:xfrm>
          <a:prstGeom prst="rect">
            <a:avLst/>
          </a:prstGeom>
          <a:noFill/>
        </p:spPr>
        <p:txBody>
          <a:bodyPr wrap="square" rtlCol="0">
            <a:spAutoFit/>
          </a:bodyPr>
          <a:lstStyle/>
          <a:p>
            <a:r>
              <a:rPr lang="en-IN" dirty="0">
                <a:solidFill>
                  <a:schemeClr val="bg1"/>
                </a:solidFill>
              </a:rPr>
              <a:t>18</a:t>
            </a:r>
          </a:p>
        </p:txBody>
      </p:sp>
    </p:spTree>
    <p:extLst>
      <p:ext uri="{BB962C8B-B14F-4D97-AF65-F5344CB8AC3E}">
        <p14:creationId xmlns:p14="http://schemas.microsoft.com/office/powerpoint/2010/main" val="3001663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684DE-D76B-759F-0FB8-A2892E3789D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B6ACDCD-B1C6-936B-8817-8CCC6D84E5A3}"/>
              </a:ext>
            </a:extLst>
          </p:cNvPr>
          <p:cNvPicPr>
            <a:picLocks noChangeAspect="1"/>
          </p:cNvPicPr>
          <p:nvPr/>
        </p:nvPicPr>
        <p:blipFill>
          <a:blip r:embed="rId2"/>
          <a:stretch>
            <a:fillRect/>
          </a:stretch>
        </p:blipFill>
        <p:spPr>
          <a:xfrm>
            <a:off x="0" y="0"/>
            <a:ext cx="12192000" cy="481609"/>
          </a:xfrm>
          <a:prstGeom prst="rect">
            <a:avLst/>
          </a:prstGeom>
        </p:spPr>
      </p:pic>
      <p:pic>
        <p:nvPicPr>
          <p:cNvPr id="5" name="Picture 4">
            <a:extLst>
              <a:ext uri="{FF2B5EF4-FFF2-40B4-BE49-F238E27FC236}">
                <a16:creationId xmlns:a16="http://schemas.microsoft.com/office/drawing/2014/main" id="{21825FAF-E840-0874-2607-1E867A077E6B}"/>
              </a:ext>
            </a:extLst>
          </p:cNvPr>
          <p:cNvPicPr>
            <a:picLocks noChangeAspect="1"/>
          </p:cNvPicPr>
          <p:nvPr/>
        </p:nvPicPr>
        <p:blipFill>
          <a:blip r:embed="rId3"/>
          <a:stretch>
            <a:fillRect/>
          </a:stretch>
        </p:blipFill>
        <p:spPr>
          <a:xfrm>
            <a:off x="0" y="1"/>
            <a:ext cx="12192000" cy="481609"/>
          </a:xfrm>
          <a:prstGeom prst="rect">
            <a:avLst/>
          </a:prstGeom>
        </p:spPr>
      </p:pic>
      <p:sp>
        <p:nvSpPr>
          <p:cNvPr id="9" name="TextBox 8">
            <a:extLst>
              <a:ext uri="{FF2B5EF4-FFF2-40B4-BE49-F238E27FC236}">
                <a16:creationId xmlns:a16="http://schemas.microsoft.com/office/drawing/2014/main" id="{16CA4052-CFFC-344D-145B-8B078BEAAE90}"/>
              </a:ext>
            </a:extLst>
          </p:cNvPr>
          <p:cNvSpPr txBox="1"/>
          <p:nvPr/>
        </p:nvSpPr>
        <p:spPr>
          <a:xfrm>
            <a:off x="147064" y="1727245"/>
            <a:ext cx="6102907" cy="4247317"/>
          </a:xfrm>
          <a:prstGeom prst="rect">
            <a:avLst/>
          </a:prstGeom>
          <a:noFill/>
        </p:spPr>
        <p:txBody>
          <a:bodyPr wrap="square" rtlCol="0">
            <a:spAutoFit/>
          </a:bodyPr>
          <a:lstStyle/>
          <a:p>
            <a:r>
              <a:rPr lang="en-IN" dirty="0"/>
              <a:t> ANS. </a:t>
            </a:r>
            <a:r>
              <a:rPr lang="en-IN" b="1" dirty="0"/>
              <a:t>SQL CODE used:</a:t>
            </a:r>
          </a:p>
          <a:p>
            <a:endParaRPr lang="en-IN" dirty="0"/>
          </a:p>
          <a:p>
            <a:r>
              <a:rPr lang="en-IN" dirty="0"/>
              <a:t>#</a:t>
            </a:r>
            <a:r>
              <a:rPr lang="en-IN" dirty="0">
                <a:latin typeface="Calibri" panose="020F0502020204030204" pitchFamily="34" charset="0"/>
                <a:ea typeface="Calibri" panose="020F0502020204030204" pitchFamily="34" charset="0"/>
                <a:cs typeface="Calibri" panose="020F0502020204030204" pitchFamily="34" charset="0"/>
              </a:rPr>
              <a:t>Task User Growth Analysis</a:t>
            </a:r>
          </a:p>
          <a:p>
            <a:r>
              <a:rPr lang="en-IN" dirty="0">
                <a:latin typeface="Calibri" panose="020F0502020204030204" pitchFamily="34" charset="0"/>
                <a:ea typeface="Calibri" panose="020F0502020204030204" pitchFamily="34" charset="0"/>
                <a:cs typeface="Calibri" panose="020F0502020204030204" pitchFamily="34" charset="0"/>
              </a:rPr>
              <a:t>SELECT COUNT(*) FROM users</a:t>
            </a:r>
          </a:p>
          <a:p>
            <a:r>
              <a:rPr lang="en-IN" dirty="0">
                <a:latin typeface="Calibri" panose="020F0502020204030204" pitchFamily="34" charset="0"/>
                <a:ea typeface="Calibri" panose="020F0502020204030204" pitchFamily="34" charset="0"/>
                <a:cs typeface="Calibri" panose="020F0502020204030204" pitchFamily="34" charset="0"/>
              </a:rPr>
              <a:t>WHERE state = 'active';</a:t>
            </a:r>
          </a:p>
          <a:p>
            <a:r>
              <a:rPr lang="en-IN" dirty="0">
                <a:latin typeface="Calibri" panose="020F0502020204030204" pitchFamily="34" charset="0"/>
                <a:ea typeface="Calibri" panose="020F0502020204030204" pitchFamily="34" charset="0"/>
                <a:cs typeface="Calibri" panose="020F0502020204030204" pitchFamily="34" charset="0"/>
              </a:rPr>
              <a:t>SELECT DISTINCT state FROM users;</a:t>
            </a:r>
          </a:p>
          <a:p>
            <a:r>
              <a:rPr lang="en-IN" dirty="0">
                <a:latin typeface="Calibri" panose="020F0502020204030204" pitchFamily="34" charset="0"/>
                <a:ea typeface="Calibri" panose="020F0502020204030204" pitchFamily="34" charset="0"/>
                <a:cs typeface="Calibri" panose="020F0502020204030204" pitchFamily="34" charset="0"/>
              </a:rPr>
              <a:t>WITH weekly_active_users AS (</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SELECT </a:t>
            </a:r>
          </a:p>
          <a:p>
            <a:r>
              <a:rPr lang="en-IN" dirty="0">
                <a:latin typeface="Calibri" panose="020F0502020204030204" pitchFamily="34" charset="0"/>
                <a:ea typeface="Calibri" panose="020F0502020204030204" pitchFamily="34" charset="0"/>
                <a:cs typeface="Calibri" panose="020F0502020204030204" pitchFamily="34" charset="0"/>
              </a:rPr>
              <a:t>	EXTRACT(YEAR FROM created_at) AS year,</a:t>
            </a:r>
          </a:p>
          <a:p>
            <a:r>
              <a:rPr lang="en-IN" dirty="0">
                <a:latin typeface="Calibri" panose="020F0502020204030204" pitchFamily="34" charset="0"/>
                <a:ea typeface="Calibri" panose="020F0502020204030204" pitchFamily="34" charset="0"/>
                <a:cs typeface="Calibri" panose="020F0502020204030204" pitchFamily="34" charset="0"/>
              </a:rPr>
              <a:t>	EXTRACT(WEEK FROM created_at) AS week_number,</a:t>
            </a:r>
          </a:p>
          <a:p>
            <a:r>
              <a:rPr lang="en-IN" dirty="0">
                <a:latin typeface="Calibri" panose="020F0502020204030204" pitchFamily="34" charset="0"/>
                <a:ea typeface="Calibri" panose="020F0502020204030204" pitchFamily="34" charset="0"/>
                <a:cs typeface="Calibri" panose="020F0502020204030204" pitchFamily="34" charset="0"/>
              </a:rPr>
              <a:t>	COUNT(DISTINCT user_id) AS num_users</a:t>
            </a:r>
          </a:p>
          <a:p>
            <a:r>
              <a:rPr lang="en-IN" dirty="0">
                <a:latin typeface="Calibri" panose="020F0502020204030204" pitchFamily="34" charset="0"/>
                <a:ea typeface="Calibri" panose="020F0502020204030204" pitchFamily="34" charset="0"/>
                <a:cs typeface="Calibri" panose="020F0502020204030204" pitchFamily="34" charset="0"/>
              </a:rPr>
              <a:t>FROM users</a:t>
            </a:r>
          </a:p>
          <a:p>
            <a:r>
              <a:rPr lang="en-IN" dirty="0">
                <a:latin typeface="Calibri" panose="020F0502020204030204" pitchFamily="34" charset="0"/>
                <a:ea typeface="Calibri" panose="020F0502020204030204" pitchFamily="34" charset="0"/>
                <a:cs typeface="Calibri" panose="020F0502020204030204" pitchFamily="34" charset="0"/>
              </a:rPr>
              <a:t>GROUP BY year, week_number</a:t>
            </a:r>
          </a:p>
          <a:p>
            <a:r>
              <a:rPr lang="en-IN" dirty="0">
                <a:latin typeface="Calibri" panose="020F0502020204030204" pitchFamily="34" charset="0"/>
                <a:ea typeface="Calibri" panose="020F0502020204030204" pitchFamily="34" charset="0"/>
                <a:cs typeface="Calibri" panose="020F0502020204030204" pitchFamily="34" charset="0"/>
              </a:rPr>
              <a:t>)</a:t>
            </a:r>
          </a:p>
        </p:txBody>
      </p:sp>
      <p:pic>
        <p:nvPicPr>
          <p:cNvPr id="2" name="Picture 1">
            <a:extLst>
              <a:ext uri="{FF2B5EF4-FFF2-40B4-BE49-F238E27FC236}">
                <a16:creationId xmlns:a16="http://schemas.microsoft.com/office/drawing/2014/main" id="{52D22CD3-2C3C-C429-36C3-269F873C37F2}"/>
              </a:ext>
            </a:extLst>
          </p:cNvPr>
          <p:cNvPicPr>
            <a:picLocks noChangeAspect="1"/>
          </p:cNvPicPr>
          <p:nvPr/>
        </p:nvPicPr>
        <p:blipFill>
          <a:blip r:embed="rId4"/>
          <a:stretch>
            <a:fillRect/>
          </a:stretch>
        </p:blipFill>
        <p:spPr>
          <a:xfrm>
            <a:off x="-2" y="563532"/>
            <a:ext cx="12192000" cy="967287"/>
          </a:xfrm>
          <a:prstGeom prst="rect">
            <a:avLst/>
          </a:prstGeom>
        </p:spPr>
      </p:pic>
      <p:sp>
        <p:nvSpPr>
          <p:cNvPr id="3" name="Freeform 1">
            <a:extLst>
              <a:ext uri="{FF2B5EF4-FFF2-40B4-BE49-F238E27FC236}">
                <a16:creationId xmlns:a16="http://schemas.microsoft.com/office/drawing/2014/main" id="{6FE925E0-6B8C-11D9-EBD9-740856D9DAE4}"/>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FA8ACC98-0F6C-E67D-2FE6-4684013A523B}"/>
              </a:ext>
            </a:extLst>
          </p:cNvPr>
          <p:cNvSpPr txBox="1"/>
          <p:nvPr/>
        </p:nvSpPr>
        <p:spPr>
          <a:xfrm>
            <a:off x="443928" y="553704"/>
            <a:ext cx="11304141" cy="1200329"/>
          </a:xfrm>
          <a:prstGeom prst="rect">
            <a:avLst/>
          </a:prstGeom>
          <a:noFill/>
        </p:spPr>
        <p:txBody>
          <a:bodyPr wrap="square" rtlCol="0">
            <a:spAutoFit/>
          </a:bodyPr>
          <a:lstStyle/>
          <a:p>
            <a:r>
              <a:rPr lang="en-IN" b="1" dirty="0">
                <a:solidFill>
                  <a:schemeClr val="bg1"/>
                </a:solidFill>
              </a:rPr>
              <a:t> </a:t>
            </a:r>
            <a:r>
              <a:rPr lang="en-IN" dirty="0">
                <a:solidFill>
                  <a:schemeClr val="bg1"/>
                </a:solidFill>
              </a:rPr>
              <a:t>TASK B</a:t>
            </a:r>
            <a:r>
              <a:rPr lang="en-IN" b="1" dirty="0">
                <a:solidFill>
                  <a:schemeClr val="bg1"/>
                </a:solidFill>
              </a:rPr>
              <a:t>. User Growth Analysis</a:t>
            </a:r>
          </a:p>
          <a:p>
            <a:r>
              <a:rPr lang="en-US" dirty="0">
                <a:solidFill>
                  <a:schemeClr val="bg1"/>
                </a:solidFill>
              </a:rPr>
              <a:t>Objective: Analyze the growth of users over time for a product.</a:t>
            </a:r>
          </a:p>
          <a:p>
            <a:r>
              <a:rPr lang="en-US" dirty="0">
                <a:solidFill>
                  <a:schemeClr val="bg1"/>
                </a:solidFill>
              </a:rPr>
              <a:t>Your Task: Write an SQL query to calculate the user growth for the product.</a:t>
            </a:r>
          </a:p>
          <a:p>
            <a:endParaRPr lang="en-IN" b="1" dirty="0">
              <a:solidFill>
                <a:schemeClr val="bg1"/>
              </a:solidFill>
            </a:endParaRPr>
          </a:p>
        </p:txBody>
      </p:sp>
      <p:sp>
        <p:nvSpPr>
          <p:cNvPr id="10" name="TextBox 9">
            <a:extLst>
              <a:ext uri="{FF2B5EF4-FFF2-40B4-BE49-F238E27FC236}">
                <a16:creationId xmlns:a16="http://schemas.microsoft.com/office/drawing/2014/main" id="{59B1CD2F-5969-E99F-436E-60E6F669780B}"/>
              </a:ext>
            </a:extLst>
          </p:cNvPr>
          <p:cNvSpPr txBox="1"/>
          <p:nvPr/>
        </p:nvSpPr>
        <p:spPr>
          <a:xfrm>
            <a:off x="3011078" y="56139"/>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11" name="TextBox 10">
            <a:extLst>
              <a:ext uri="{FF2B5EF4-FFF2-40B4-BE49-F238E27FC236}">
                <a16:creationId xmlns:a16="http://schemas.microsoft.com/office/drawing/2014/main" id="{2BD2131D-F9E7-EE28-6E8B-400EF140A519}"/>
              </a:ext>
            </a:extLst>
          </p:cNvPr>
          <p:cNvSpPr txBox="1"/>
          <p:nvPr/>
        </p:nvSpPr>
        <p:spPr>
          <a:xfrm>
            <a:off x="6655324" y="1754033"/>
            <a:ext cx="4911365" cy="1754326"/>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SELECT year, week_number, num_users,</a:t>
            </a:r>
          </a:p>
          <a:p>
            <a:r>
              <a:rPr lang="en-IN" dirty="0">
                <a:latin typeface="Calibri" panose="020F0502020204030204" pitchFamily="34" charset="0"/>
                <a:ea typeface="Calibri" panose="020F0502020204030204" pitchFamily="34" charset="0"/>
                <a:cs typeface="Calibri" panose="020F0502020204030204" pitchFamily="34" charset="0"/>
              </a:rPr>
              <a:t>SUM(num_users) OVER (ORDER BY year, week_number) AS cumulative_users</a:t>
            </a:r>
          </a:p>
          <a:p>
            <a:r>
              <a:rPr lang="en-IN" dirty="0">
                <a:latin typeface="Calibri" panose="020F0502020204030204" pitchFamily="34" charset="0"/>
                <a:ea typeface="Calibri" panose="020F0502020204030204" pitchFamily="34" charset="0"/>
                <a:cs typeface="Calibri" panose="020F0502020204030204" pitchFamily="34" charset="0"/>
              </a:rPr>
              <a:t>FROM weekly_active_users</a:t>
            </a:r>
          </a:p>
          <a:p>
            <a:r>
              <a:rPr lang="en-IN" dirty="0">
                <a:latin typeface="Calibri" panose="020F0502020204030204" pitchFamily="34" charset="0"/>
                <a:ea typeface="Calibri" panose="020F0502020204030204" pitchFamily="34" charset="0"/>
                <a:cs typeface="Calibri" panose="020F0502020204030204" pitchFamily="34" charset="0"/>
              </a:rPr>
              <a:t>ORDER BY year, week_number;</a:t>
            </a:r>
          </a:p>
          <a:p>
            <a:endParaRPr lang="en-IN" dirty="0"/>
          </a:p>
        </p:txBody>
      </p:sp>
      <p:sp>
        <p:nvSpPr>
          <p:cNvPr id="4" name="TextBox 3">
            <a:extLst>
              <a:ext uri="{FF2B5EF4-FFF2-40B4-BE49-F238E27FC236}">
                <a16:creationId xmlns:a16="http://schemas.microsoft.com/office/drawing/2014/main" id="{E4BE5E68-534B-A1AE-0FA3-B1AC9FB12F85}"/>
              </a:ext>
            </a:extLst>
          </p:cNvPr>
          <p:cNvSpPr txBox="1"/>
          <p:nvPr/>
        </p:nvSpPr>
        <p:spPr>
          <a:xfrm>
            <a:off x="11830721" y="6447934"/>
            <a:ext cx="443929" cy="369332"/>
          </a:xfrm>
          <a:prstGeom prst="rect">
            <a:avLst/>
          </a:prstGeom>
          <a:noFill/>
        </p:spPr>
        <p:txBody>
          <a:bodyPr wrap="square" rtlCol="0">
            <a:spAutoFit/>
          </a:bodyPr>
          <a:lstStyle/>
          <a:p>
            <a:r>
              <a:rPr lang="en-IN" dirty="0">
                <a:solidFill>
                  <a:schemeClr val="bg1"/>
                </a:solidFill>
              </a:rPr>
              <a:t>19</a:t>
            </a:r>
          </a:p>
        </p:txBody>
      </p:sp>
    </p:spTree>
    <p:extLst>
      <p:ext uri="{BB962C8B-B14F-4D97-AF65-F5344CB8AC3E}">
        <p14:creationId xmlns:p14="http://schemas.microsoft.com/office/powerpoint/2010/main" val="3084239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5B46-920A-173B-F84C-20A9F17273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004D22D-195E-58D1-38FC-A317245C4CC8}"/>
              </a:ext>
            </a:extLst>
          </p:cNvPr>
          <p:cNvPicPr>
            <a:picLocks noChangeAspect="1"/>
          </p:cNvPicPr>
          <p:nvPr/>
        </p:nvPicPr>
        <p:blipFill>
          <a:blip r:embed="rId2"/>
          <a:stretch>
            <a:fillRect/>
          </a:stretch>
        </p:blipFill>
        <p:spPr>
          <a:xfrm>
            <a:off x="0" y="0"/>
            <a:ext cx="12192000" cy="508843"/>
          </a:xfrm>
          <a:prstGeom prst="rect">
            <a:avLst/>
          </a:prstGeom>
        </p:spPr>
      </p:pic>
      <p:pic>
        <p:nvPicPr>
          <p:cNvPr id="5" name="Picture 4">
            <a:extLst>
              <a:ext uri="{FF2B5EF4-FFF2-40B4-BE49-F238E27FC236}">
                <a16:creationId xmlns:a16="http://schemas.microsoft.com/office/drawing/2014/main" id="{FE901A96-663E-C63E-7362-B9C3B2A05D06}"/>
              </a:ext>
            </a:extLst>
          </p:cNvPr>
          <p:cNvPicPr>
            <a:picLocks noChangeAspect="1"/>
          </p:cNvPicPr>
          <p:nvPr/>
        </p:nvPicPr>
        <p:blipFill>
          <a:blip r:embed="rId3"/>
          <a:stretch>
            <a:fillRect/>
          </a:stretch>
        </p:blipFill>
        <p:spPr>
          <a:xfrm>
            <a:off x="0" y="1"/>
            <a:ext cx="12192000" cy="508842"/>
          </a:xfrm>
          <a:prstGeom prst="rect">
            <a:avLst/>
          </a:prstGeom>
        </p:spPr>
      </p:pic>
      <p:pic>
        <p:nvPicPr>
          <p:cNvPr id="2" name="Picture 1">
            <a:extLst>
              <a:ext uri="{FF2B5EF4-FFF2-40B4-BE49-F238E27FC236}">
                <a16:creationId xmlns:a16="http://schemas.microsoft.com/office/drawing/2014/main" id="{FCF03962-00D3-8116-7D3B-5C77F9B49280}"/>
              </a:ext>
            </a:extLst>
          </p:cNvPr>
          <p:cNvPicPr>
            <a:picLocks noChangeAspect="1"/>
          </p:cNvPicPr>
          <p:nvPr/>
        </p:nvPicPr>
        <p:blipFill>
          <a:blip r:embed="rId4"/>
          <a:stretch>
            <a:fillRect/>
          </a:stretch>
        </p:blipFill>
        <p:spPr>
          <a:xfrm>
            <a:off x="0" y="654050"/>
            <a:ext cx="12192000" cy="785149"/>
          </a:xfrm>
          <a:prstGeom prst="rect">
            <a:avLst/>
          </a:prstGeom>
        </p:spPr>
      </p:pic>
      <p:sp>
        <p:nvSpPr>
          <p:cNvPr id="3" name="Freeform 1">
            <a:extLst>
              <a:ext uri="{FF2B5EF4-FFF2-40B4-BE49-F238E27FC236}">
                <a16:creationId xmlns:a16="http://schemas.microsoft.com/office/drawing/2014/main" id="{70492C4F-4FED-70BB-E4AB-5ED1EB63F57A}"/>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693CB3FE-4BC3-E314-A6C4-1FEF1518E8AE}"/>
              </a:ext>
            </a:extLst>
          </p:cNvPr>
          <p:cNvSpPr txBox="1"/>
          <p:nvPr/>
        </p:nvSpPr>
        <p:spPr>
          <a:xfrm>
            <a:off x="443929" y="714221"/>
            <a:ext cx="11304141" cy="984885"/>
          </a:xfrm>
          <a:prstGeom prst="rect">
            <a:avLst/>
          </a:prstGeom>
          <a:noFill/>
        </p:spPr>
        <p:txBody>
          <a:bodyPr wrap="square" rtlCol="0">
            <a:spAutoFit/>
          </a:bodyPr>
          <a:lstStyle/>
          <a:p>
            <a:pPr algn="ctr"/>
            <a:r>
              <a:rPr lang="en-IN" sz="4000" dirty="0">
                <a:solidFill>
                  <a:schemeClr val="bg1"/>
                </a:solidFill>
              </a:rPr>
              <a:t>OUTPUT IN MySQL Workbench</a:t>
            </a:r>
            <a:endParaRPr lang="en-US" sz="4000" dirty="0">
              <a:solidFill>
                <a:schemeClr val="bg1"/>
              </a:solidFill>
            </a:endParaRPr>
          </a:p>
          <a:p>
            <a:endParaRPr lang="en-IN" dirty="0"/>
          </a:p>
        </p:txBody>
      </p:sp>
      <p:sp>
        <p:nvSpPr>
          <p:cNvPr id="13" name="TextBox 12">
            <a:extLst>
              <a:ext uri="{FF2B5EF4-FFF2-40B4-BE49-F238E27FC236}">
                <a16:creationId xmlns:a16="http://schemas.microsoft.com/office/drawing/2014/main" id="{569251A6-7B88-FEED-D8FA-78E87D6A11D0}"/>
              </a:ext>
            </a:extLst>
          </p:cNvPr>
          <p:cNvSpPr txBox="1"/>
          <p:nvPr/>
        </p:nvSpPr>
        <p:spPr>
          <a:xfrm>
            <a:off x="3011078" y="24811"/>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8" name="Picture 7">
            <a:extLst>
              <a:ext uri="{FF2B5EF4-FFF2-40B4-BE49-F238E27FC236}">
                <a16:creationId xmlns:a16="http://schemas.microsoft.com/office/drawing/2014/main" id="{5B93FEF4-CD9F-E661-D7C0-4D55B27CE50A}"/>
              </a:ext>
            </a:extLst>
          </p:cNvPr>
          <p:cNvPicPr>
            <a:picLocks noChangeAspect="1"/>
          </p:cNvPicPr>
          <p:nvPr/>
        </p:nvPicPr>
        <p:blipFill>
          <a:blip r:embed="rId5"/>
          <a:stretch>
            <a:fillRect/>
          </a:stretch>
        </p:blipFill>
        <p:spPr>
          <a:xfrm>
            <a:off x="313862" y="1660831"/>
            <a:ext cx="3207386" cy="5035597"/>
          </a:xfrm>
          <a:prstGeom prst="rect">
            <a:avLst/>
          </a:prstGeom>
        </p:spPr>
      </p:pic>
      <p:pic>
        <p:nvPicPr>
          <p:cNvPr id="14" name="Picture 13">
            <a:extLst>
              <a:ext uri="{FF2B5EF4-FFF2-40B4-BE49-F238E27FC236}">
                <a16:creationId xmlns:a16="http://schemas.microsoft.com/office/drawing/2014/main" id="{B7F58F87-37A2-CD2D-2E8F-95B2F2EB0958}"/>
              </a:ext>
            </a:extLst>
          </p:cNvPr>
          <p:cNvPicPr>
            <a:picLocks noChangeAspect="1"/>
          </p:cNvPicPr>
          <p:nvPr/>
        </p:nvPicPr>
        <p:blipFill>
          <a:blip r:embed="rId6"/>
          <a:stretch>
            <a:fillRect/>
          </a:stretch>
        </p:blipFill>
        <p:spPr>
          <a:xfrm>
            <a:off x="4112616" y="1660832"/>
            <a:ext cx="3150194" cy="5035596"/>
          </a:xfrm>
          <a:prstGeom prst="rect">
            <a:avLst/>
          </a:prstGeom>
        </p:spPr>
      </p:pic>
      <p:pic>
        <p:nvPicPr>
          <p:cNvPr id="16" name="Picture 15">
            <a:extLst>
              <a:ext uri="{FF2B5EF4-FFF2-40B4-BE49-F238E27FC236}">
                <a16:creationId xmlns:a16="http://schemas.microsoft.com/office/drawing/2014/main" id="{0CA1F1A6-39D9-304A-3BC8-43E7E276A98D}"/>
              </a:ext>
            </a:extLst>
          </p:cNvPr>
          <p:cNvPicPr>
            <a:picLocks noChangeAspect="1"/>
          </p:cNvPicPr>
          <p:nvPr/>
        </p:nvPicPr>
        <p:blipFill>
          <a:blip r:embed="rId7"/>
          <a:stretch>
            <a:fillRect/>
          </a:stretch>
        </p:blipFill>
        <p:spPr>
          <a:xfrm>
            <a:off x="7706740" y="1717090"/>
            <a:ext cx="3150193" cy="4979338"/>
          </a:xfrm>
          <a:prstGeom prst="rect">
            <a:avLst/>
          </a:prstGeom>
        </p:spPr>
      </p:pic>
      <p:sp>
        <p:nvSpPr>
          <p:cNvPr id="4" name="TextBox 3">
            <a:extLst>
              <a:ext uri="{FF2B5EF4-FFF2-40B4-BE49-F238E27FC236}">
                <a16:creationId xmlns:a16="http://schemas.microsoft.com/office/drawing/2014/main" id="{5CDF44CC-F8E1-F0E6-0490-A9F960FBB7DE}"/>
              </a:ext>
            </a:extLst>
          </p:cNvPr>
          <p:cNvSpPr txBox="1"/>
          <p:nvPr/>
        </p:nvSpPr>
        <p:spPr>
          <a:xfrm>
            <a:off x="11770935" y="6450402"/>
            <a:ext cx="424207" cy="369332"/>
          </a:xfrm>
          <a:prstGeom prst="rect">
            <a:avLst/>
          </a:prstGeom>
          <a:noFill/>
        </p:spPr>
        <p:txBody>
          <a:bodyPr wrap="square" rtlCol="0">
            <a:spAutoFit/>
          </a:bodyPr>
          <a:lstStyle/>
          <a:p>
            <a:r>
              <a:rPr lang="en-IN" dirty="0">
                <a:solidFill>
                  <a:schemeClr val="bg1"/>
                </a:solidFill>
              </a:rPr>
              <a:t>20</a:t>
            </a:r>
          </a:p>
        </p:txBody>
      </p:sp>
    </p:spTree>
    <p:extLst>
      <p:ext uri="{BB962C8B-B14F-4D97-AF65-F5344CB8AC3E}">
        <p14:creationId xmlns:p14="http://schemas.microsoft.com/office/powerpoint/2010/main" val="3468366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627DD-AABC-928C-498C-4DAB9B2ED5C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BF9DAD2-5D57-E0D6-454E-F9C6A2BA0EEF}"/>
              </a:ext>
            </a:extLst>
          </p:cNvPr>
          <p:cNvPicPr>
            <a:picLocks noChangeAspect="1"/>
          </p:cNvPicPr>
          <p:nvPr/>
        </p:nvPicPr>
        <p:blipFill>
          <a:blip r:embed="rId2"/>
          <a:stretch>
            <a:fillRect/>
          </a:stretch>
        </p:blipFill>
        <p:spPr>
          <a:xfrm>
            <a:off x="0" y="0"/>
            <a:ext cx="12192000" cy="508843"/>
          </a:xfrm>
          <a:prstGeom prst="rect">
            <a:avLst/>
          </a:prstGeom>
        </p:spPr>
      </p:pic>
      <p:pic>
        <p:nvPicPr>
          <p:cNvPr id="5" name="Picture 4">
            <a:extLst>
              <a:ext uri="{FF2B5EF4-FFF2-40B4-BE49-F238E27FC236}">
                <a16:creationId xmlns:a16="http://schemas.microsoft.com/office/drawing/2014/main" id="{0B65A5A2-A831-548F-04CF-7D49E95B9A53}"/>
              </a:ext>
            </a:extLst>
          </p:cNvPr>
          <p:cNvPicPr>
            <a:picLocks noChangeAspect="1"/>
          </p:cNvPicPr>
          <p:nvPr/>
        </p:nvPicPr>
        <p:blipFill>
          <a:blip r:embed="rId3"/>
          <a:stretch>
            <a:fillRect/>
          </a:stretch>
        </p:blipFill>
        <p:spPr>
          <a:xfrm>
            <a:off x="0" y="1"/>
            <a:ext cx="12192000" cy="508842"/>
          </a:xfrm>
          <a:prstGeom prst="rect">
            <a:avLst/>
          </a:prstGeom>
        </p:spPr>
      </p:pic>
      <p:pic>
        <p:nvPicPr>
          <p:cNvPr id="2" name="Picture 1">
            <a:extLst>
              <a:ext uri="{FF2B5EF4-FFF2-40B4-BE49-F238E27FC236}">
                <a16:creationId xmlns:a16="http://schemas.microsoft.com/office/drawing/2014/main" id="{66FCC224-9847-3516-1296-A3C736201B61}"/>
              </a:ext>
            </a:extLst>
          </p:cNvPr>
          <p:cNvPicPr>
            <a:picLocks noChangeAspect="1"/>
          </p:cNvPicPr>
          <p:nvPr/>
        </p:nvPicPr>
        <p:blipFill>
          <a:blip r:embed="rId4"/>
          <a:stretch>
            <a:fillRect/>
          </a:stretch>
        </p:blipFill>
        <p:spPr>
          <a:xfrm>
            <a:off x="0" y="654050"/>
            <a:ext cx="12192000" cy="785149"/>
          </a:xfrm>
          <a:prstGeom prst="rect">
            <a:avLst/>
          </a:prstGeom>
        </p:spPr>
      </p:pic>
      <p:sp>
        <p:nvSpPr>
          <p:cNvPr id="3" name="Freeform 1">
            <a:extLst>
              <a:ext uri="{FF2B5EF4-FFF2-40B4-BE49-F238E27FC236}">
                <a16:creationId xmlns:a16="http://schemas.microsoft.com/office/drawing/2014/main" id="{BA70CAFF-4392-1A3D-220F-D71A131BE330}"/>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2324090C-2B4F-6164-D46F-CB08D5EB73EC}"/>
              </a:ext>
            </a:extLst>
          </p:cNvPr>
          <p:cNvSpPr txBox="1"/>
          <p:nvPr/>
        </p:nvSpPr>
        <p:spPr>
          <a:xfrm>
            <a:off x="443929" y="714221"/>
            <a:ext cx="11304141" cy="984885"/>
          </a:xfrm>
          <a:prstGeom prst="rect">
            <a:avLst/>
          </a:prstGeom>
          <a:noFill/>
        </p:spPr>
        <p:txBody>
          <a:bodyPr wrap="square" rtlCol="0">
            <a:spAutoFit/>
          </a:bodyPr>
          <a:lstStyle/>
          <a:p>
            <a:pPr algn="ctr"/>
            <a:r>
              <a:rPr lang="en-IN" sz="4000" dirty="0">
                <a:solidFill>
                  <a:schemeClr val="bg1"/>
                </a:solidFill>
              </a:rPr>
              <a:t>OUTPUT IN MySQL Workbench</a:t>
            </a:r>
            <a:endParaRPr lang="en-US" sz="4000" dirty="0">
              <a:solidFill>
                <a:schemeClr val="bg1"/>
              </a:solidFill>
            </a:endParaRPr>
          </a:p>
          <a:p>
            <a:endParaRPr lang="en-IN" dirty="0"/>
          </a:p>
        </p:txBody>
      </p:sp>
      <p:sp>
        <p:nvSpPr>
          <p:cNvPr id="13" name="TextBox 12">
            <a:extLst>
              <a:ext uri="{FF2B5EF4-FFF2-40B4-BE49-F238E27FC236}">
                <a16:creationId xmlns:a16="http://schemas.microsoft.com/office/drawing/2014/main" id="{2FE9368C-5ACA-7F01-D3E7-11BA9D52B237}"/>
              </a:ext>
            </a:extLst>
          </p:cNvPr>
          <p:cNvSpPr txBox="1"/>
          <p:nvPr/>
        </p:nvSpPr>
        <p:spPr>
          <a:xfrm>
            <a:off x="3011078" y="24811"/>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4" name="Picture 3">
            <a:extLst>
              <a:ext uri="{FF2B5EF4-FFF2-40B4-BE49-F238E27FC236}">
                <a16:creationId xmlns:a16="http://schemas.microsoft.com/office/drawing/2014/main" id="{EB2B5A60-5E92-2309-D735-92603169FE5F}"/>
              </a:ext>
            </a:extLst>
          </p:cNvPr>
          <p:cNvPicPr>
            <a:picLocks noChangeAspect="1"/>
          </p:cNvPicPr>
          <p:nvPr/>
        </p:nvPicPr>
        <p:blipFill>
          <a:blip r:embed="rId5"/>
          <a:stretch>
            <a:fillRect/>
          </a:stretch>
        </p:blipFill>
        <p:spPr>
          <a:xfrm>
            <a:off x="1823180" y="1584406"/>
            <a:ext cx="3301713" cy="5215394"/>
          </a:xfrm>
          <a:prstGeom prst="rect">
            <a:avLst/>
          </a:prstGeom>
        </p:spPr>
      </p:pic>
      <p:pic>
        <p:nvPicPr>
          <p:cNvPr id="10" name="Picture 9">
            <a:extLst>
              <a:ext uri="{FF2B5EF4-FFF2-40B4-BE49-F238E27FC236}">
                <a16:creationId xmlns:a16="http://schemas.microsoft.com/office/drawing/2014/main" id="{BBB17838-487A-F531-B9C5-AC88B928DCE8}"/>
              </a:ext>
            </a:extLst>
          </p:cNvPr>
          <p:cNvPicPr>
            <a:picLocks noChangeAspect="1"/>
          </p:cNvPicPr>
          <p:nvPr/>
        </p:nvPicPr>
        <p:blipFill>
          <a:blip r:embed="rId6"/>
          <a:stretch>
            <a:fillRect/>
          </a:stretch>
        </p:blipFill>
        <p:spPr>
          <a:xfrm>
            <a:off x="6872401" y="2861688"/>
            <a:ext cx="3033023" cy="1127858"/>
          </a:xfrm>
          <a:prstGeom prst="rect">
            <a:avLst/>
          </a:prstGeom>
        </p:spPr>
      </p:pic>
      <p:pic>
        <p:nvPicPr>
          <p:cNvPr id="12" name="Picture 11">
            <a:extLst>
              <a:ext uri="{FF2B5EF4-FFF2-40B4-BE49-F238E27FC236}">
                <a16:creationId xmlns:a16="http://schemas.microsoft.com/office/drawing/2014/main" id="{2EE4B639-EA00-A5BB-2492-B458314C24A7}"/>
              </a:ext>
            </a:extLst>
          </p:cNvPr>
          <p:cNvPicPr>
            <a:picLocks noChangeAspect="1"/>
          </p:cNvPicPr>
          <p:nvPr/>
        </p:nvPicPr>
        <p:blipFill>
          <a:blip r:embed="rId7"/>
          <a:stretch>
            <a:fillRect/>
          </a:stretch>
        </p:blipFill>
        <p:spPr>
          <a:xfrm>
            <a:off x="6998141" y="2635853"/>
            <a:ext cx="2781541" cy="205758"/>
          </a:xfrm>
          <a:prstGeom prst="rect">
            <a:avLst/>
          </a:prstGeom>
        </p:spPr>
      </p:pic>
      <p:sp>
        <p:nvSpPr>
          <p:cNvPr id="8" name="TextBox 7">
            <a:extLst>
              <a:ext uri="{FF2B5EF4-FFF2-40B4-BE49-F238E27FC236}">
                <a16:creationId xmlns:a16="http://schemas.microsoft.com/office/drawing/2014/main" id="{7BB7D189-D68F-275C-8AE0-183BDD03E489}"/>
              </a:ext>
            </a:extLst>
          </p:cNvPr>
          <p:cNvSpPr txBox="1"/>
          <p:nvPr/>
        </p:nvSpPr>
        <p:spPr>
          <a:xfrm>
            <a:off x="11798162" y="6450402"/>
            <a:ext cx="509048" cy="369332"/>
          </a:xfrm>
          <a:prstGeom prst="rect">
            <a:avLst/>
          </a:prstGeom>
          <a:noFill/>
        </p:spPr>
        <p:txBody>
          <a:bodyPr wrap="square" rtlCol="0">
            <a:spAutoFit/>
          </a:bodyPr>
          <a:lstStyle/>
          <a:p>
            <a:r>
              <a:rPr lang="en-IN" dirty="0">
                <a:solidFill>
                  <a:schemeClr val="bg1"/>
                </a:solidFill>
              </a:rPr>
              <a:t>21</a:t>
            </a:r>
          </a:p>
        </p:txBody>
      </p:sp>
    </p:spTree>
    <p:extLst>
      <p:ext uri="{BB962C8B-B14F-4D97-AF65-F5344CB8AC3E}">
        <p14:creationId xmlns:p14="http://schemas.microsoft.com/office/powerpoint/2010/main" val="941399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09C9-A797-67E0-CDD9-8CAA6137CB5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BB1B2AC-B27F-6903-F4E6-3A9980838AA8}"/>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1BC61B1E-B2C4-A080-AF56-03D933F97489}"/>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840A3256-671A-B5B7-5687-B1A9988C6416}"/>
              </a:ext>
            </a:extLst>
          </p:cNvPr>
          <p:cNvPicPr>
            <a:picLocks noChangeAspect="1"/>
          </p:cNvPicPr>
          <p:nvPr/>
        </p:nvPicPr>
        <p:blipFill>
          <a:blip r:embed="rId4"/>
          <a:stretch>
            <a:fillRect/>
          </a:stretch>
        </p:blipFill>
        <p:spPr>
          <a:xfrm>
            <a:off x="0" y="930358"/>
            <a:ext cx="12192000" cy="700480"/>
          </a:xfrm>
          <a:prstGeom prst="rect">
            <a:avLst/>
          </a:prstGeom>
        </p:spPr>
      </p:pic>
      <p:sp>
        <p:nvSpPr>
          <p:cNvPr id="3" name="Freeform 1">
            <a:extLst>
              <a:ext uri="{FF2B5EF4-FFF2-40B4-BE49-F238E27FC236}">
                <a16:creationId xmlns:a16="http://schemas.microsoft.com/office/drawing/2014/main" id="{5F1FD617-F388-6803-8FF6-AD30B6A713DB}"/>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F2180E93-14C2-51F3-CE00-F864E29E77FF}"/>
              </a:ext>
            </a:extLst>
          </p:cNvPr>
          <p:cNvSpPr txBox="1"/>
          <p:nvPr/>
        </p:nvSpPr>
        <p:spPr>
          <a:xfrm>
            <a:off x="443929" y="936691"/>
            <a:ext cx="11304141" cy="923330"/>
          </a:xfrm>
          <a:prstGeom prst="rect">
            <a:avLst/>
          </a:prstGeom>
          <a:noFill/>
        </p:spPr>
        <p:txBody>
          <a:bodyPr wrap="square" rtlCol="0">
            <a:spAutoFit/>
          </a:bodyPr>
          <a:lstStyle/>
          <a:p>
            <a:pPr algn="ctr"/>
            <a:r>
              <a:rPr lang="en-US" sz="3600" dirty="0">
                <a:solidFill>
                  <a:schemeClr val="bg1"/>
                </a:solidFill>
              </a:rPr>
              <a:t>Key Observations from User Growth Analysis</a:t>
            </a:r>
          </a:p>
          <a:p>
            <a:endParaRPr lang="en-IN" dirty="0"/>
          </a:p>
        </p:txBody>
      </p:sp>
      <p:sp>
        <p:nvSpPr>
          <p:cNvPr id="10" name="TextBox 9">
            <a:extLst>
              <a:ext uri="{FF2B5EF4-FFF2-40B4-BE49-F238E27FC236}">
                <a16:creationId xmlns:a16="http://schemas.microsoft.com/office/drawing/2014/main" id="{E82406D7-1996-E61A-46F4-BF0262A230A0}"/>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78188472-74C4-76CE-3A0F-15D7FAE3B6AC}"/>
              </a:ext>
            </a:extLst>
          </p:cNvPr>
          <p:cNvSpPr txBox="1"/>
          <p:nvPr/>
        </p:nvSpPr>
        <p:spPr>
          <a:xfrm>
            <a:off x="329938" y="1860021"/>
            <a:ext cx="11322994" cy="5016758"/>
          </a:xfrm>
          <a:prstGeom prst="rect">
            <a:avLst/>
          </a:prstGeom>
          <a:noFill/>
        </p:spPr>
        <p:txBody>
          <a:bodyPr wrap="square" rtlCol="0">
            <a:spAutoFit/>
          </a:bodyPr>
          <a:lstStyle/>
          <a:p>
            <a:r>
              <a:rPr lang="en-IN" sz="2000" dirty="0">
                <a:latin typeface="Calibri" panose="020F0502020204030204" pitchFamily="34" charset="0"/>
                <a:ea typeface="Calibri" panose="020F0502020204030204" pitchFamily="34" charset="0"/>
                <a:cs typeface="Calibri" panose="020F0502020204030204" pitchFamily="34" charset="0"/>
              </a:rPr>
              <a:t>From the output obtained, we can see that there are four columns, namely, year, week number, number of users, and cumulative users. After observing the output tables generated in MySQL Workbench, it is observed that various weeks have different amounts of new users, and in each week, the total number of users keeps increasing.</a:t>
            </a:r>
          </a:p>
          <a:p>
            <a:r>
              <a:rPr lang="en-IN" sz="2000" dirty="0">
                <a:latin typeface="Calibri" panose="020F0502020204030204" pitchFamily="34" charset="0"/>
                <a:ea typeface="Calibri" panose="020F0502020204030204" pitchFamily="34" charset="0"/>
                <a:cs typeface="Calibri" panose="020F0502020204030204" pitchFamily="34" charset="0"/>
              </a:rPr>
              <a:t>For example, in week 0 (zero), which is the </a:t>
            </a:r>
            <a:r>
              <a:rPr lang="en-IN" sz="2000" b="1" dirty="0">
                <a:latin typeface="Calibri" panose="020F0502020204030204" pitchFamily="34" charset="0"/>
                <a:ea typeface="Calibri" panose="020F0502020204030204" pitchFamily="34" charset="0"/>
                <a:cs typeface="Calibri" panose="020F0502020204030204" pitchFamily="34" charset="0"/>
              </a:rPr>
              <a:t>starting week </a:t>
            </a:r>
            <a:r>
              <a:rPr lang="en-IN" sz="2000" dirty="0">
                <a:latin typeface="Calibri" panose="020F0502020204030204" pitchFamily="34" charset="0"/>
                <a:ea typeface="Calibri" panose="020F0502020204030204" pitchFamily="34" charset="0"/>
                <a:cs typeface="Calibri" panose="020F0502020204030204" pitchFamily="34" charset="0"/>
              </a:rPr>
              <a:t>and is in the year 2013, we have only </a:t>
            </a:r>
            <a:r>
              <a:rPr lang="en-IN" sz="2000" b="1" u="sng" dirty="0">
                <a:latin typeface="Calibri" panose="020F0502020204030204" pitchFamily="34" charset="0"/>
                <a:ea typeface="Calibri" panose="020F0502020204030204" pitchFamily="34" charset="0"/>
                <a:cs typeface="Calibri" panose="020F0502020204030204" pitchFamily="34" charset="0"/>
              </a:rPr>
              <a:t>23 users</a:t>
            </a:r>
            <a:r>
              <a:rPr lang="en-IN" sz="2000" dirty="0">
                <a:latin typeface="Calibri" panose="020F0502020204030204" pitchFamily="34" charset="0"/>
                <a:ea typeface="Calibri" panose="020F0502020204030204" pitchFamily="34" charset="0"/>
                <a:cs typeface="Calibri" panose="020F0502020204030204" pitchFamily="34" charset="0"/>
              </a:rPr>
              <a:t>, but at the end of the output table, where it is </a:t>
            </a:r>
            <a:r>
              <a:rPr lang="en-IN" sz="2000" b="1" dirty="0">
                <a:latin typeface="Calibri" panose="020F0502020204030204" pitchFamily="34" charset="0"/>
                <a:ea typeface="Calibri" panose="020F0502020204030204" pitchFamily="34" charset="0"/>
                <a:cs typeface="Calibri" panose="020F0502020204030204" pitchFamily="34" charset="0"/>
              </a:rPr>
              <a:t>week 35 and year 2014,</a:t>
            </a:r>
            <a:r>
              <a:rPr lang="en-IN" sz="2000" dirty="0">
                <a:latin typeface="Calibri" panose="020F0502020204030204" pitchFamily="34" charset="0"/>
                <a:ea typeface="Calibri" panose="020F0502020204030204" pitchFamily="34" charset="0"/>
                <a:cs typeface="Calibri" panose="020F0502020204030204" pitchFamily="34" charset="0"/>
              </a:rPr>
              <a:t> we have a total of </a:t>
            </a:r>
            <a:r>
              <a:rPr lang="en-IN" sz="2000" b="1" u="sng" dirty="0">
                <a:latin typeface="Calibri" panose="020F0502020204030204" pitchFamily="34" charset="0"/>
                <a:ea typeface="Calibri" panose="020F0502020204030204" pitchFamily="34" charset="0"/>
                <a:cs typeface="Calibri" panose="020F0502020204030204" pitchFamily="34" charset="0"/>
              </a:rPr>
              <a:t>9381 users</a:t>
            </a:r>
            <a:r>
              <a:rPr lang="en-IN" sz="2000" dirty="0">
                <a:latin typeface="Calibri" panose="020F0502020204030204" pitchFamily="34" charset="0"/>
                <a:ea typeface="Calibri" panose="020F0502020204030204" pitchFamily="34" charset="0"/>
                <a:cs typeface="Calibri" panose="020F0502020204030204" pitchFamily="34" charset="0"/>
              </a:rPr>
              <a:t>. This shows an outstanding amount of growth in the total number of users.</a:t>
            </a:r>
          </a:p>
          <a:p>
            <a:r>
              <a:rPr lang="en-IN" sz="2000" dirty="0">
                <a:latin typeface="Calibri" panose="020F0502020204030204" pitchFamily="34" charset="0"/>
                <a:ea typeface="Calibri" panose="020F0502020204030204" pitchFamily="34" charset="0"/>
                <a:cs typeface="Calibri" panose="020F0502020204030204" pitchFamily="34" charset="0"/>
              </a:rPr>
              <a:t>It must be further taken into consideration that with the total number of users, the company must also focus on the weekly growth in the number of users. We can observe that week 33 of the year 2014 has the maximum number of new users, which is 261. The company must closely observe the steps taken in that period of time and must keep in mind the strategy necessary to increase incoming new users. We can also notice that in week 35 of the year 2014, there were just 18 new users; it is just two weeks after the maximum number of incoming users was achieved. The company can find various ways to increase the user inflow by observing this analysis. It also helps the marketing department to analyse which steps taken by them were the most effective in increasing the user count. In this way, with the help of data analysis, the company can always stay ahead in the competition.</a:t>
            </a:r>
          </a:p>
        </p:txBody>
      </p:sp>
      <p:sp>
        <p:nvSpPr>
          <p:cNvPr id="8" name="TextBox 7">
            <a:extLst>
              <a:ext uri="{FF2B5EF4-FFF2-40B4-BE49-F238E27FC236}">
                <a16:creationId xmlns:a16="http://schemas.microsoft.com/office/drawing/2014/main" id="{9EE5DC35-DD19-50DE-561B-0E34F74CDA8D}"/>
              </a:ext>
            </a:extLst>
          </p:cNvPr>
          <p:cNvSpPr txBox="1"/>
          <p:nvPr/>
        </p:nvSpPr>
        <p:spPr>
          <a:xfrm>
            <a:off x="11821211" y="6495068"/>
            <a:ext cx="471341" cy="369332"/>
          </a:xfrm>
          <a:prstGeom prst="rect">
            <a:avLst/>
          </a:prstGeom>
          <a:noFill/>
        </p:spPr>
        <p:txBody>
          <a:bodyPr wrap="square" rtlCol="0">
            <a:spAutoFit/>
          </a:bodyPr>
          <a:lstStyle/>
          <a:p>
            <a:r>
              <a:rPr lang="en-IN" dirty="0">
                <a:solidFill>
                  <a:schemeClr val="bg1"/>
                </a:solidFill>
              </a:rPr>
              <a:t>22</a:t>
            </a:r>
          </a:p>
        </p:txBody>
      </p:sp>
    </p:spTree>
    <p:extLst>
      <p:ext uri="{BB962C8B-B14F-4D97-AF65-F5344CB8AC3E}">
        <p14:creationId xmlns:p14="http://schemas.microsoft.com/office/powerpoint/2010/main" val="2987229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B9398-D043-E668-14CC-9E9F12E24B9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44AE16C-E7E0-0985-4385-5DC11F608491}"/>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3C7335C0-8747-4F0A-3104-4DD211A08539}"/>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DCF8F0A4-07D9-FA39-03B0-A06CB961AB64}"/>
              </a:ext>
            </a:extLst>
          </p:cNvPr>
          <p:cNvSpPr txBox="1"/>
          <p:nvPr/>
        </p:nvSpPr>
        <p:spPr>
          <a:xfrm>
            <a:off x="118783" y="2137020"/>
            <a:ext cx="6225456" cy="3970318"/>
          </a:xfrm>
          <a:prstGeom prst="rect">
            <a:avLst/>
          </a:prstGeom>
          <a:noFill/>
        </p:spPr>
        <p:txBody>
          <a:bodyPr wrap="square" rtlCol="0">
            <a:spAutoFit/>
          </a:bodyPr>
          <a:lstStyle/>
          <a:p>
            <a:r>
              <a:rPr lang="en-IN" dirty="0"/>
              <a:t> ANS. </a:t>
            </a:r>
            <a:r>
              <a:rPr lang="en-IN" b="1" dirty="0"/>
              <a:t>SQL CODE used:</a:t>
            </a:r>
          </a:p>
          <a:p>
            <a:r>
              <a:rPr lang="en-IN" dirty="0">
                <a:latin typeface="Calibri" panose="020F0502020204030204" pitchFamily="34" charset="0"/>
                <a:ea typeface="Calibri" panose="020F0502020204030204" pitchFamily="34" charset="0"/>
                <a:cs typeface="Calibri" panose="020F0502020204030204" pitchFamily="34" charset="0"/>
              </a:rPr>
              <a:t>SELECT</a:t>
            </a:r>
          </a:p>
          <a:p>
            <a:r>
              <a:rPr lang="en-IN" dirty="0">
                <a:latin typeface="Calibri" panose="020F0502020204030204" pitchFamily="34" charset="0"/>
                <a:ea typeface="Calibri" panose="020F0502020204030204" pitchFamily="34" charset="0"/>
                <a:cs typeface="Calibri" panose="020F0502020204030204" pitchFamily="34" charset="0"/>
              </a:rPr>
              <a:t>	first AS "week_number",</a:t>
            </a:r>
          </a:p>
          <a:p>
            <a:r>
              <a:rPr lang="en-IN" dirty="0">
                <a:latin typeface="Calibri" panose="020F0502020204030204" pitchFamily="34" charset="0"/>
                <a:ea typeface="Calibri" panose="020F0502020204030204" pitchFamily="34" charset="0"/>
                <a:cs typeface="Calibri" panose="020F0502020204030204" pitchFamily="34" charset="0"/>
              </a:rPr>
              <a:t>    SUM(CASE WHEN week_number = 0 THEN 1 ELSE 0 END) AS "week_0",</a:t>
            </a:r>
          </a:p>
          <a:p>
            <a:r>
              <a:rPr lang="en-IN" dirty="0">
                <a:latin typeface="Calibri" panose="020F0502020204030204" pitchFamily="34" charset="0"/>
                <a:ea typeface="Calibri" panose="020F0502020204030204" pitchFamily="34" charset="0"/>
                <a:cs typeface="Calibri" panose="020F0502020204030204" pitchFamily="34" charset="0"/>
              </a:rPr>
              <a:t>    SUM(CASE WHEN week_number = 1 THEN 1 ELSE 0 END) AS "week_1",  …….# same way upto week 18-----</a:t>
            </a:r>
          </a:p>
          <a:p>
            <a:r>
              <a:rPr lang="en-IN" dirty="0">
                <a:latin typeface="Calibri" panose="020F0502020204030204" pitchFamily="34" charset="0"/>
                <a:ea typeface="Calibri" panose="020F0502020204030204" pitchFamily="34" charset="0"/>
                <a:cs typeface="Calibri" panose="020F0502020204030204" pitchFamily="34" charset="0"/>
              </a:rPr>
              <a:t>SUM(CASE WHEN week_number = 18 THEN 1 ELSE 0 END) AS "week_18“</a:t>
            </a:r>
          </a:p>
          <a:p>
            <a:r>
              <a:rPr lang="en-IN" dirty="0">
                <a:latin typeface="Calibri" panose="020F0502020204030204" pitchFamily="34" charset="0"/>
                <a:ea typeface="Calibri" panose="020F0502020204030204" pitchFamily="34" charset="0"/>
                <a:cs typeface="Calibri" panose="020F0502020204030204" pitchFamily="34" charset="0"/>
              </a:rPr>
              <a:t>FROM (</a:t>
            </a:r>
          </a:p>
          <a:p>
            <a:r>
              <a:rPr lang="en-IN" dirty="0">
                <a:latin typeface="Calibri" panose="020F0502020204030204" pitchFamily="34" charset="0"/>
                <a:ea typeface="Calibri" panose="020F0502020204030204" pitchFamily="34" charset="0"/>
                <a:cs typeface="Calibri" panose="020F0502020204030204" pitchFamily="34" charset="0"/>
              </a:rPr>
              <a:t>	SELECT m.user_id,</a:t>
            </a:r>
          </a:p>
          <a:p>
            <a:r>
              <a:rPr lang="en-IN" dirty="0">
                <a:latin typeface="Calibri" panose="020F0502020204030204" pitchFamily="34" charset="0"/>
                <a:ea typeface="Calibri" panose="020F0502020204030204" pitchFamily="34" charset="0"/>
                <a:cs typeface="Calibri" panose="020F0502020204030204" pitchFamily="34" charset="0"/>
              </a:rPr>
              <a:t>    m.login_week,</a:t>
            </a:r>
          </a:p>
          <a:p>
            <a:r>
              <a:rPr lang="en-IN" dirty="0">
                <a:latin typeface="Calibri" panose="020F0502020204030204" pitchFamily="34" charset="0"/>
                <a:ea typeface="Calibri" panose="020F0502020204030204" pitchFamily="34" charset="0"/>
                <a:cs typeface="Calibri" panose="020F0502020204030204" pitchFamily="34" charset="0"/>
              </a:rPr>
              <a:t>    n.first,</a:t>
            </a:r>
          </a:p>
          <a:p>
            <a:r>
              <a:rPr lang="en-IN" dirty="0">
                <a:latin typeface="Calibri" panose="020F0502020204030204" pitchFamily="34" charset="0"/>
                <a:ea typeface="Calibri" panose="020F0502020204030204" pitchFamily="34" charset="0"/>
                <a:cs typeface="Calibri" panose="020F0502020204030204" pitchFamily="34" charset="0"/>
              </a:rPr>
              <a:t>    m.login_week - n.first AS week_number</a:t>
            </a:r>
          </a:p>
        </p:txBody>
      </p:sp>
      <p:pic>
        <p:nvPicPr>
          <p:cNvPr id="2" name="Picture 1">
            <a:extLst>
              <a:ext uri="{FF2B5EF4-FFF2-40B4-BE49-F238E27FC236}">
                <a16:creationId xmlns:a16="http://schemas.microsoft.com/office/drawing/2014/main" id="{30087B51-642F-5479-32AC-5D90B72B79B8}"/>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AF549899-B4F3-6EFC-E2D8-50127675CB1D}"/>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773A3877-F135-C7A3-44CA-3481EA42B7FA}"/>
              </a:ext>
            </a:extLst>
          </p:cNvPr>
          <p:cNvSpPr txBox="1"/>
          <p:nvPr/>
        </p:nvSpPr>
        <p:spPr>
          <a:xfrm>
            <a:off x="443929" y="936691"/>
            <a:ext cx="11304141" cy="1200329"/>
          </a:xfrm>
          <a:prstGeom prst="rect">
            <a:avLst/>
          </a:prstGeom>
          <a:noFill/>
        </p:spPr>
        <p:txBody>
          <a:bodyPr wrap="square" rtlCol="0">
            <a:spAutoFit/>
          </a:bodyPr>
          <a:lstStyle/>
          <a:p>
            <a:r>
              <a:rPr lang="en-US" dirty="0">
                <a:solidFill>
                  <a:schemeClr val="bg1"/>
                </a:solidFill>
              </a:rPr>
              <a:t>TASK C. </a:t>
            </a:r>
            <a:r>
              <a:rPr lang="en-US" b="1" dirty="0">
                <a:solidFill>
                  <a:schemeClr val="bg1"/>
                </a:solidFill>
              </a:rPr>
              <a:t>Weekly Retention Analysis</a:t>
            </a:r>
          </a:p>
          <a:p>
            <a:r>
              <a:rPr lang="en-US" dirty="0">
                <a:solidFill>
                  <a:schemeClr val="bg1"/>
                </a:solidFill>
              </a:rPr>
              <a:t>Objective: Analyze the retention of users on a weekly basis after signing up for a product.</a:t>
            </a:r>
          </a:p>
          <a:p>
            <a:r>
              <a:rPr lang="en-US" dirty="0">
                <a:solidFill>
                  <a:schemeClr val="bg1"/>
                </a:solidFill>
              </a:rPr>
              <a:t>Your Task: Write an SQL query to calculate the weekly retention of users based on their sign-up cohort.</a:t>
            </a:r>
          </a:p>
          <a:p>
            <a:endParaRPr lang="en-US" dirty="0">
              <a:solidFill>
                <a:schemeClr val="bg1"/>
              </a:solidFill>
            </a:endParaRPr>
          </a:p>
        </p:txBody>
      </p:sp>
      <p:sp>
        <p:nvSpPr>
          <p:cNvPr id="10" name="TextBox 9">
            <a:extLst>
              <a:ext uri="{FF2B5EF4-FFF2-40B4-BE49-F238E27FC236}">
                <a16:creationId xmlns:a16="http://schemas.microsoft.com/office/drawing/2014/main" id="{0B06E74D-13E0-32C2-A915-255D4CBF849C}"/>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8" name="TextBox 7">
            <a:extLst>
              <a:ext uri="{FF2B5EF4-FFF2-40B4-BE49-F238E27FC236}">
                <a16:creationId xmlns:a16="http://schemas.microsoft.com/office/drawing/2014/main" id="{9D0A5C6D-44B0-8E61-E405-39E89705DE90}"/>
              </a:ext>
            </a:extLst>
          </p:cNvPr>
          <p:cNvSpPr txBox="1"/>
          <p:nvPr/>
        </p:nvSpPr>
        <p:spPr>
          <a:xfrm>
            <a:off x="6485641" y="2064470"/>
            <a:ext cx="5167291" cy="5078313"/>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FROM (</a:t>
            </a:r>
          </a:p>
          <a:p>
            <a:r>
              <a:rPr lang="en-IN" dirty="0">
                <a:latin typeface="Calibri" panose="020F0502020204030204" pitchFamily="34" charset="0"/>
                <a:ea typeface="Calibri" panose="020F0502020204030204" pitchFamily="34" charset="0"/>
                <a:cs typeface="Calibri" panose="020F0502020204030204" pitchFamily="34" charset="0"/>
              </a:rPr>
              <a:t>	SELECT</a:t>
            </a:r>
          </a:p>
          <a:p>
            <a:r>
              <a:rPr lang="en-IN" dirty="0">
                <a:latin typeface="Calibri" panose="020F0502020204030204" pitchFamily="34" charset="0"/>
                <a:ea typeface="Calibri" panose="020F0502020204030204" pitchFamily="34" charset="0"/>
                <a:cs typeface="Calibri" panose="020F0502020204030204" pitchFamily="34" charset="0"/>
              </a:rPr>
              <a:t>	    user_id,</a:t>
            </a:r>
          </a:p>
          <a:p>
            <a:r>
              <a:rPr lang="en-IN" dirty="0">
                <a:latin typeface="Calibri" panose="020F0502020204030204" pitchFamily="34" charset="0"/>
                <a:ea typeface="Calibri" panose="020F0502020204030204" pitchFamily="34" charset="0"/>
                <a:cs typeface="Calibri" panose="020F0502020204030204" pitchFamily="34" charset="0"/>
              </a:rPr>
              <a:t>    	EXTRACT(WEEK FROM occurred_at) AS login_week</a:t>
            </a:r>
          </a:p>
          <a:p>
            <a:r>
              <a:rPr lang="en-IN" dirty="0">
                <a:latin typeface="Calibri" panose="020F0502020204030204" pitchFamily="34" charset="0"/>
                <a:ea typeface="Calibri" panose="020F0502020204030204" pitchFamily="34" charset="0"/>
                <a:cs typeface="Calibri" panose="020F0502020204030204" pitchFamily="34" charset="0"/>
              </a:rPr>
              <a:t>    	FROM events</a:t>
            </a:r>
          </a:p>
          <a:p>
            <a:r>
              <a:rPr lang="en-IN" dirty="0">
                <a:latin typeface="Calibri" panose="020F0502020204030204" pitchFamily="34" charset="0"/>
                <a:ea typeface="Calibri" panose="020F0502020204030204" pitchFamily="34" charset="0"/>
                <a:cs typeface="Calibri" panose="020F0502020204030204" pitchFamily="34" charset="0"/>
              </a:rPr>
              <a:t>	GROUP BY user_id, login_week</a:t>
            </a:r>
          </a:p>
          <a:p>
            <a:r>
              <a:rPr lang="en-IN" dirty="0">
                <a:latin typeface="Calibri" panose="020F0502020204030204" pitchFamily="34" charset="0"/>
                <a:ea typeface="Calibri" panose="020F0502020204030204" pitchFamily="34" charset="0"/>
                <a:cs typeface="Calibri" panose="020F0502020204030204" pitchFamily="34" charset="0"/>
              </a:rPr>
              <a:t>) m</a:t>
            </a:r>
          </a:p>
          <a:p>
            <a:r>
              <a:rPr lang="en-IN" dirty="0">
                <a:latin typeface="Calibri" panose="020F0502020204030204" pitchFamily="34" charset="0"/>
                <a:ea typeface="Calibri" panose="020F0502020204030204" pitchFamily="34" charset="0"/>
                <a:cs typeface="Calibri" panose="020F0502020204030204" pitchFamily="34" charset="0"/>
              </a:rPr>
              <a:t>    JOIN (</a:t>
            </a:r>
          </a:p>
          <a:p>
            <a:r>
              <a:rPr lang="en-IN" dirty="0">
                <a:latin typeface="Calibri" panose="020F0502020204030204" pitchFamily="34" charset="0"/>
                <a:ea typeface="Calibri" panose="020F0502020204030204" pitchFamily="34" charset="0"/>
                <a:cs typeface="Calibri" panose="020F0502020204030204" pitchFamily="34" charset="0"/>
              </a:rPr>
              <a:t>	SELECT user_id,</a:t>
            </a:r>
          </a:p>
          <a:p>
            <a:r>
              <a:rPr lang="en-IN" dirty="0">
                <a:latin typeface="Calibri" panose="020F0502020204030204" pitchFamily="34" charset="0"/>
                <a:ea typeface="Calibri" panose="020F0502020204030204" pitchFamily="34" charset="0"/>
                <a:cs typeface="Calibri" panose="020F0502020204030204" pitchFamily="34" charset="0"/>
              </a:rPr>
              <a:t>	EXTRACT(WEEK FROM occurred_at) AS</a:t>
            </a:r>
          </a:p>
          <a:p>
            <a:r>
              <a:rPr lang="en-IN" dirty="0">
                <a:latin typeface="Calibri" panose="020F0502020204030204" pitchFamily="34" charset="0"/>
                <a:ea typeface="Calibri" panose="020F0502020204030204" pitchFamily="34" charset="0"/>
                <a:cs typeface="Calibri" panose="020F0502020204030204" pitchFamily="34" charset="0"/>
              </a:rPr>
              <a:t>Login_week</a:t>
            </a:r>
          </a:p>
          <a:p>
            <a:r>
              <a:rPr lang="en-IN" dirty="0">
                <a:latin typeface="Calibri" panose="020F0502020204030204" pitchFamily="34" charset="0"/>
                <a:ea typeface="Calibri" panose="020F0502020204030204" pitchFamily="34" charset="0"/>
                <a:cs typeface="Calibri" panose="020F0502020204030204" pitchFamily="34" charset="0"/>
              </a:rPr>
              <a:t>FROM events</a:t>
            </a:r>
          </a:p>
          <a:p>
            <a:r>
              <a:rPr lang="en-IN" dirty="0">
                <a:latin typeface="Calibri" panose="020F0502020204030204" pitchFamily="34" charset="0"/>
                <a:ea typeface="Calibri" panose="020F0502020204030204" pitchFamily="34" charset="0"/>
                <a:cs typeface="Calibri" panose="020F0502020204030204" pitchFamily="34" charset="0"/>
              </a:rPr>
              <a:t>GROUP BY user_id, login_week</a:t>
            </a:r>
          </a:p>
          <a:p>
            <a:r>
              <a:rPr lang="en-IN" dirty="0">
                <a:latin typeface="Calibri" panose="020F0502020204030204" pitchFamily="34" charset="0"/>
                <a:ea typeface="Calibri" panose="020F0502020204030204" pitchFamily="34" charset="0"/>
                <a:cs typeface="Calibri" panose="020F0502020204030204" pitchFamily="34" charset="0"/>
              </a:rPr>
              <a:t>) m</a:t>
            </a:r>
          </a:p>
          <a:p>
            <a:endParaRPr lang="en-IN" dirty="0"/>
          </a:p>
          <a:p>
            <a:endParaRPr lang="en-IN" dirty="0"/>
          </a:p>
          <a:p>
            <a:endParaRPr lang="en-IN" dirty="0"/>
          </a:p>
        </p:txBody>
      </p:sp>
      <p:sp>
        <p:nvSpPr>
          <p:cNvPr id="4" name="TextBox 3">
            <a:extLst>
              <a:ext uri="{FF2B5EF4-FFF2-40B4-BE49-F238E27FC236}">
                <a16:creationId xmlns:a16="http://schemas.microsoft.com/office/drawing/2014/main" id="{A1143318-C9C7-3D79-8045-05B3A8B6C651}"/>
              </a:ext>
            </a:extLst>
          </p:cNvPr>
          <p:cNvSpPr txBox="1"/>
          <p:nvPr/>
        </p:nvSpPr>
        <p:spPr>
          <a:xfrm>
            <a:off x="11830639" y="6429080"/>
            <a:ext cx="480767" cy="369332"/>
          </a:xfrm>
          <a:prstGeom prst="rect">
            <a:avLst/>
          </a:prstGeom>
          <a:noFill/>
        </p:spPr>
        <p:txBody>
          <a:bodyPr wrap="square" rtlCol="0">
            <a:spAutoFit/>
          </a:bodyPr>
          <a:lstStyle/>
          <a:p>
            <a:r>
              <a:rPr lang="en-IN" dirty="0">
                <a:solidFill>
                  <a:schemeClr val="bg1"/>
                </a:solidFill>
              </a:rPr>
              <a:t>23</a:t>
            </a:r>
          </a:p>
        </p:txBody>
      </p:sp>
    </p:spTree>
    <p:extLst>
      <p:ext uri="{BB962C8B-B14F-4D97-AF65-F5344CB8AC3E}">
        <p14:creationId xmlns:p14="http://schemas.microsoft.com/office/powerpoint/2010/main" val="3580751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24428-8D17-600C-0141-9A9B2458BDA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522986F-7409-9DB0-181F-697B3233B794}"/>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81D838B1-30F6-BD54-8B5D-008CFA502035}"/>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466C4361-8B6F-7132-0D06-B90F8DB74791}"/>
              </a:ext>
            </a:extLst>
          </p:cNvPr>
          <p:cNvSpPr txBox="1"/>
          <p:nvPr/>
        </p:nvSpPr>
        <p:spPr>
          <a:xfrm>
            <a:off x="118783" y="2137020"/>
            <a:ext cx="5188508" cy="4555093"/>
          </a:xfrm>
          <a:prstGeom prst="rect">
            <a:avLst/>
          </a:prstGeom>
          <a:noFill/>
        </p:spPr>
        <p:txBody>
          <a:bodyPr wrap="square" rtlCol="0">
            <a:spAutoFit/>
          </a:bodyPr>
          <a:lstStyle/>
          <a:p>
            <a:r>
              <a:rPr lang="en-IN" dirty="0"/>
              <a:t> ANS. </a:t>
            </a:r>
            <a:r>
              <a:rPr lang="en-IN" b="1" dirty="0"/>
              <a:t>SQL CODE used:</a:t>
            </a:r>
          </a:p>
          <a:p>
            <a:endParaRPr lang="en-IN" b="1" dirty="0"/>
          </a:p>
          <a:p>
            <a:r>
              <a:rPr lang="en-IN" dirty="0">
                <a:latin typeface="Calibri" panose="020F0502020204030204" pitchFamily="34" charset="0"/>
                <a:ea typeface="Calibri" panose="020F0502020204030204" pitchFamily="34" charset="0"/>
                <a:cs typeface="Calibri" panose="020F0502020204030204" pitchFamily="34" charset="0"/>
              </a:rPr>
              <a:t>JOIN (</a:t>
            </a:r>
          </a:p>
          <a:p>
            <a:r>
              <a:rPr lang="en-IN" dirty="0">
                <a:latin typeface="Calibri" panose="020F0502020204030204" pitchFamily="34" charset="0"/>
                <a:ea typeface="Calibri" panose="020F0502020204030204" pitchFamily="34" charset="0"/>
                <a:cs typeface="Calibri" panose="020F0502020204030204" pitchFamily="34" charset="0"/>
              </a:rPr>
              <a:t>        SELECT user_id,</a:t>
            </a:r>
          </a:p>
          <a:p>
            <a:r>
              <a:rPr lang="en-IN" dirty="0">
                <a:latin typeface="Calibri" panose="020F0502020204030204" pitchFamily="34" charset="0"/>
                <a:ea typeface="Calibri" panose="020F0502020204030204" pitchFamily="34" charset="0"/>
                <a:cs typeface="Calibri" panose="020F0502020204030204" pitchFamily="34" charset="0"/>
              </a:rPr>
              <a:t>        MIN(EXTRACT(WEEK FROM occurred_at)) AS first</a:t>
            </a:r>
          </a:p>
          <a:p>
            <a:r>
              <a:rPr lang="en-IN" dirty="0">
                <a:latin typeface="Calibri" panose="020F0502020204030204" pitchFamily="34" charset="0"/>
                <a:ea typeface="Calibri" panose="020F0502020204030204" pitchFamily="34" charset="0"/>
                <a:cs typeface="Calibri" panose="020F0502020204030204" pitchFamily="34" charset="0"/>
              </a:rPr>
              <a:t>        FROM events</a:t>
            </a:r>
          </a:p>
          <a:p>
            <a:r>
              <a:rPr lang="en-IN" dirty="0">
                <a:latin typeface="Calibri" panose="020F0502020204030204" pitchFamily="34" charset="0"/>
                <a:ea typeface="Calibri" panose="020F0502020204030204" pitchFamily="34" charset="0"/>
                <a:cs typeface="Calibri" panose="020F0502020204030204" pitchFamily="34" charset="0"/>
              </a:rPr>
              <a:t>        GROUP BY </a:t>
            </a:r>
          </a:p>
          <a:p>
            <a:r>
              <a:rPr lang="en-IN" dirty="0">
                <a:latin typeface="Calibri" panose="020F0502020204030204" pitchFamily="34" charset="0"/>
                <a:ea typeface="Calibri" panose="020F0502020204030204" pitchFamily="34" charset="0"/>
                <a:cs typeface="Calibri" panose="020F0502020204030204" pitchFamily="34" charset="0"/>
              </a:rPr>
              <a:t>	user_id</a:t>
            </a:r>
          </a:p>
          <a:p>
            <a:r>
              <a:rPr lang="en-IN" dirty="0">
                <a:latin typeface="Calibri" panose="020F0502020204030204" pitchFamily="34" charset="0"/>
                <a:ea typeface="Calibri" panose="020F0502020204030204" pitchFamily="34" charset="0"/>
                <a:cs typeface="Calibri" panose="020F0502020204030204" pitchFamily="34" charset="0"/>
              </a:rPr>
              <a:t>        ) n</a:t>
            </a:r>
          </a:p>
          <a:p>
            <a:r>
              <a:rPr lang="en-IN" dirty="0">
                <a:latin typeface="Calibri" panose="020F0502020204030204" pitchFamily="34" charset="0"/>
                <a:ea typeface="Calibri" panose="020F0502020204030204" pitchFamily="34" charset="0"/>
                <a:cs typeface="Calibri" panose="020F0502020204030204" pitchFamily="34" charset="0"/>
              </a:rPr>
              <a:t>      On m.user_id = n.user_id</a:t>
            </a:r>
          </a:p>
          <a:p>
            <a:r>
              <a:rPr lang="en-IN" dirty="0">
                <a:latin typeface="Calibri" panose="020F0502020204030204" pitchFamily="34" charset="0"/>
                <a:ea typeface="Calibri" panose="020F0502020204030204" pitchFamily="34" charset="0"/>
                <a:cs typeface="Calibri" panose="020F0502020204030204" pitchFamily="34" charset="0"/>
              </a:rPr>
              <a:t>      GROUP BY first</a:t>
            </a:r>
          </a:p>
          <a:p>
            <a:r>
              <a:rPr lang="en-IN" dirty="0">
                <a:latin typeface="Calibri" panose="020F0502020204030204" pitchFamily="34" charset="0"/>
                <a:ea typeface="Calibri" panose="020F0502020204030204" pitchFamily="34" charset="0"/>
                <a:cs typeface="Calibri" panose="020F0502020204030204" pitchFamily="34" charset="0"/>
              </a:rPr>
              <a:t>      ORDER BY first;</a:t>
            </a:r>
          </a:p>
          <a:p>
            <a:endParaRPr lang="en-IN" sz="2800" dirty="0">
              <a:latin typeface="Calibri" panose="020F0502020204030204" pitchFamily="34" charset="0"/>
              <a:ea typeface="Calibri" panose="020F0502020204030204" pitchFamily="34" charset="0"/>
              <a:cs typeface="Calibri" panose="020F0502020204030204" pitchFamily="34" charset="0"/>
            </a:endParaRPr>
          </a:p>
          <a:p>
            <a:endParaRPr lang="en-IN" sz="2800" dirty="0">
              <a:latin typeface="Calibri" panose="020F0502020204030204" pitchFamily="34" charset="0"/>
              <a:ea typeface="Calibri" panose="020F0502020204030204" pitchFamily="34" charset="0"/>
              <a:cs typeface="Calibri" panose="020F0502020204030204" pitchFamily="34" charset="0"/>
            </a:endParaRPr>
          </a:p>
          <a:p>
            <a:endParaRPr lang="en-IN" b="1" dirty="0"/>
          </a:p>
        </p:txBody>
      </p:sp>
      <p:pic>
        <p:nvPicPr>
          <p:cNvPr id="2" name="Picture 1">
            <a:extLst>
              <a:ext uri="{FF2B5EF4-FFF2-40B4-BE49-F238E27FC236}">
                <a16:creationId xmlns:a16="http://schemas.microsoft.com/office/drawing/2014/main" id="{AE966A83-B91C-E0C9-D824-833B84C6BF52}"/>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AB3FD31B-97EA-EE59-9B62-5F7C87381DB9}"/>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093B07DC-05E6-5DA1-ACAE-5FD2F310CA9A}"/>
              </a:ext>
            </a:extLst>
          </p:cNvPr>
          <p:cNvSpPr txBox="1"/>
          <p:nvPr/>
        </p:nvSpPr>
        <p:spPr>
          <a:xfrm>
            <a:off x="443929" y="936691"/>
            <a:ext cx="11304141" cy="1200329"/>
          </a:xfrm>
          <a:prstGeom prst="rect">
            <a:avLst/>
          </a:prstGeom>
          <a:noFill/>
        </p:spPr>
        <p:txBody>
          <a:bodyPr wrap="square" rtlCol="0">
            <a:spAutoFit/>
          </a:bodyPr>
          <a:lstStyle/>
          <a:p>
            <a:r>
              <a:rPr lang="en-US" dirty="0">
                <a:solidFill>
                  <a:schemeClr val="bg1"/>
                </a:solidFill>
              </a:rPr>
              <a:t>TASK C. </a:t>
            </a:r>
            <a:r>
              <a:rPr lang="en-US" b="1" dirty="0">
                <a:solidFill>
                  <a:schemeClr val="bg1"/>
                </a:solidFill>
              </a:rPr>
              <a:t>Weekly Retention Analysis</a:t>
            </a:r>
          </a:p>
          <a:p>
            <a:r>
              <a:rPr lang="en-US" dirty="0">
                <a:solidFill>
                  <a:schemeClr val="bg1"/>
                </a:solidFill>
              </a:rPr>
              <a:t>Objective: Analyze the retention of users on a weekly basis after signing up for a product.</a:t>
            </a:r>
          </a:p>
          <a:p>
            <a:r>
              <a:rPr lang="en-US" dirty="0">
                <a:solidFill>
                  <a:schemeClr val="bg1"/>
                </a:solidFill>
              </a:rPr>
              <a:t>Your Task: Write an SQL query to calculate the weekly retention of users based on their sign-up cohort.</a:t>
            </a:r>
          </a:p>
          <a:p>
            <a:endParaRPr lang="en-US" dirty="0">
              <a:solidFill>
                <a:schemeClr val="bg1"/>
              </a:solidFill>
            </a:endParaRPr>
          </a:p>
        </p:txBody>
      </p:sp>
      <p:sp>
        <p:nvSpPr>
          <p:cNvPr id="10" name="TextBox 9">
            <a:extLst>
              <a:ext uri="{FF2B5EF4-FFF2-40B4-BE49-F238E27FC236}">
                <a16:creationId xmlns:a16="http://schemas.microsoft.com/office/drawing/2014/main" id="{E14991D7-8946-BBEE-3A15-87809153D96A}"/>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7A5BD271-D1EB-9270-061F-5A9260AE19F5}"/>
              </a:ext>
            </a:extLst>
          </p:cNvPr>
          <p:cNvSpPr txBox="1"/>
          <p:nvPr/>
        </p:nvSpPr>
        <p:spPr>
          <a:xfrm>
            <a:off x="6749592" y="2821478"/>
            <a:ext cx="4100659" cy="1569660"/>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Output : </a:t>
            </a:r>
          </a:p>
          <a:p>
            <a:r>
              <a:rPr lang="en-IN" sz="2400" dirty="0">
                <a:latin typeface="Calibri" panose="020F0502020204030204" pitchFamily="34" charset="0"/>
                <a:ea typeface="Calibri" panose="020F0502020204030204" pitchFamily="34" charset="0"/>
                <a:cs typeface="Calibri" panose="020F0502020204030204" pitchFamily="34" charset="0"/>
              </a:rPr>
              <a:t>A screenshot of the output obtained in MySQL Workbench is shown in the next slide </a:t>
            </a:r>
          </a:p>
        </p:txBody>
      </p:sp>
      <p:sp>
        <p:nvSpPr>
          <p:cNvPr id="8" name="Arrow: Bent-Up 7">
            <a:extLst>
              <a:ext uri="{FF2B5EF4-FFF2-40B4-BE49-F238E27FC236}">
                <a16:creationId xmlns:a16="http://schemas.microsoft.com/office/drawing/2014/main" id="{D4ECF37A-5DF7-2643-9BB1-F059BDD6AAC9}"/>
              </a:ext>
            </a:extLst>
          </p:cNvPr>
          <p:cNvSpPr/>
          <p:nvPr/>
        </p:nvSpPr>
        <p:spPr>
          <a:xfrm rot="5400000">
            <a:off x="9165207" y="4187860"/>
            <a:ext cx="820135" cy="1531856"/>
          </a:xfrm>
          <a:prstGeom prst="bentUpArrow">
            <a:avLst>
              <a:gd name="adj1" fmla="val 25000"/>
              <a:gd name="adj2" fmla="val 21703"/>
              <a:gd name="adj3" fmla="val 25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E1328A08-7418-0220-C115-3C6F5D59D9C6}"/>
              </a:ext>
            </a:extLst>
          </p:cNvPr>
          <p:cNvSpPr txBox="1"/>
          <p:nvPr/>
        </p:nvSpPr>
        <p:spPr>
          <a:xfrm>
            <a:off x="11831156" y="6450402"/>
            <a:ext cx="443059" cy="369332"/>
          </a:xfrm>
          <a:prstGeom prst="rect">
            <a:avLst/>
          </a:prstGeom>
          <a:noFill/>
        </p:spPr>
        <p:txBody>
          <a:bodyPr wrap="square" rtlCol="0">
            <a:spAutoFit/>
          </a:bodyPr>
          <a:lstStyle/>
          <a:p>
            <a:r>
              <a:rPr lang="en-IN" dirty="0">
                <a:solidFill>
                  <a:schemeClr val="bg1"/>
                </a:solidFill>
              </a:rPr>
              <a:t>24</a:t>
            </a:r>
          </a:p>
        </p:txBody>
      </p:sp>
    </p:spTree>
    <p:extLst>
      <p:ext uri="{BB962C8B-B14F-4D97-AF65-F5344CB8AC3E}">
        <p14:creationId xmlns:p14="http://schemas.microsoft.com/office/powerpoint/2010/main" val="4238064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3D1E0-6380-88CD-3797-AC425E9A7175}"/>
              </a:ext>
            </a:extLst>
          </p:cNvPr>
          <p:cNvSpPr>
            <a:spLocks noGrp="1"/>
          </p:cNvSpPr>
          <p:nvPr>
            <p:ph type="title"/>
          </p:nvPr>
        </p:nvSpPr>
        <p:spPr/>
        <p:txBody>
          <a:bodyPr/>
          <a:lstStyle/>
          <a:p>
            <a:endParaRPr lang="en-IN" dirty="0"/>
          </a:p>
        </p:txBody>
      </p:sp>
      <p:pic>
        <p:nvPicPr>
          <p:cNvPr id="4" name="Picture 3">
            <a:extLst>
              <a:ext uri="{FF2B5EF4-FFF2-40B4-BE49-F238E27FC236}">
                <a16:creationId xmlns:a16="http://schemas.microsoft.com/office/drawing/2014/main" id="{86023552-28FC-B71A-A6CB-99B8429F0E5D}"/>
              </a:ext>
            </a:extLst>
          </p:cNvPr>
          <p:cNvPicPr>
            <a:picLocks noChangeAspect="1"/>
          </p:cNvPicPr>
          <p:nvPr/>
        </p:nvPicPr>
        <p:blipFill>
          <a:blip r:embed="rId2"/>
          <a:stretch>
            <a:fillRect/>
          </a:stretch>
        </p:blipFill>
        <p:spPr>
          <a:xfrm>
            <a:off x="0" y="-115478"/>
            <a:ext cx="12192000" cy="7088956"/>
          </a:xfrm>
          <a:prstGeom prst="rect">
            <a:avLst/>
          </a:prstGeom>
        </p:spPr>
      </p:pic>
    </p:spTree>
    <p:extLst>
      <p:ext uri="{BB962C8B-B14F-4D97-AF65-F5344CB8AC3E}">
        <p14:creationId xmlns:p14="http://schemas.microsoft.com/office/powerpoint/2010/main" val="2667732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73B53-EF16-8177-A6A4-B2F877DACF2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9528468-AC15-8C95-73CB-3200DB857B4A}"/>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3685590A-2AFB-648C-1C0A-4923C9D32A8F}"/>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D1C6221B-C997-12DF-7130-FD7BFBE5C204}"/>
              </a:ext>
            </a:extLst>
          </p:cNvPr>
          <p:cNvSpPr txBox="1"/>
          <p:nvPr/>
        </p:nvSpPr>
        <p:spPr>
          <a:xfrm>
            <a:off x="443929" y="2157187"/>
            <a:ext cx="10659034" cy="5509200"/>
          </a:xfrm>
          <a:prstGeom prst="rect">
            <a:avLst/>
          </a:prstGeom>
          <a:noFill/>
        </p:spPr>
        <p:txBody>
          <a:bodyPr wrap="square" rtlCol="0">
            <a:spAutoFit/>
          </a:bodyPr>
          <a:lstStyle/>
          <a:p>
            <a:r>
              <a:rPr lang="en-IN" dirty="0"/>
              <a:t> </a:t>
            </a:r>
            <a:r>
              <a:rPr lang="en-IN" sz="2400" dirty="0">
                <a:latin typeface="Calibri" panose="020F0502020204030204" pitchFamily="34" charset="0"/>
                <a:ea typeface="Calibri" panose="020F0502020204030204" pitchFamily="34" charset="0"/>
                <a:cs typeface="Calibri" panose="020F0502020204030204" pitchFamily="34" charset="0"/>
              </a:rPr>
              <a:t>From the table generated in the MySQL Workbench, we can observe :</a:t>
            </a:r>
          </a:p>
          <a:p>
            <a:r>
              <a:rPr lang="en-IN" sz="2400" dirty="0">
                <a:latin typeface="Calibri" panose="020F0502020204030204" pitchFamily="34" charset="0"/>
                <a:ea typeface="Calibri" panose="020F0502020204030204" pitchFamily="34" charset="0"/>
                <a:cs typeface="Calibri" panose="020F0502020204030204" pitchFamily="34" charset="0"/>
              </a:rPr>
              <a:t>The first column shows the week number and the second column shows the week when the number of users sign-up for the first time. It is their zeroth week as a user. We have analysed the users for almost eighteen weeks since their sign-up. </a:t>
            </a:r>
            <a:r>
              <a:rPr lang="en-IN" sz="2400" b="1" dirty="0">
                <a:latin typeface="Calibri" panose="020F0502020204030204" pitchFamily="34" charset="0"/>
                <a:ea typeface="Calibri" panose="020F0502020204030204" pitchFamily="34" charset="0"/>
                <a:cs typeface="Calibri" panose="020F0502020204030204" pitchFamily="34" charset="0"/>
              </a:rPr>
              <a:t>In every passing week we can observe that the user engagement is gradually reducing. </a:t>
            </a:r>
          </a:p>
          <a:p>
            <a:r>
              <a:rPr lang="en-IN" sz="2400" dirty="0">
                <a:latin typeface="Calibri" panose="020F0502020204030204" pitchFamily="34" charset="0"/>
                <a:ea typeface="Calibri" panose="020F0502020204030204" pitchFamily="34" charset="0"/>
                <a:cs typeface="Calibri" panose="020F0502020204030204" pitchFamily="34" charset="0"/>
              </a:rPr>
              <a:t>This shows that more strategies must be planned in order to keep the users engaged. This analysis helps us to get deep insights into the user pattern.</a:t>
            </a:r>
          </a:p>
          <a:p>
            <a:r>
              <a:rPr lang="en-IN" sz="2400" dirty="0">
                <a:latin typeface="Calibri" panose="020F0502020204030204" pitchFamily="34" charset="0"/>
                <a:ea typeface="Calibri" panose="020F0502020204030204" pitchFamily="34" charset="0"/>
                <a:cs typeface="Calibri" panose="020F0502020204030204" pitchFamily="34" charset="0"/>
              </a:rPr>
              <a:t>It can be taken into consideration that as the users cross a certain amount of time being as users, they tend to reduce their usage. This analysis can be prove to be an alarm for any company which needs to gear up it’s marketing game. The company must focus not only on bringing new users but also retain the existing users.</a:t>
            </a:r>
          </a:p>
          <a:p>
            <a:endParaRPr lang="en-IN" sz="2400" dirty="0">
              <a:latin typeface="Calibri" panose="020F0502020204030204" pitchFamily="34" charset="0"/>
              <a:ea typeface="Calibri" panose="020F0502020204030204" pitchFamily="34" charset="0"/>
              <a:cs typeface="Calibri" panose="020F0502020204030204" pitchFamily="34" charset="0"/>
            </a:endParaRPr>
          </a:p>
          <a:p>
            <a:endParaRPr lang="en-IN" dirty="0"/>
          </a:p>
          <a:p>
            <a:r>
              <a:rPr lang="en-IN" sz="2800" dirty="0">
                <a:latin typeface="Calibri" panose="020F0502020204030204" pitchFamily="34" charset="0"/>
                <a:ea typeface="Calibri" panose="020F0502020204030204" pitchFamily="34" charset="0"/>
                <a:cs typeface="Calibri" panose="020F0502020204030204" pitchFamily="34" charset="0"/>
              </a:rPr>
              <a:t>;</a:t>
            </a:r>
          </a:p>
          <a:p>
            <a:endParaRPr lang="en-IN" b="1" dirty="0"/>
          </a:p>
        </p:txBody>
      </p:sp>
      <p:pic>
        <p:nvPicPr>
          <p:cNvPr id="2" name="Picture 1">
            <a:extLst>
              <a:ext uri="{FF2B5EF4-FFF2-40B4-BE49-F238E27FC236}">
                <a16:creationId xmlns:a16="http://schemas.microsoft.com/office/drawing/2014/main" id="{C6D89837-E734-DC6E-415D-FC80EAD45AC6}"/>
              </a:ext>
            </a:extLst>
          </p:cNvPr>
          <p:cNvPicPr>
            <a:picLocks noChangeAspect="1"/>
          </p:cNvPicPr>
          <p:nvPr/>
        </p:nvPicPr>
        <p:blipFill>
          <a:blip r:embed="rId4"/>
          <a:stretch>
            <a:fillRect/>
          </a:stretch>
        </p:blipFill>
        <p:spPr>
          <a:xfrm>
            <a:off x="0" y="930358"/>
            <a:ext cx="12192000" cy="785148"/>
          </a:xfrm>
          <a:prstGeom prst="rect">
            <a:avLst/>
          </a:prstGeom>
        </p:spPr>
      </p:pic>
      <p:sp>
        <p:nvSpPr>
          <p:cNvPr id="3" name="Freeform 1">
            <a:extLst>
              <a:ext uri="{FF2B5EF4-FFF2-40B4-BE49-F238E27FC236}">
                <a16:creationId xmlns:a16="http://schemas.microsoft.com/office/drawing/2014/main" id="{F8BD1C8C-0843-B55C-55FC-B9944A1CBECB}"/>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71905B8C-27E9-34EC-E7A2-0080A4895892}"/>
              </a:ext>
            </a:extLst>
          </p:cNvPr>
          <p:cNvSpPr txBox="1"/>
          <p:nvPr/>
        </p:nvSpPr>
        <p:spPr>
          <a:xfrm>
            <a:off x="443929" y="936691"/>
            <a:ext cx="11304141" cy="923330"/>
          </a:xfrm>
          <a:prstGeom prst="rect">
            <a:avLst/>
          </a:prstGeom>
          <a:noFill/>
        </p:spPr>
        <p:txBody>
          <a:bodyPr wrap="square" rtlCol="0">
            <a:spAutoFit/>
          </a:bodyPr>
          <a:lstStyle/>
          <a:p>
            <a:pPr algn="ctr"/>
            <a:r>
              <a:rPr lang="en-US" sz="3600" dirty="0">
                <a:solidFill>
                  <a:schemeClr val="bg1"/>
                </a:solidFill>
              </a:rPr>
              <a:t>Key Observation from Weekly Retention Analysis</a:t>
            </a:r>
          </a:p>
          <a:p>
            <a:endParaRPr lang="en-IN" dirty="0"/>
          </a:p>
        </p:txBody>
      </p:sp>
      <p:sp>
        <p:nvSpPr>
          <p:cNvPr id="10" name="TextBox 9">
            <a:extLst>
              <a:ext uri="{FF2B5EF4-FFF2-40B4-BE49-F238E27FC236}">
                <a16:creationId xmlns:a16="http://schemas.microsoft.com/office/drawing/2014/main" id="{43872631-504E-153A-429A-183284DBC513}"/>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410A387B-7409-15B4-7657-EE8541764C6E}"/>
              </a:ext>
            </a:extLst>
          </p:cNvPr>
          <p:cNvSpPr txBox="1"/>
          <p:nvPr/>
        </p:nvSpPr>
        <p:spPr>
          <a:xfrm flipH="1">
            <a:off x="11779737" y="6450402"/>
            <a:ext cx="545898" cy="369332"/>
          </a:xfrm>
          <a:prstGeom prst="rect">
            <a:avLst/>
          </a:prstGeom>
          <a:noFill/>
        </p:spPr>
        <p:txBody>
          <a:bodyPr wrap="square" rtlCol="0">
            <a:spAutoFit/>
          </a:bodyPr>
          <a:lstStyle/>
          <a:p>
            <a:r>
              <a:rPr lang="en-IN" dirty="0">
                <a:solidFill>
                  <a:schemeClr val="bg1"/>
                </a:solidFill>
              </a:rPr>
              <a:t>26</a:t>
            </a:r>
          </a:p>
        </p:txBody>
      </p:sp>
    </p:spTree>
    <p:extLst>
      <p:ext uri="{BB962C8B-B14F-4D97-AF65-F5344CB8AC3E}">
        <p14:creationId xmlns:p14="http://schemas.microsoft.com/office/powerpoint/2010/main" val="3245043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D3A8E-E659-27C3-278D-DF8EFFCC8F7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986ABE2-C56C-A39B-32F4-D9669E7DC207}"/>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C84F36F8-13A5-E90F-2961-0AB0E676110B}"/>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444EA56B-4FB3-48BD-D3A4-90A85742167E}"/>
              </a:ext>
            </a:extLst>
          </p:cNvPr>
          <p:cNvSpPr txBox="1"/>
          <p:nvPr/>
        </p:nvSpPr>
        <p:spPr>
          <a:xfrm>
            <a:off x="118783" y="2137020"/>
            <a:ext cx="10659034" cy="4524315"/>
          </a:xfrm>
          <a:prstGeom prst="rect">
            <a:avLst/>
          </a:prstGeom>
          <a:noFill/>
        </p:spPr>
        <p:txBody>
          <a:bodyPr wrap="square" rtlCol="0">
            <a:spAutoFit/>
          </a:bodyPr>
          <a:lstStyle/>
          <a:p>
            <a:r>
              <a:rPr lang="en-IN" dirty="0"/>
              <a:t> ANS. </a:t>
            </a:r>
            <a:r>
              <a:rPr lang="en-IN" b="1" dirty="0"/>
              <a:t>SQL CODE used:</a:t>
            </a:r>
          </a:p>
          <a:p>
            <a:r>
              <a:rPr lang="en-IN" dirty="0">
                <a:latin typeface="Calibri" panose="020F0502020204030204" pitchFamily="34" charset="0"/>
                <a:ea typeface="Calibri" panose="020F0502020204030204" pitchFamily="34" charset="0"/>
                <a:cs typeface="Calibri" panose="020F0502020204030204" pitchFamily="34" charset="0"/>
              </a:rPr>
              <a:t>SELECT</a:t>
            </a:r>
          </a:p>
          <a:p>
            <a:r>
              <a:rPr lang="en-IN" dirty="0">
                <a:latin typeface="Calibri" panose="020F0502020204030204" pitchFamily="34" charset="0"/>
                <a:ea typeface="Calibri" panose="020F0502020204030204" pitchFamily="34" charset="0"/>
                <a:cs typeface="Calibri" panose="020F0502020204030204" pitchFamily="34" charset="0"/>
              </a:rPr>
              <a:t>	EXTRACT(WEEK FROM occurred_at) AS week_number,</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'dell inspiron notebook' THEN user_id ELSE NULL END) AS dell_inspiron_notebook,</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'iphone 5' THEN user_id ELSE NULL END) AS iphone_5,</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'iphone 4s' THEN user_id ELSE NULL END) AS iphone_4s,</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'iphone 5s' THEN user_id ELSE NULL END) AS iphone_5s,</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'ipad air' THEN user_id ELSE NULL END) AS ipad_air,</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'windows surface' THEN user_id ELSE NULL END) AS windows_surface,</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'macbook air' THEN user_id ELSE NULL END) AS </a:t>
            </a:r>
            <a:r>
              <a:rPr lang="en-IN" dirty="0" err="1">
                <a:latin typeface="Calibri" panose="020F0502020204030204" pitchFamily="34" charset="0"/>
                <a:ea typeface="Calibri" panose="020F0502020204030204" pitchFamily="34" charset="0"/>
                <a:cs typeface="Calibri" panose="020F0502020204030204" pitchFamily="34" charset="0"/>
              </a:rPr>
              <a:t>macbook_air</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'macbook pro' THEN user_id ELSE NULL END) AS </a:t>
            </a:r>
            <a:r>
              <a:rPr lang="en-IN" dirty="0" err="1">
                <a:latin typeface="Calibri" panose="020F0502020204030204" pitchFamily="34" charset="0"/>
                <a:ea typeface="Calibri" panose="020F0502020204030204" pitchFamily="34" charset="0"/>
                <a:cs typeface="Calibri" panose="020F0502020204030204" pitchFamily="34" charset="0"/>
              </a:rPr>
              <a:t>macbook_pro</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'ipad mini' THEN user_id ELSE NULL END) AS ipad_mini,</a:t>
            </a:r>
          </a:p>
          <a:p>
            <a:r>
              <a:rPr lang="en-IN" dirty="0">
                <a:latin typeface="Calibri" panose="020F0502020204030204" pitchFamily="34" charset="0"/>
                <a:ea typeface="Calibri" panose="020F0502020204030204" pitchFamily="34" charset="0"/>
                <a:cs typeface="Calibri" panose="020F0502020204030204" pitchFamily="34" charset="0"/>
              </a:rPr>
              <a:t>COUNT(DISTINCT CASE WHEN device = 'kindle fire' THEN user_id ELSE NULL END) AS kindle_fire,</a:t>
            </a:r>
          </a:p>
          <a:p>
            <a:r>
              <a:rPr lang="en-IN" dirty="0">
                <a:latin typeface="Calibri" panose="020F0502020204030204" pitchFamily="34" charset="0"/>
                <a:ea typeface="Calibri" panose="020F0502020204030204" pitchFamily="34" charset="0"/>
                <a:cs typeface="Calibri" panose="020F0502020204030204" pitchFamily="34" charset="0"/>
              </a:rPr>
              <a:t>COUNT(DISTINCT CASE WHEN device = 'amazon fire phone' THEN user_id ELSE NULL END) AS amazon_fire_phone,</a:t>
            </a:r>
          </a:p>
        </p:txBody>
      </p:sp>
      <p:pic>
        <p:nvPicPr>
          <p:cNvPr id="2" name="Picture 1">
            <a:extLst>
              <a:ext uri="{FF2B5EF4-FFF2-40B4-BE49-F238E27FC236}">
                <a16:creationId xmlns:a16="http://schemas.microsoft.com/office/drawing/2014/main" id="{28A9B5C7-3640-E3F5-A8A4-358084F5BE6B}"/>
              </a:ext>
            </a:extLst>
          </p:cNvPr>
          <p:cNvPicPr>
            <a:picLocks noChangeAspect="1"/>
          </p:cNvPicPr>
          <p:nvPr/>
        </p:nvPicPr>
        <p:blipFill>
          <a:blip r:embed="rId4"/>
          <a:stretch>
            <a:fillRect/>
          </a:stretch>
        </p:blipFill>
        <p:spPr>
          <a:xfrm>
            <a:off x="0" y="977441"/>
            <a:ext cx="12192000" cy="967287"/>
          </a:xfrm>
          <a:prstGeom prst="rect">
            <a:avLst/>
          </a:prstGeom>
        </p:spPr>
      </p:pic>
      <p:sp>
        <p:nvSpPr>
          <p:cNvPr id="3" name="Freeform 1">
            <a:extLst>
              <a:ext uri="{FF2B5EF4-FFF2-40B4-BE49-F238E27FC236}">
                <a16:creationId xmlns:a16="http://schemas.microsoft.com/office/drawing/2014/main" id="{E79DEEAC-3F81-BC95-2A39-879FFADE75B3}"/>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7E905997-7852-6E2D-F1B4-067E17EEFA49}"/>
              </a:ext>
            </a:extLst>
          </p:cNvPr>
          <p:cNvSpPr txBox="1"/>
          <p:nvPr/>
        </p:nvSpPr>
        <p:spPr>
          <a:xfrm>
            <a:off x="465925" y="977441"/>
            <a:ext cx="11304141" cy="1200329"/>
          </a:xfrm>
          <a:prstGeom prst="rect">
            <a:avLst/>
          </a:prstGeom>
          <a:noFill/>
        </p:spPr>
        <p:txBody>
          <a:bodyPr wrap="square" rtlCol="0">
            <a:spAutoFit/>
          </a:bodyPr>
          <a:lstStyle/>
          <a:p>
            <a:r>
              <a:rPr lang="en-US" dirty="0">
                <a:solidFill>
                  <a:schemeClr val="bg1"/>
                </a:solidFill>
              </a:rPr>
              <a:t>TASK D. </a:t>
            </a:r>
            <a:r>
              <a:rPr lang="en-US" b="1" dirty="0">
                <a:solidFill>
                  <a:schemeClr val="bg1"/>
                </a:solidFill>
              </a:rPr>
              <a:t>Weekly Engagement Per Device</a:t>
            </a:r>
          </a:p>
          <a:p>
            <a:r>
              <a:rPr lang="en-US" dirty="0">
                <a:solidFill>
                  <a:schemeClr val="bg1"/>
                </a:solidFill>
              </a:rPr>
              <a:t>Objective: Measure the activeness of users on a weekly basis per device.</a:t>
            </a:r>
          </a:p>
          <a:p>
            <a:r>
              <a:rPr lang="en-US" dirty="0">
                <a:solidFill>
                  <a:schemeClr val="bg1"/>
                </a:solidFill>
              </a:rPr>
              <a:t>Your Task: Write an SQL query to calculate the weekly engagement per device.</a:t>
            </a:r>
          </a:p>
          <a:p>
            <a:endParaRPr lang="en-IN" dirty="0"/>
          </a:p>
        </p:txBody>
      </p:sp>
      <p:sp>
        <p:nvSpPr>
          <p:cNvPr id="10" name="TextBox 9">
            <a:extLst>
              <a:ext uri="{FF2B5EF4-FFF2-40B4-BE49-F238E27FC236}">
                <a16:creationId xmlns:a16="http://schemas.microsoft.com/office/drawing/2014/main" id="{86B5799D-E336-3FAC-0E0A-B5A756605439}"/>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3C9F1660-6956-AE9D-8196-B9F2F7D27804}"/>
              </a:ext>
            </a:extLst>
          </p:cNvPr>
          <p:cNvSpPr txBox="1"/>
          <p:nvPr/>
        </p:nvSpPr>
        <p:spPr>
          <a:xfrm>
            <a:off x="11770066" y="6450402"/>
            <a:ext cx="612374" cy="369332"/>
          </a:xfrm>
          <a:prstGeom prst="rect">
            <a:avLst/>
          </a:prstGeom>
          <a:noFill/>
        </p:spPr>
        <p:txBody>
          <a:bodyPr wrap="square" rtlCol="0">
            <a:spAutoFit/>
          </a:bodyPr>
          <a:lstStyle/>
          <a:p>
            <a:r>
              <a:rPr lang="en-IN" dirty="0">
                <a:solidFill>
                  <a:schemeClr val="bg1"/>
                </a:solidFill>
              </a:rPr>
              <a:t>27</a:t>
            </a:r>
          </a:p>
        </p:txBody>
      </p:sp>
    </p:spTree>
    <p:extLst>
      <p:ext uri="{BB962C8B-B14F-4D97-AF65-F5344CB8AC3E}">
        <p14:creationId xmlns:p14="http://schemas.microsoft.com/office/powerpoint/2010/main" val="625769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DCB82-6AB1-26E0-166D-B85EFEDAAF4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DB82B8C-6A94-FB57-9D36-BAE22B5474DF}"/>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25509BFF-B947-81A5-CDF3-6AAAF033099C}"/>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1296100A-2003-B79A-E63C-22B60F403B89}"/>
              </a:ext>
            </a:extLst>
          </p:cNvPr>
          <p:cNvSpPr txBox="1"/>
          <p:nvPr/>
        </p:nvSpPr>
        <p:spPr>
          <a:xfrm>
            <a:off x="118783" y="2137020"/>
            <a:ext cx="10659034" cy="4247317"/>
          </a:xfrm>
          <a:prstGeom prst="rect">
            <a:avLst/>
          </a:prstGeom>
          <a:noFill/>
        </p:spPr>
        <p:txBody>
          <a:bodyPr wrap="square" rtlCol="0">
            <a:spAutoFit/>
          </a:bodyPr>
          <a:lstStyle/>
          <a:p>
            <a:r>
              <a:rPr lang="en-IN" dirty="0"/>
              <a:t> </a:t>
            </a:r>
            <a:r>
              <a:rPr lang="en-IN" dirty="0">
                <a:latin typeface="Calibri" panose="020F0502020204030204" pitchFamily="34" charset="0"/>
                <a:ea typeface="Calibri" panose="020F0502020204030204" pitchFamily="34" charset="0"/>
                <a:cs typeface="Calibri" panose="020F0502020204030204" pitchFamily="34" charset="0"/>
              </a:rPr>
              <a:t>ANS. SQL CODE used:</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'nexus 5' THEN user_id ELSE NULL END) AS nexus_5,</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'nexus 7' THEN user_id ELSE NULL END) AS nexus_7,</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'nexus 10' THEN user_id ELSE NULL END) AS nexus_10,</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'samsung galaxy s4' THEN user_id ELSE NULL END) AS samsung_galaxy_s4,</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'samsung galaxy tablet' THEN user_id ELSE NULL END) AS samsung_galaxy_tablet,</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'samsung galaxy note' THEN user_id ELSE NULL END) AS samsung_galaxy_note,</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'lenovo thinkpad' THEN user_id ELSE NULL END) AS lenovo_thinkpad,</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'acer aspire notebook' THEN user_id ELSE NULL END) AS acer_aspire_notebook,</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'asus chromebook' THEN user_id ELSE NULL END) AS asus_chromebook,</a:t>
            </a:r>
          </a:p>
        </p:txBody>
      </p:sp>
      <p:pic>
        <p:nvPicPr>
          <p:cNvPr id="2" name="Picture 1">
            <a:extLst>
              <a:ext uri="{FF2B5EF4-FFF2-40B4-BE49-F238E27FC236}">
                <a16:creationId xmlns:a16="http://schemas.microsoft.com/office/drawing/2014/main" id="{36ADC9C8-55F9-AF0C-FFB1-31ECCACBA8F9}"/>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4446CB01-2C60-76F2-B79D-221A7E1EACBA}"/>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9EDE5FEE-677D-EEFB-3117-1516C638A54D}"/>
              </a:ext>
            </a:extLst>
          </p:cNvPr>
          <p:cNvSpPr txBox="1"/>
          <p:nvPr/>
        </p:nvSpPr>
        <p:spPr>
          <a:xfrm>
            <a:off x="443929" y="936691"/>
            <a:ext cx="11304141" cy="923330"/>
          </a:xfrm>
          <a:prstGeom prst="rect">
            <a:avLst/>
          </a:prstGeom>
          <a:noFill/>
        </p:spPr>
        <p:txBody>
          <a:bodyPr wrap="square" rtlCol="0">
            <a:spAutoFit/>
          </a:bodyPr>
          <a:lstStyle/>
          <a:p>
            <a:r>
              <a:rPr lang="en-US" dirty="0">
                <a:solidFill>
                  <a:schemeClr val="bg1"/>
                </a:solidFill>
              </a:rPr>
              <a:t>TASK D. </a:t>
            </a:r>
            <a:r>
              <a:rPr lang="en-US" b="1" dirty="0">
                <a:solidFill>
                  <a:schemeClr val="bg1"/>
                </a:solidFill>
              </a:rPr>
              <a:t>Weekly Engagement Per Device</a:t>
            </a:r>
          </a:p>
          <a:p>
            <a:r>
              <a:rPr lang="en-US" dirty="0">
                <a:solidFill>
                  <a:schemeClr val="bg1"/>
                </a:solidFill>
              </a:rPr>
              <a:t>Objective: Measure the activeness of users on a weekly basis per device.</a:t>
            </a:r>
          </a:p>
          <a:p>
            <a:r>
              <a:rPr lang="en-US" dirty="0">
                <a:solidFill>
                  <a:schemeClr val="bg1"/>
                </a:solidFill>
              </a:rPr>
              <a:t>Your Task: Write an SQL query to calculate the weekly engagement per device.</a:t>
            </a:r>
          </a:p>
        </p:txBody>
      </p:sp>
      <p:sp>
        <p:nvSpPr>
          <p:cNvPr id="10" name="TextBox 9">
            <a:extLst>
              <a:ext uri="{FF2B5EF4-FFF2-40B4-BE49-F238E27FC236}">
                <a16:creationId xmlns:a16="http://schemas.microsoft.com/office/drawing/2014/main" id="{AB72914D-F8C1-AFDC-B178-11732EE33EFA}"/>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E514D54E-CE61-63F5-7D2F-080809F94604}"/>
              </a:ext>
            </a:extLst>
          </p:cNvPr>
          <p:cNvSpPr txBox="1"/>
          <p:nvPr/>
        </p:nvSpPr>
        <p:spPr>
          <a:xfrm>
            <a:off x="11828013" y="6422680"/>
            <a:ext cx="544483" cy="369332"/>
          </a:xfrm>
          <a:prstGeom prst="rect">
            <a:avLst/>
          </a:prstGeom>
          <a:noFill/>
        </p:spPr>
        <p:txBody>
          <a:bodyPr wrap="square" rtlCol="0">
            <a:spAutoFit/>
          </a:bodyPr>
          <a:lstStyle/>
          <a:p>
            <a:r>
              <a:rPr lang="en-IN" dirty="0">
                <a:solidFill>
                  <a:schemeClr val="bg1"/>
                </a:solidFill>
              </a:rPr>
              <a:t>28</a:t>
            </a:r>
          </a:p>
        </p:txBody>
      </p:sp>
    </p:spTree>
    <p:extLst>
      <p:ext uri="{BB962C8B-B14F-4D97-AF65-F5344CB8AC3E}">
        <p14:creationId xmlns:p14="http://schemas.microsoft.com/office/powerpoint/2010/main" val="308760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5154A-2608-6F35-4FE3-C89D97D0433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8E4C65E-AF1D-53F4-49A4-3AA94092ECE0}"/>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B6CF481E-BBE9-3C20-7A15-80138E8D18AD}"/>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A1BC51C2-F325-3A71-0CFB-6070215A0579}"/>
              </a:ext>
            </a:extLst>
          </p:cNvPr>
          <p:cNvSpPr txBox="1"/>
          <p:nvPr/>
        </p:nvSpPr>
        <p:spPr>
          <a:xfrm>
            <a:off x="118783" y="2137020"/>
            <a:ext cx="10659034" cy="4678204"/>
          </a:xfrm>
          <a:prstGeom prst="rect">
            <a:avLst/>
          </a:prstGeom>
          <a:noFill/>
        </p:spPr>
        <p:txBody>
          <a:bodyPr wrap="square" rtlCol="0">
            <a:spAutoFit/>
          </a:bodyPr>
          <a:lstStyle/>
          <a:p>
            <a:r>
              <a:rPr lang="en-IN" dirty="0"/>
              <a:t> ANS. </a:t>
            </a:r>
            <a:r>
              <a:rPr lang="en-IN" b="1" dirty="0"/>
              <a:t>SQL CODE used:</a:t>
            </a:r>
          </a:p>
          <a:p>
            <a:r>
              <a:rPr lang="en-IN" dirty="0"/>
              <a:t>    </a:t>
            </a:r>
          </a:p>
          <a:p>
            <a:r>
              <a:rPr lang="en-IN" dirty="0"/>
              <a:t>    </a:t>
            </a:r>
            <a:r>
              <a:rPr lang="en-IN" dirty="0">
                <a:latin typeface="Calibri" panose="020F0502020204030204" pitchFamily="34" charset="0"/>
                <a:ea typeface="Calibri" panose="020F0502020204030204" pitchFamily="34" charset="0"/>
                <a:cs typeface="Calibri" panose="020F0502020204030204" pitchFamily="34" charset="0"/>
              </a:rPr>
              <a:t>COUNT(DISTINCT CASE WHEN device = 'htc one' THEN user_id ELSE NULL END) AS htc_one,</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'nokia lumia 635' THEN user_id ELSE NULL END) AS nokia_lumia_635,</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'mac mini' THEN user_id ELSE NULL END) AS mac_mini,</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'hp pavilion desktop' THEN user_id ELSE NULL END) AS hp_pavilion_desktop,</a:t>
            </a:r>
          </a:p>
          <a:p>
            <a:r>
              <a:rPr lang="en-IN" dirty="0">
                <a:latin typeface="Calibri" panose="020F0502020204030204" pitchFamily="34" charset="0"/>
                <a:ea typeface="Calibri" panose="020F0502020204030204" pitchFamily="34" charset="0"/>
                <a:cs typeface="Calibri" panose="020F0502020204030204" pitchFamily="34" charset="0"/>
              </a:rPr>
              <a:t>    COUNT(DISTINCT CASE WHEN device = 'dell inspiron desktop' THEN user_id ELSE NULL END) AS dell_inspiron_desktop</a:t>
            </a:r>
          </a:p>
          <a:p>
            <a:r>
              <a:rPr lang="en-IN" dirty="0">
                <a:latin typeface="Calibri" panose="020F0502020204030204" pitchFamily="34" charset="0"/>
                <a:ea typeface="Calibri" panose="020F0502020204030204" pitchFamily="34" charset="0"/>
                <a:cs typeface="Calibri" panose="020F0502020204030204" pitchFamily="34" charset="0"/>
              </a:rPr>
              <a:t>    FROM events</a:t>
            </a:r>
          </a:p>
          <a:p>
            <a:r>
              <a:rPr lang="en-IN" dirty="0">
                <a:latin typeface="Calibri" panose="020F0502020204030204" pitchFamily="34" charset="0"/>
                <a:ea typeface="Calibri" panose="020F0502020204030204" pitchFamily="34" charset="0"/>
                <a:cs typeface="Calibri" panose="020F0502020204030204" pitchFamily="34" charset="0"/>
              </a:rPr>
              <a:t>    WHERE event_type = 'engagement'</a:t>
            </a:r>
          </a:p>
          <a:p>
            <a:r>
              <a:rPr lang="en-IN" dirty="0">
                <a:latin typeface="Calibri" panose="020F0502020204030204" pitchFamily="34" charset="0"/>
                <a:ea typeface="Calibri" panose="020F0502020204030204" pitchFamily="34" charset="0"/>
                <a:cs typeface="Calibri" panose="020F0502020204030204" pitchFamily="34" charset="0"/>
              </a:rPr>
              <a:t>    GROUP BY week_number</a:t>
            </a:r>
          </a:p>
          <a:p>
            <a:r>
              <a:rPr lang="en-IN" dirty="0">
                <a:latin typeface="Calibri" panose="020F0502020204030204" pitchFamily="34" charset="0"/>
                <a:ea typeface="Calibri" panose="020F0502020204030204" pitchFamily="34" charset="0"/>
                <a:cs typeface="Calibri" panose="020F0502020204030204" pitchFamily="34" charset="0"/>
              </a:rPr>
              <a:t>    ORDER BY week_number;</a:t>
            </a:r>
          </a:p>
          <a:p>
            <a:endParaRPr lang="en-IN" dirty="0"/>
          </a:p>
          <a:p>
            <a:endParaRPr lang="en-IN" sz="2800" dirty="0">
              <a:latin typeface="Calibri" panose="020F0502020204030204" pitchFamily="34" charset="0"/>
              <a:ea typeface="Calibri" panose="020F0502020204030204" pitchFamily="34" charset="0"/>
              <a:cs typeface="Calibri" panose="020F0502020204030204" pitchFamily="34" charset="0"/>
            </a:endParaRPr>
          </a:p>
          <a:p>
            <a:endParaRPr lang="en-IN" b="1" dirty="0"/>
          </a:p>
        </p:txBody>
      </p:sp>
      <p:pic>
        <p:nvPicPr>
          <p:cNvPr id="2" name="Picture 1">
            <a:extLst>
              <a:ext uri="{FF2B5EF4-FFF2-40B4-BE49-F238E27FC236}">
                <a16:creationId xmlns:a16="http://schemas.microsoft.com/office/drawing/2014/main" id="{AC5748BE-5A4F-6083-2E4C-4AFA53B03988}"/>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AB9E62F5-2011-17DD-D064-85316E0E5543}"/>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B95BC265-B5F0-23D8-DCA8-0FF7C46D69CC}"/>
              </a:ext>
            </a:extLst>
          </p:cNvPr>
          <p:cNvSpPr txBox="1"/>
          <p:nvPr/>
        </p:nvSpPr>
        <p:spPr>
          <a:xfrm>
            <a:off x="443929" y="936691"/>
            <a:ext cx="11304141" cy="923330"/>
          </a:xfrm>
          <a:prstGeom prst="rect">
            <a:avLst/>
          </a:prstGeom>
          <a:noFill/>
        </p:spPr>
        <p:txBody>
          <a:bodyPr wrap="square" rtlCol="0">
            <a:spAutoFit/>
          </a:bodyPr>
          <a:lstStyle/>
          <a:p>
            <a:r>
              <a:rPr lang="en-US" dirty="0">
                <a:solidFill>
                  <a:schemeClr val="bg1"/>
                </a:solidFill>
              </a:rPr>
              <a:t>TASK D. </a:t>
            </a:r>
            <a:r>
              <a:rPr lang="en-US" b="1" dirty="0">
                <a:solidFill>
                  <a:schemeClr val="bg1"/>
                </a:solidFill>
              </a:rPr>
              <a:t>Weekly Engagement Per Device</a:t>
            </a:r>
          </a:p>
          <a:p>
            <a:r>
              <a:rPr lang="en-US" dirty="0">
                <a:solidFill>
                  <a:schemeClr val="bg1"/>
                </a:solidFill>
              </a:rPr>
              <a:t>Objective: Measure the activeness of users on a weekly basis per device.</a:t>
            </a:r>
          </a:p>
          <a:p>
            <a:r>
              <a:rPr lang="en-US" dirty="0">
                <a:solidFill>
                  <a:schemeClr val="bg1"/>
                </a:solidFill>
              </a:rPr>
              <a:t>Your Task: Write an SQL query to calculate the weekly engagement per device.</a:t>
            </a:r>
          </a:p>
        </p:txBody>
      </p:sp>
      <p:sp>
        <p:nvSpPr>
          <p:cNvPr id="10" name="TextBox 9">
            <a:extLst>
              <a:ext uri="{FF2B5EF4-FFF2-40B4-BE49-F238E27FC236}">
                <a16:creationId xmlns:a16="http://schemas.microsoft.com/office/drawing/2014/main" id="{3ECBCFD3-C248-A060-CCAE-8494CE049DCC}"/>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E525C816-A147-55D4-674C-2E349105122A}"/>
              </a:ext>
            </a:extLst>
          </p:cNvPr>
          <p:cNvSpPr txBox="1"/>
          <p:nvPr/>
        </p:nvSpPr>
        <p:spPr>
          <a:xfrm>
            <a:off x="11790597" y="6445892"/>
            <a:ext cx="565240" cy="369332"/>
          </a:xfrm>
          <a:prstGeom prst="rect">
            <a:avLst/>
          </a:prstGeom>
          <a:noFill/>
        </p:spPr>
        <p:txBody>
          <a:bodyPr wrap="square" rtlCol="0">
            <a:spAutoFit/>
          </a:bodyPr>
          <a:lstStyle/>
          <a:p>
            <a:r>
              <a:rPr lang="en-IN" dirty="0">
                <a:solidFill>
                  <a:schemeClr val="bg1"/>
                </a:solidFill>
              </a:rPr>
              <a:t>29</a:t>
            </a:r>
          </a:p>
        </p:txBody>
      </p:sp>
    </p:spTree>
    <p:extLst>
      <p:ext uri="{BB962C8B-B14F-4D97-AF65-F5344CB8AC3E}">
        <p14:creationId xmlns:p14="http://schemas.microsoft.com/office/powerpoint/2010/main" val="3109927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42858-FBFD-C22D-AFD7-7E0EFF5A48E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4E85419-5818-5886-3E0E-817FCD956BF7}"/>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7C6252A5-B9AB-2E57-EE55-FD9ADB625336}"/>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D6FAE20E-8809-7B91-AC58-4A93B86BEF65}"/>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624F2E62-B90F-ADCF-0EED-B332BC679549}"/>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7832D889-CCEC-0AD4-6045-99E237FDBC92}"/>
              </a:ext>
            </a:extLst>
          </p:cNvPr>
          <p:cNvSpPr txBox="1"/>
          <p:nvPr/>
        </p:nvSpPr>
        <p:spPr>
          <a:xfrm>
            <a:off x="443929" y="936691"/>
            <a:ext cx="11304141" cy="923330"/>
          </a:xfrm>
          <a:prstGeom prst="rect">
            <a:avLst/>
          </a:prstGeom>
          <a:noFill/>
        </p:spPr>
        <p:txBody>
          <a:bodyPr wrap="square" rtlCol="0">
            <a:spAutoFit/>
          </a:bodyPr>
          <a:lstStyle/>
          <a:p>
            <a:pPr algn="ctr"/>
            <a:r>
              <a:rPr lang="en-IN" sz="3600" dirty="0">
                <a:solidFill>
                  <a:schemeClr val="bg1"/>
                </a:solidFill>
              </a:rPr>
              <a:t>OUTPUT IN MySQL Workbench</a:t>
            </a:r>
            <a:endParaRPr lang="en-US" sz="3600" dirty="0">
              <a:solidFill>
                <a:schemeClr val="bg1"/>
              </a:solidFill>
            </a:endParaRPr>
          </a:p>
          <a:p>
            <a:endParaRPr lang="en-IN" dirty="0"/>
          </a:p>
        </p:txBody>
      </p:sp>
      <p:sp>
        <p:nvSpPr>
          <p:cNvPr id="10" name="TextBox 9">
            <a:extLst>
              <a:ext uri="{FF2B5EF4-FFF2-40B4-BE49-F238E27FC236}">
                <a16:creationId xmlns:a16="http://schemas.microsoft.com/office/drawing/2014/main" id="{522E344A-6E1E-0C60-E3F5-5956FF7C3FFA}"/>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12" name="Picture 11">
            <a:extLst>
              <a:ext uri="{FF2B5EF4-FFF2-40B4-BE49-F238E27FC236}">
                <a16:creationId xmlns:a16="http://schemas.microsoft.com/office/drawing/2014/main" id="{3A803523-57C8-9278-C2DF-98CD8E8D7888}"/>
              </a:ext>
            </a:extLst>
          </p:cNvPr>
          <p:cNvPicPr>
            <a:picLocks noChangeAspect="1"/>
          </p:cNvPicPr>
          <p:nvPr/>
        </p:nvPicPr>
        <p:blipFill>
          <a:blip r:embed="rId5"/>
          <a:stretch>
            <a:fillRect/>
          </a:stretch>
        </p:blipFill>
        <p:spPr>
          <a:xfrm>
            <a:off x="1057887" y="1650382"/>
            <a:ext cx="9028006" cy="5207617"/>
          </a:xfrm>
          <a:prstGeom prst="rect">
            <a:avLst/>
          </a:prstGeom>
        </p:spPr>
      </p:pic>
      <p:sp>
        <p:nvSpPr>
          <p:cNvPr id="4" name="TextBox 3">
            <a:extLst>
              <a:ext uri="{FF2B5EF4-FFF2-40B4-BE49-F238E27FC236}">
                <a16:creationId xmlns:a16="http://schemas.microsoft.com/office/drawing/2014/main" id="{60607955-031F-5232-8947-7D4D69A09CB5}"/>
              </a:ext>
            </a:extLst>
          </p:cNvPr>
          <p:cNvSpPr txBox="1"/>
          <p:nvPr/>
        </p:nvSpPr>
        <p:spPr>
          <a:xfrm>
            <a:off x="11835869" y="6450402"/>
            <a:ext cx="433633" cy="369332"/>
          </a:xfrm>
          <a:prstGeom prst="rect">
            <a:avLst/>
          </a:prstGeom>
          <a:noFill/>
        </p:spPr>
        <p:txBody>
          <a:bodyPr wrap="square" rtlCol="0">
            <a:spAutoFit/>
          </a:bodyPr>
          <a:lstStyle/>
          <a:p>
            <a:r>
              <a:rPr lang="en-IN" dirty="0">
                <a:solidFill>
                  <a:schemeClr val="bg1"/>
                </a:solidFill>
              </a:rPr>
              <a:t>30</a:t>
            </a:r>
          </a:p>
        </p:txBody>
      </p:sp>
    </p:spTree>
    <p:extLst>
      <p:ext uri="{BB962C8B-B14F-4D97-AF65-F5344CB8AC3E}">
        <p14:creationId xmlns:p14="http://schemas.microsoft.com/office/powerpoint/2010/main" val="2503317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5B5B9-8E38-DADD-65B7-11208C4EC54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052D849-6147-4711-DA53-51CF0873561E}"/>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848F22F9-79CF-2F74-0432-BA7CF7707262}"/>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913923AE-C1EB-75C3-B515-8B3189893D0F}"/>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4FE5A421-583E-88C8-31F7-72A0B9EA2987}"/>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BED1A448-5B6A-0C86-C488-FAF398743FBD}"/>
              </a:ext>
            </a:extLst>
          </p:cNvPr>
          <p:cNvSpPr txBox="1"/>
          <p:nvPr/>
        </p:nvSpPr>
        <p:spPr>
          <a:xfrm>
            <a:off x="443929" y="936691"/>
            <a:ext cx="11304141" cy="923330"/>
          </a:xfrm>
          <a:prstGeom prst="rect">
            <a:avLst/>
          </a:prstGeom>
          <a:noFill/>
        </p:spPr>
        <p:txBody>
          <a:bodyPr wrap="square" rtlCol="0">
            <a:spAutoFit/>
          </a:bodyPr>
          <a:lstStyle/>
          <a:p>
            <a:pPr algn="ctr"/>
            <a:r>
              <a:rPr lang="en-IN" sz="3600" dirty="0">
                <a:solidFill>
                  <a:schemeClr val="bg1"/>
                </a:solidFill>
              </a:rPr>
              <a:t>OUTPUT IN MySQL Workbench</a:t>
            </a:r>
            <a:endParaRPr lang="en-US" sz="3600" dirty="0">
              <a:solidFill>
                <a:schemeClr val="bg1"/>
              </a:solidFill>
            </a:endParaRPr>
          </a:p>
          <a:p>
            <a:endParaRPr lang="en-IN" dirty="0"/>
          </a:p>
        </p:txBody>
      </p:sp>
      <p:sp>
        <p:nvSpPr>
          <p:cNvPr id="10" name="TextBox 9">
            <a:extLst>
              <a:ext uri="{FF2B5EF4-FFF2-40B4-BE49-F238E27FC236}">
                <a16:creationId xmlns:a16="http://schemas.microsoft.com/office/drawing/2014/main" id="{72224AD2-2A9D-6022-28B3-B46806120C9F}"/>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8" name="Picture 7">
            <a:extLst>
              <a:ext uri="{FF2B5EF4-FFF2-40B4-BE49-F238E27FC236}">
                <a16:creationId xmlns:a16="http://schemas.microsoft.com/office/drawing/2014/main" id="{73561B6A-926B-090E-3940-94480883DF26}"/>
              </a:ext>
            </a:extLst>
          </p:cNvPr>
          <p:cNvPicPr>
            <a:picLocks noChangeAspect="1"/>
          </p:cNvPicPr>
          <p:nvPr/>
        </p:nvPicPr>
        <p:blipFill>
          <a:blip r:embed="rId5"/>
          <a:stretch>
            <a:fillRect/>
          </a:stretch>
        </p:blipFill>
        <p:spPr>
          <a:xfrm>
            <a:off x="647378" y="1712505"/>
            <a:ext cx="1483080" cy="4922564"/>
          </a:xfrm>
          <a:prstGeom prst="rect">
            <a:avLst/>
          </a:prstGeom>
        </p:spPr>
      </p:pic>
      <p:pic>
        <p:nvPicPr>
          <p:cNvPr id="11" name="Picture 10">
            <a:extLst>
              <a:ext uri="{FF2B5EF4-FFF2-40B4-BE49-F238E27FC236}">
                <a16:creationId xmlns:a16="http://schemas.microsoft.com/office/drawing/2014/main" id="{4D3BD8DF-D00C-9E3E-F5D9-BEE27F0A4D7D}"/>
              </a:ext>
            </a:extLst>
          </p:cNvPr>
          <p:cNvPicPr>
            <a:picLocks noChangeAspect="1"/>
          </p:cNvPicPr>
          <p:nvPr/>
        </p:nvPicPr>
        <p:blipFill>
          <a:blip r:embed="rId6"/>
          <a:stretch>
            <a:fillRect/>
          </a:stretch>
        </p:blipFill>
        <p:spPr>
          <a:xfrm>
            <a:off x="2130458" y="2048477"/>
            <a:ext cx="8042131" cy="4727541"/>
          </a:xfrm>
          <a:prstGeom prst="rect">
            <a:avLst/>
          </a:prstGeom>
        </p:spPr>
      </p:pic>
      <p:sp>
        <p:nvSpPr>
          <p:cNvPr id="4" name="TextBox 3">
            <a:extLst>
              <a:ext uri="{FF2B5EF4-FFF2-40B4-BE49-F238E27FC236}">
                <a16:creationId xmlns:a16="http://schemas.microsoft.com/office/drawing/2014/main" id="{BCB2C05B-1519-35C1-4403-C42593B67B1D}"/>
              </a:ext>
            </a:extLst>
          </p:cNvPr>
          <p:cNvSpPr txBox="1"/>
          <p:nvPr/>
        </p:nvSpPr>
        <p:spPr>
          <a:xfrm>
            <a:off x="11849493" y="6410227"/>
            <a:ext cx="433633" cy="369332"/>
          </a:xfrm>
          <a:prstGeom prst="rect">
            <a:avLst/>
          </a:prstGeom>
          <a:noFill/>
        </p:spPr>
        <p:txBody>
          <a:bodyPr wrap="square" rtlCol="0">
            <a:spAutoFit/>
          </a:bodyPr>
          <a:lstStyle/>
          <a:p>
            <a:r>
              <a:rPr lang="en-IN" dirty="0">
                <a:solidFill>
                  <a:schemeClr val="bg1"/>
                </a:solidFill>
              </a:rPr>
              <a:t>31</a:t>
            </a:r>
          </a:p>
        </p:txBody>
      </p:sp>
    </p:spTree>
    <p:extLst>
      <p:ext uri="{BB962C8B-B14F-4D97-AF65-F5344CB8AC3E}">
        <p14:creationId xmlns:p14="http://schemas.microsoft.com/office/powerpoint/2010/main" val="112131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35224-4564-B021-5E29-E14CFAF19E0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8C60367-D04C-3495-7536-DC74B34F190A}"/>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1C6BF8AF-BC55-1E3D-0188-37B5FE1D4DE2}"/>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20EAE1BC-BDA2-7995-A902-86DA02DBC11A}"/>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DDA58F14-4B06-88C9-48FD-5B181F1227A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7C76EFA6-25DE-D7CC-37C0-ACCA7A57607C}"/>
              </a:ext>
            </a:extLst>
          </p:cNvPr>
          <p:cNvSpPr txBox="1"/>
          <p:nvPr/>
        </p:nvSpPr>
        <p:spPr>
          <a:xfrm>
            <a:off x="443929" y="936691"/>
            <a:ext cx="11304141" cy="923330"/>
          </a:xfrm>
          <a:prstGeom prst="rect">
            <a:avLst/>
          </a:prstGeom>
          <a:noFill/>
        </p:spPr>
        <p:txBody>
          <a:bodyPr wrap="square" rtlCol="0">
            <a:spAutoFit/>
          </a:bodyPr>
          <a:lstStyle/>
          <a:p>
            <a:pPr algn="ctr"/>
            <a:r>
              <a:rPr lang="en-IN" sz="3600" dirty="0">
                <a:solidFill>
                  <a:schemeClr val="bg1"/>
                </a:solidFill>
              </a:rPr>
              <a:t>OUTPUT IN MySQL Workbench</a:t>
            </a:r>
            <a:endParaRPr lang="en-US" sz="3600" dirty="0">
              <a:solidFill>
                <a:schemeClr val="bg1"/>
              </a:solidFill>
            </a:endParaRPr>
          </a:p>
          <a:p>
            <a:endParaRPr lang="en-IN" dirty="0"/>
          </a:p>
        </p:txBody>
      </p:sp>
      <p:sp>
        <p:nvSpPr>
          <p:cNvPr id="10" name="TextBox 9">
            <a:extLst>
              <a:ext uri="{FF2B5EF4-FFF2-40B4-BE49-F238E27FC236}">
                <a16:creationId xmlns:a16="http://schemas.microsoft.com/office/drawing/2014/main" id="{9C692FFC-5E9D-2568-F890-4B30AF575149}"/>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4" name="Picture 3">
            <a:extLst>
              <a:ext uri="{FF2B5EF4-FFF2-40B4-BE49-F238E27FC236}">
                <a16:creationId xmlns:a16="http://schemas.microsoft.com/office/drawing/2014/main" id="{AB51D55C-BC9C-D248-B636-157F0A77F7A8}"/>
              </a:ext>
            </a:extLst>
          </p:cNvPr>
          <p:cNvPicPr>
            <a:picLocks noChangeAspect="1"/>
          </p:cNvPicPr>
          <p:nvPr/>
        </p:nvPicPr>
        <p:blipFill>
          <a:blip r:embed="rId5"/>
          <a:stretch>
            <a:fillRect/>
          </a:stretch>
        </p:blipFill>
        <p:spPr>
          <a:xfrm>
            <a:off x="647378" y="1712505"/>
            <a:ext cx="1483080" cy="4922564"/>
          </a:xfrm>
          <a:prstGeom prst="rect">
            <a:avLst/>
          </a:prstGeom>
        </p:spPr>
      </p:pic>
      <p:pic>
        <p:nvPicPr>
          <p:cNvPr id="9" name="Picture 8">
            <a:extLst>
              <a:ext uri="{FF2B5EF4-FFF2-40B4-BE49-F238E27FC236}">
                <a16:creationId xmlns:a16="http://schemas.microsoft.com/office/drawing/2014/main" id="{6EA6F8E6-CC1F-DA7B-E5FC-BCDE6B486360}"/>
              </a:ext>
            </a:extLst>
          </p:cNvPr>
          <p:cNvPicPr>
            <a:picLocks noChangeAspect="1"/>
          </p:cNvPicPr>
          <p:nvPr/>
        </p:nvPicPr>
        <p:blipFill>
          <a:blip r:embed="rId6"/>
          <a:stretch>
            <a:fillRect/>
          </a:stretch>
        </p:blipFill>
        <p:spPr>
          <a:xfrm>
            <a:off x="2130458" y="2048477"/>
            <a:ext cx="7567350" cy="4586591"/>
          </a:xfrm>
          <a:prstGeom prst="rect">
            <a:avLst/>
          </a:prstGeom>
        </p:spPr>
      </p:pic>
      <p:sp>
        <p:nvSpPr>
          <p:cNvPr id="8" name="TextBox 7">
            <a:extLst>
              <a:ext uri="{FF2B5EF4-FFF2-40B4-BE49-F238E27FC236}">
                <a16:creationId xmlns:a16="http://schemas.microsoft.com/office/drawing/2014/main" id="{5744BD32-35EB-A785-F6AB-23DCFE82CF9B}"/>
              </a:ext>
            </a:extLst>
          </p:cNvPr>
          <p:cNvSpPr txBox="1"/>
          <p:nvPr/>
        </p:nvSpPr>
        <p:spPr>
          <a:xfrm>
            <a:off x="11831156" y="6450402"/>
            <a:ext cx="443059" cy="369332"/>
          </a:xfrm>
          <a:prstGeom prst="rect">
            <a:avLst/>
          </a:prstGeom>
          <a:noFill/>
        </p:spPr>
        <p:txBody>
          <a:bodyPr wrap="square" rtlCol="0">
            <a:spAutoFit/>
          </a:bodyPr>
          <a:lstStyle/>
          <a:p>
            <a:r>
              <a:rPr lang="en-IN" dirty="0">
                <a:solidFill>
                  <a:schemeClr val="bg1"/>
                </a:solidFill>
              </a:rPr>
              <a:t>32</a:t>
            </a:r>
          </a:p>
        </p:txBody>
      </p:sp>
    </p:spTree>
    <p:extLst>
      <p:ext uri="{BB962C8B-B14F-4D97-AF65-F5344CB8AC3E}">
        <p14:creationId xmlns:p14="http://schemas.microsoft.com/office/powerpoint/2010/main" val="3758701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6CC45-3CF3-747A-235C-80235AEB26B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F065A8E-5CFF-C072-C404-27A45C5EA7D4}"/>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293EE4FF-4F89-E4D8-29B4-27D5F0F2FE7C}"/>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DCE85E21-489A-1CCD-2B90-547BD56E8A6B}"/>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1C9C5637-985D-EF0A-60D3-FC8E114ECEA7}"/>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C930AA5F-6E09-34D3-3033-E70B62269054}"/>
              </a:ext>
            </a:extLst>
          </p:cNvPr>
          <p:cNvSpPr txBox="1"/>
          <p:nvPr/>
        </p:nvSpPr>
        <p:spPr>
          <a:xfrm>
            <a:off x="443929" y="936691"/>
            <a:ext cx="11304141" cy="923330"/>
          </a:xfrm>
          <a:prstGeom prst="rect">
            <a:avLst/>
          </a:prstGeom>
          <a:noFill/>
        </p:spPr>
        <p:txBody>
          <a:bodyPr wrap="square" rtlCol="0">
            <a:spAutoFit/>
          </a:bodyPr>
          <a:lstStyle/>
          <a:p>
            <a:pPr algn="ctr"/>
            <a:r>
              <a:rPr lang="en-IN" sz="3600" dirty="0">
                <a:solidFill>
                  <a:schemeClr val="bg1"/>
                </a:solidFill>
              </a:rPr>
              <a:t>OUTPUT IN MySQL Workbench</a:t>
            </a:r>
            <a:endParaRPr lang="en-US" sz="3600" dirty="0">
              <a:solidFill>
                <a:schemeClr val="bg1"/>
              </a:solidFill>
            </a:endParaRPr>
          </a:p>
          <a:p>
            <a:endParaRPr lang="en-IN" dirty="0"/>
          </a:p>
        </p:txBody>
      </p:sp>
      <p:sp>
        <p:nvSpPr>
          <p:cNvPr id="10" name="TextBox 9">
            <a:extLst>
              <a:ext uri="{FF2B5EF4-FFF2-40B4-BE49-F238E27FC236}">
                <a16:creationId xmlns:a16="http://schemas.microsoft.com/office/drawing/2014/main" id="{B0795539-3ACB-C347-B093-E8C56A0DC76D}"/>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4" name="Picture 3">
            <a:extLst>
              <a:ext uri="{FF2B5EF4-FFF2-40B4-BE49-F238E27FC236}">
                <a16:creationId xmlns:a16="http://schemas.microsoft.com/office/drawing/2014/main" id="{7B7495AB-99BF-C482-04A0-CFF5EFBCE4DC}"/>
              </a:ext>
            </a:extLst>
          </p:cNvPr>
          <p:cNvPicPr>
            <a:picLocks noChangeAspect="1"/>
          </p:cNvPicPr>
          <p:nvPr/>
        </p:nvPicPr>
        <p:blipFill>
          <a:blip r:embed="rId5"/>
          <a:stretch>
            <a:fillRect/>
          </a:stretch>
        </p:blipFill>
        <p:spPr>
          <a:xfrm>
            <a:off x="647378" y="1712505"/>
            <a:ext cx="1483080" cy="4922564"/>
          </a:xfrm>
          <a:prstGeom prst="rect">
            <a:avLst/>
          </a:prstGeom>
        </p:spPr>
      </p:pic>
      <p:pic>
        <p:nvPicPr>
          <p:cNvPr id="9" name="Picture 8">
            <a:extLst>
              <a:ext uri="{FF2B5EF4-FFF2-40B4-BE49-F238E27FC236}">
                <a16:creationId xmlns:a16="http://schemas.microsoft.com/office/drawing/2014/main" id="{8B2009FC-FF60-8D3C-AF62-9BA9D37A362A}"/>
              </a:ext>
            </a:extLst>
          </p:cNvPr>
          <p:cNvPicPr>
            <a:picLocks noChangeAspect="1"/>
          </p:cNvPicPr>
          <p:nvPr/>
        </p:nvPicPr>
        <p:blipFill>
          <a:blip r:embed="rId6"/>
          <a:stretch>
            <a:fillRect/>
          </a:stretch>
        </p:blipFill>
        <p:spPr>
          <a:xfrm>
            <a:off x="2130458" y="2019931"/>
            <a:ext cx="5816338" cy="4615137"/>
          </a:xfrm>
          <a:prstGeom prst="rect">
            <a:avLst/>
          </a:prstGeom>
        </p:spPr>
      </p:pic>
      <p:sp>
        <p:nvSpPr>
          <p:cNvPr id="8" name="TextBox 7">
            <a:extLst>
              <a:ext uri="{FF2B5EF4-FFF2-40B4-BE49-F238E27FC236}">
                <a16:creationId xmlns:a16="http://schemas.microsoft.com/office/drawing/2014/main" id="{4C0A2F2A-FF6A-A18D-BE4A-1D1B7B411F0D}"/>
              </a:ext>
            </a:extLst>
          </p:cNvPr>
          <p:cNvSpPr txBox="1"/>
          <p:nvPr/>
        </p:nvSpPr>
        <p:spPr>
          <a:xfrm>
            <a:off x="11821211" y="6476214"/>
            <a:ext cx="527901" cy="369332"/>
          </a:xfrm>
          <a:prstGeom prst="rect">
            <a:avLst/>
          </a:prstGeom>
          <a:noFill/>
        </p:spPr>
        <p:txBody>
          <a:bodyPr wrap="square" rtlCol="0">
            <a:spAutoFit/>
          </a:bodyPr>
          <a:lstStyle/>
          <a:p>
            <a:r>
              <a:rPr lang="en-IN" dirty="0">
                <a:solidFill>
                  <a:schemeClr val="bg1"/>
                </a:solidFill>
              </a:rPr>
              <a:t>33</a:t>
            </a:r>
          </a:p>
        </p:txBody>
      </p:sp>
    </p:spTree>
    <p:extLst>
      <p:ext uri="{BB962C8B-B14F-4D97-AF65-F5344CB8AC3E}">
        <p14:creationId xmlns:p14="http://schemas.microsoft.com/office/powerpoint/2010/main" val="3949129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BB313-3601-AEDD-296F-E3D0D83E27C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208C423-DC74-DF2A-4D78-215587100950}"/>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BA7CDD0C-D22E-667B-95F3-D3A96385005D}"/>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52F1B2CC-344C-A7EB-938A-6486731EE215}"/>
              </a:ext>
            </a:extLst>
          </p:cNvPr>
          <p:cNvSpPr txBox="1"/>
          <p:nvPr/>
        </p:nvSpPr>
        <p:spPr>
          <a:xfrm>
            <a:off x="7277493" y="1712572"/>
            <a:ext cx="2526383" cy="800219"/>
          </a:xfrm>
          <a:prstGeom prst="rect">
            <a:avLst/>
          </a:prstGeom>
          <a:noFill/>
        </p:spPr>
        <p:txBody>
          <a:bodyPr wrap="square" rtlCol="0">
            <a:spAutoFit/>
          </a:bodyPr>
          <a:lstStyle/>
          <a:p>
            <a:r>
              <a:rPr lang="en-IN" dirty="0"/>
              <a:t> </a:t>
            </a:r>
          </a:p>
          <a:p>
            <a:r>
              <a:rPr lang="en-IN" sz="2800" dirty="0">
                <a:latin typeface="Calibri" panose="020F0502020204030204" pitchFamily="34" charset="0"/>
                <a:ea typeface="Calibri" panose="020F0502020204030204" pitchFamily="34" charset="0"/>
                <a:cs typeface="Calibri" panose="020F0502020204030204" pitchFamily="34" charset="0"/>
              </a:rPr>
              <a:t> </a:t>
            </a:r>
            <a:endParaRPr lang="en-IN" b="1" dirty="0"/>
          </a:p>
        </p:txBody>
      </p:sp>
      <p:pic>
        <p:nvPicPr>
          <p:cNvPr id="2" name="Picture 1">
            <a:extLst>
              <a:ext uri="{FF2B5EF4-FFF2-40B4-BE49-F238E27FC236}">
                <a16:creationId xmlns:a16="http://schemas.microsoft.com/office/drawing/2014/main" id="{F4073C44-8635-B28B-17B7-4C5EFF13E99D}"/>
              </a:ext>
            </a:extLst>
          </p:cNvPr>
          <p:cNvPicPr>
            <a:picLocks noChangeAspect="1"/>
          </p:cNvPicPr>
          <p:nvPr/>
        </p:nvPicPr>
        <p:blipFill>
          <a:blip r:embed="rId4"/>
          <a:stretch>
            <a:fillRect/>
          </a:stretch>
        </p:blipFill>
        <p:spPr>
          <a:xfrm>
            <a:off x="0" y="930358"/>
            <a:ext cx="12192000" cy="785148"/>
          </a:xfrm>
          <a:prstGeom prst="rect">
            <a:avLst/>
          </a:prstGeom>
        </p:spPr>
      </p:pic>
      <p:sp>
        <p:nvSpPr>
          <p:cNvPr id="3" name="Freeform 1">
            <a:extLst>
              <a:ext uri="{FF2B5EF4-FFF2-40B4-BE49-F238E27FC236}">
                <a16:creationId xmlns:a16="http://schemas.microsoft.com/office/drawing/2014/main" id="{2ED2230B-6E1F-FB1E-CE3C-39F0B6DE02B0}"/>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6602ADA2-6DFF-F23A-29CB-C7E7D92F96C8}"/>
              </a:ext>
            </a:extLst>
          </p:cNvPr>
          <p:cNvSpPr txBox="1"/>
          <p:nvPr/>
        </p:nvSpPr>
        <p:spPr>
          <a:xfrm>
            <a:off x="443929" y="936691"/>
            <a:ext cx="11304141" cy="923330"/>
          </a:xfrm>
          <a:prstGeom prst="rect">
            <a:avLst/>
          </a:prstGeom>
          <a:noFill/>
        </p:spPr>
        <p:txBody>
          <a:bodyPr wrap="square" rtlCol="0">
            <a:spAutoFit/>
          </a:bodyPr>
          <a:lstStyle/>
          <a:p>
            <a:pPr algn="ctr"/>
            <a:r>
              <a:rPr lang="en-US" sz="3600" dirty="0">
                <a:solidFill>
                  <a:schemeClr val="bg1"/>
                </a:solidFill>
              </a:rPr>
              <a:t>Key Observation from Weekly Engagement Per Device</a:t>
            </a:r>
          </a:p>
          <a:p>
            <a:endParaRPr lang="en-IN" dirty="0"/>
          </a:p>
        </p:txBody>
      </p:sp>
      <p:sp>
        <p:nvSpPr>
          <p:cNvPr id="10" name="TextBox 9">
            <a:extLst>
              <a:ext uri="{FF2B5EF4-FFF2-40B4-BE49-F238E27FC236}">
                <a16:creationId xmlns:a16="http://schemas.microsoft.com/office/drawing/2014/main" id="{1E7EED21-1802-D583-E6D4-DA7AEF43A2E4}"/>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7EF6CCC9-A774-B333-0919-BD9D527230B2}"/>
              </a:ext>
            </a:extLst>
          </p:cNvPr>
          <p:cNvSpPr txBox="1"/>
          <p:nvPr/>
        </p:nvSpPr>
        <p:spPr>
          <a:xfrm>
            <a:off x="11849493" y="6476214"/>
            <a:ext cx="480767" cy="369332"/>
          </a:xfrm>
          <a:prstGeom prst="rect">
            <a:avLst/>
          </a:prstGeom>
          <a:noFill/>
        </p:spPr>
        <p:txBody>
          <a:bodyPr wrap="square" rtlCol="0">
            <a:spAutoFit/>
          </a:bodyPr>
          <a:lstStyle/>
          <a:p>
            <a:r>
              <a:rPr lang="en-IN" dirty="0">
                <a:solidFill>
                  <a:schemeClr val="bg1"/>
                </a:solidFill>
              </a:rPr>
              <a:t>34</a:t>
            </a:r>
          </a:p>
        </p:txBody>
      </p:sp>
      <p:sp>
        <p:nvSpPr>
          <p:cNvPr id="97" name="Rectangle 96">
            <a:extLst>
              <a:ext uri="{C183D7F6-B498-43B3-948B-1728B52AA6E4}">
                <adec:decorative xmlns:adec="http://schemas.microsoft.com/office/drawing/2017/decorative" val="1"/>
              </a:ext>
            </a:extLst>
          </p:cNvPr>
          <p:cNvSpPr/>
          <p:nvPr/>
        </p:nvSpPr>
        <p:spPr>
          <a:xfrm>
            <a:off x="1026416" y="1825273"/>
            <a:ext cx="2834295" cy="746432"/>
          </a:xfrm>
          <a:prstGeom prst="rect">
            <a:avLst/>
          </a:prstGeom>
          <a:gradFill flip="none" rotWithShape="1">
            <a:gsLst>
              <a:gs pos="100000">
                <a:schemeClr val="bg1"/>
              </a:gs>
              <a:gs pos="54000">
                <a:srgbClr val="85E0E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C183D7F6-B498-43B3-948B-1728B52AA6E4}">
                <adec:decorative xmlns:adec="http://schemas.microsoft.com/office/drawing/2017/decorative" val="1"/>
              </a:ext>
            </a:extLst>
          </p:cNvPr>
          <p:cNvSpPr/>
          <p:nvPr/>
        </p:nvSpPr>
        <p:spPr>
          <a:xfrm>
            <a:off x="529121" y="1825273"/>
            <a:ext cx="746432" cy="746432"/>
          </a:xfrm>
          <a:prstGeom prst="ellipse">
            <a:avLst/>
          </a:prstGeom>
          <a:solidFill>
            <a:srgbClr val="43CDD9"/>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CCC28399-ED8E-7B11-C04D-EB850A0DA5DF}"/>
              </a:ext>
            </a:extLst>
          </p:cNvPr>
          <p:cNvSpPr txBox="1"/>
          <p:nvPr/>
        </p:nvSpPr>
        <p:spPr>
          <a:xfrm>
            <a:off x="1252897" y="1998434"/>
            <a:ext cx="1970202" cy="400110"/>
          </a:xfrm>
          <a:prstGeom prst="rect">
            <a:avLst/>
          </a:prstGeom>
          <a:noFill/>
        </p:spPr>
        <p:txBody>
          <a:bodyPr wrap="square" rtlCol="0">
            <a:spAutoFit/>
          </a:bodyPr>
          <a:lstStyle/>
          <a:p>
            <a:r>
              <a:rPr lang="en-IN" sz="2000" dirty="0">
                <a:solidFill>
                  <a:schemeClr val="bg1"/>
                </a:solidFill>
              </a:rPr>
              <a:t>Users per device</a:t>
            </a:r>
          </a:p>
        </p:txBody>
      </p:sp>
      <p:pic>
        <p:nvPicPr>
          <p:cNvPr id="14" name="Graphic 13" descr="User">
            <a:extLst>
              <a:ext uri="{FF2B5EF4-FFF2-40B4-BE49-F238E27FC236}">
                <a16:creationId xmlns:a16="http://schemas.microsoft.com/office/drawing/2014/main" id="{350873A3-587F-F13B-3471-AACECB1A82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2486" y="1832329"/>
            <a:ext cx="670411" cy="670411"/>
          </a:xfrm>
          <a:prstGeom prst="rect">
            <a:avLst/>
          </a:prstGeom>
        </p:spPr>
      </p:pic>
      <p:grpSp>
        <p:nvGrpSpPr>
          <p:cNvPr id="15" name="Group 14" descr="This is a chart. "/>
          <p:cNvGrpSpPr/>
          <p:nvPr/>
        </p:nvGrpSpPr>
        <p:grpSpPr>
          <a:xfrm>
            <a:off x="3400788" y="1764453"/>
            <a:ext cx="8208726" cy="4666759"/>
            <a:chOff x="2888889" y="2523451"/>
            <a:chExt cx="8576893" cy="4489905"/>
          </a:xfrm>
        </p:grpSpPr>
        <p:sp>
          <p:nvSpPr>
            <p:cNvPr id="117" name="Rectangle 116"/>
            <p:cNvSpPr/>
            <p:nvPr/>
          </p:nvSpPr>
          <p:spPr>
            <a:xfrm>
              <a:off x="3003205" y="2523451"/>
              <a:ext cx="8462577" cy="4489905"/>
            </a:xfrm>
            <a:prstGeom prst="rect">
              <a:avLst/>
            </a:prstGeom>
            <a:solidFill>
              <a:srgbClr val="CFCFC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6" name="Chart 75"/>
            <p:cNvGraphicFramePr/>
            <p:nvPr>
              <p:extLst>
                <p:ext uri="{D42A27DB-BD31-4B8C-83A1-F6EECF244321}">
                  <p14:modId xmlns:p14="http://schemas.microsoft.com/office/powerpoint/2010/main" val="394132473"/>
                </p:ext>
              </p:extLst>
            </p:nvPr>
          </p:nvGraphicFramePr>
          <p:xfrm>
            <a:off x="2888889" y="3640210"/>
            <a:ext cx="3131847" cy="3111570"/>
          </p:xfrm>
          <a:graphic>
            <a:graphicData uri="http://schemas.openxmlformats.org/drawingml/2006/chart">
              <c:chart xmlns:c="http://schemas.openxmlformats.org/drawingml/2006/chart" xmlns:r="http://schemas.openxmlformats.org/officeDocument/2006/relationships" r:id="rId7"/>
            </a:graphicData>
          </a:graphic>
        </p:graphicFrame>
      </p:grpSp>
      <mc:AlternateContent xmlns:mc="http://schemas.openxmlformats.org/markup-compatibility/2006">
        <mc:Choice xmlns:cx1="http://schemas.microsoft.com/office/drawing/2015/9/8/chartex" Requires="cx1">
          <p:graphicFrame>
            <p:nvGraphicFramePr>
              <p:cNvPr id="18" name="Chart 17">
                <a:extLst>
                  <a:ext uri="{FF2B5EF4-FFF2-40B4-BE49-F238E27FC236}">
                    <a16:creationId xmlns:a16="http://schemas.microsoft.com/office/drawing/2014/main" id="{D4EA9F21-5820-58AF-6912-DAEA1C839AB1}"/>
                  </a:ext>
                </a:extLst>
              </p:cNvPr>
              <p:cNvGraphicFramePr/>
              <p:nvPr>
                <p:extLst>
                  <p:ext uri="{D42A27DB-BD31-4B8C-83A1-F6EECF244321}">
                    <p14:modId xmlns:p14="http://schemas.microsoft.com/office/powerpoint/2010/main" val="676629018"/>
                  </p:ext>
                </p:extLst>
              </p:nvPr>
            </p:nvGraphicFramePr>
            <p:xfrm>
              <a:off x="3860711" y="1663625"/>
              <a:ext cx="7263522" cy="4847112"/>
            </p:xfrm>
            <a:graphic>
              <a:graphicData uri="http://schemas.microsoft.com/office/drawing/2014/chartex">
                <cx:chart xmlns:cx="http://schemas.microsoft.com/office/drawing/2014/chartex" xmlns:r="http://schemas.openxmlformats.org/officeDocument/2006/relationships" r:id="rId8"/>
              </a:graphicData>
            </a:graphic>
          </p:graphicFrame>
        </mc:Choice>
        <mc:Fallback>
          <p:pic>
            <p:nvPicPr>
              <p:cNvPr id="18" name="Chart 17">
                <a:extLst>
                  <a:ext uri="{FF2B5EF4-FFF2-40B4-BE49-F238E27FC236}">
                    <a16:creationId xmlns:a16="http://schemas.microsoft.com/office/drawing/2014/main" id="{D4EA9F21-5820-58AF-6912-DAEA1C839AB1}"/>
                  </a:ext>
                </a:extLst>
              </p:cNvPr>
              <p:cNvPicPr>
                <a:picLocks noGrp="1" noRot="1" noChangeAspect="1" noMove="1" noResize="1" noEditPoints="1" noAdjustHandles="1" noChangeArrowheads="1" noChangeShapeType="1"/>
              </p:cNvPicPr>
              <p:nvPr/>
            </p:nvPicPr>
            <p:blipFill>
              <a:blip r:embed="rId9"/>
              <a:stretch>
                <a:fillRect/>
              </a:stretch>
            </p:blipFill>
            <p:spPr>
              <a:xfrm>
                <a:off x="3860711" y="1663625"/>
                <a:ext cx="7263522" cy="4847112"/>
              </a:xfrm>
              <a:prstGeom prst="rect">
                <a:avLst/>
              </a:prstGeom>
            </p:spPr>
          </p:pic>
        </mc:Fallback>
      </mc:AlternateContent>
    </p:spTree>
    <p:extLst>
      <p:ext uri="{BB962C8B-B14F-4D97-AF65-F5344CB8AC3E}">
        <p14:creationId xmlns:p14="http://schemas.microsoft.com/office/powerpoint/2010/main" val="1214312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ED7BD-B353-A959-0517-B6B0EFCF72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920B130-FA58-5A53-C137-CCFDE082C4E7}"/>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1E6B6960-8112-16E5-B9F4-8E985F1B3320}"/>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F20FFA2A-8A7B-570F-5C0D-DD4D409AD74C}"/>
              </a:ext>
            </a:extLst>
          </p:cNvPr>
          <p:cNvSpPr txBox="1"/>
          <p:nvPr/>
        </p:nvSpPr>
        <p:spPr>
          <a:xfrm>
            <a:off x="443929" y="1854936"/>
            <a:ext cx="10659034" cy="1477328"/>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The output obtained in result section of MySQL Workbench shows the active users per device per week. From week 17  to week 35, various devices are listed. All the devices have different amount of users per week.  Among all these devices we can observe the top five devices which are used frequently. The Tree map in the previous slide shows us the top five devices which have the highest number of users. The table below shows the data about the sum total number of users in all the weeks for top five devices. </a:t>
            </a:r>
          </a:p>
        </p:txBody>
      </p:sp>
      <p:pic>
        <p:nvPicPr>
          <p:cNvPr id="2" name="Picture 1">
            <a:extLst>
              <a:ext uri="{FF2B5EF4-FFF2-40B4-BE49-F238E27FC236}">
                <a16:creationId xmlns:a16="http://schemas.microsoft.com/office/drawing/2014/main" id="{8B8BF27D-E0F0-DA8D-2C49-D9912FE2AA94}"/>
              </a:ext>
            </a:extLst>
          </p:cNvPr>
          <p:cNvPicPr>
            <a:picLocks noChangeAspect="1"/>
          </p:cNvPicPr>
          <p:nvPr/>
        </p:nvPicPr>
        <p:blipFill>
          <a:blip r:embed="rId4"/>
          <a:stretch>
            <a:fillRect/>
          </a:stretch>
        </p:blipFill>
        <p:spPr>
          <a:xfrm>
            <a:off x="0" y="930358"/>
            <a:ext cx="12192000" cy="785148"/>
          </a:xfrm>
          <a:prstGeom prst="rect">
            <a:avLst/>
          </a:prstGeom>
        </p:spPr>
      </p:pic>
      <p:sp>
        <p:nvSpPr>
          <p:cNvPr id="3" name="Freeform 1">
            <a:extLst>
              <a:ext uri="{FF2B5EF4-FFF2-40B4-BE49-F238E27FC236}">
                <a16:creationId xmlns:a16="http://schemas.microsoft.com/office/drawing/2014/main" id="{8DC35558-1A43-499F-3E28-CA4E8E044FEB}"/>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AA365AFD-4703-1622-3EFA-8E113A82CE4A}"/>
              </a:ext>
            </a:extLst>
          </p:cNvPr>
          <p:cNvSpPr txBox="1"/>
          <p:nvPr/>
        </p:nvSpPr>
        <p:spPr>
          <a:xfrm>
            <a:off x="443929" y="936691"/>
            <a:ext cx="11304141" cy="923330"/>
          </a:xfrm>
          <a:prstGeom prst="rect">
            <a:avLst/>
          </a:prstGeom>
          <a:noFill/>
        </p:spPr>
        <p:txBody>
          <a:bodyPr wrap="square" rtlCol="0">
            <a:spAutoFit/>
          </a:bodyPr>
          <a:lstStyle/>
          <a:p>
            <a:pPr algn="ctr"/>
            <a:r>
              <a:rPr lang="en-US" sz="3600" dirty="0">
                <a:solidFill>
                  <a:schemeClr val="bg1"/>
                </a:solidFill>
              </a:rPr>
              <a:t>Key Observation from Weekly Engagement Per Device</a:t>
            </a:r>
          </a:p>
          <a:p>
            <a:endParaRPr lang="en-IN" dirty="0"/>
          </a:p>
        </p:txBody>
      </p:sp>
      <p:sp>
        <p:nvSpPr>
          <p:cNvPr id="10" name="TextBox 9">
            <a:extLst>
              <a:ext uri="{FF2B5EF4-FFF2-40B4-BE49-F238E27FC236}">
                <a16:creationId xmlns:a16="http://schemas.microsoft.com/office/drawing/2014/main" id="{854EA42C-92D5-021D-8CE4-E0B36C65A598}"/>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3045EDCA-3F7C-8A6B-2550-F6EB23312A7A}"/>
              </a:ext>
            </a:extLst>
          </p:cNvPr>
          <p:cNvSpPr txBox="1"/>
          <p:nvPr/>
        </p:nvSpPr>
        <p:spPr>
          <a:xfrm>
            <a:off x="11849493" y="6438507"/>
            <a:ext cx="499620" cy="369332"/>
          </a:xfrm>
          <a:prstGeom prst="rect">
            <a:avLst/>
          </a:prstGeom>
          <a:noFill/>
        </p:spPr>
        <p:txBody>
          <a:bodyPr wrap="square" rtlCol="0">
            <a:spAutoFit/>
          </a:bodyPr>
          <a:lstStyle/>
          <a:p>
            <a:r>
              <a:rPr lang="en-IN" dirty="0">
                <a:solidFill>
                  <a:schemeClr val="bg1"/>
                </a:solidFill>
              </a:rPr>
              <a:t>35</a:t>
            </a:r>
          </a:p>
        </p:txBody>
      </p:sp>
      <p:graphicFrame>
        <p:nvGraphicFramePr>
          <p:cNvPr id="8" name="Table 7">
            <a:extLst>
              <a:ext uri="{FF2B5EF4-FFF2-40B4-BE49-F238E27FC236}">
                <a16:creationId xmlns:a16="http://schemas.microsoft.com/office/drawing/2014/main" id="{95468A57-FD3B-5AD8-56A4-C7ACD729C007}"/>
              </a:ext>
            </a:extLst>
          </p:cNvPr>
          <p:cNvGraphicFramePr>
            <a:graphicFrameLocks noGrp="1"/>
          </p:cNvGraphicFramePr>
          <p:nvPr>
            <p:extLst>
              <p:ext uri="{D42A27DB-BD31-4B8C-83A1-F6EECF244321}">
                <p14:modId xmlns:p14="http://schemas.microsoft.com/office/powerpoint/2010/main" val="2699128773"/>
              </p:ext>
            </p:extLst>
          </p:nvPr>
        </p:nvGraphicFramePr>
        <p:xfrm>
          <a:off x="443061" y="3547707"/>
          <a:ext cx="5241302" cy="2494280"/>
        </p:xfrm>
        <a:graphic>
          <a:graphicData uri="http://schemas.openxmlformats.org/drawingml/2006/table">
            <a:tbl>
              <a:tblPr firstRow="1" bandRow="1">
                <a:tableStyleId>{7DF18680-E054-41AD-8BC1-D1AEF772440D}</a:tableStyleId>
              </a:tblPr>
              <a:tblGrid>
                <a:gridCol w="2009575">
                  <a:extLst>
                    <a:ext uri="{9D8B030D-6E8A-4147-A177-3AD203B41FA5}">
                      <a16:colId xmlns:a16="http://schemas.microsoft.com/office/drawing/2014/main" val="1110005532"/>
                    </a:ext>
                  </a:extLst>
                </a:gridCol>
                <a:gridCol w="3231727">
                  <a:extLst>
                    <a:ext uri="{9D8B030D-6E8A-4147-A177-3AD203B41FA5}">
                      <a16:colId xmlns:a16="http://schemas.microsoft.com/office/drawing/2014/main" val="512253211"/>
                    </a:ext>
                  </a:extLst>
                </a:gridCol>
              </a:tblGrid>
              <a:tr h="370840">
                <a:tc>
                  <a:txBody>
                    <a:bodyPr/>
                    <a:lstStyle/>
                    <a:p>
                      <a:r>
                        <a:rPr lang="en-IN" dirty="0">
                          <a:latin typeface="Calibri" panose="020F0502020204030204" pitchFamily="34" charset="0"/>
                          <a:ea typeface="Calibri" panose="020F0502020204030204" pitchFamily="34" charset="0"/>
                          <a:cs typeface="Calibri" panose="020F0502020204030204" pitchFamily="34" charset="0"/>
                        </a:rPr>
                        <a:t>Device Name</a:t>
                      </a:r>
                    </a:p>
                  </a:txBody>
                  <a:tcPr/>
                </a:tc>
                <a:tc>
                  <a:txBody>
                    <a:bodyPr/>
                    <a:lstStyle/>
                    <a:p>
                      <a:r>
                        <a:rPr lang="en-IN" dirty="0">
                          <a:latin typeface="Calibri" panose="020F0502020204030204" pitchFamily="34" charset="0"/>
                          <a:ea typeface="Calibri" panose="020F0502020204030204" pitchFamily="34" charset="0"/>
                          <a:cs typeface="Calibri" panose="020F0502020204030204" pitchFamily="34" charset="0"/>
                        </a:rPr>
                        <a:t>Total number of users in all the weeks</a:t>
                      </a:r>
                    </a:p>
                  </a:txBody>
                  <a:tcPr/>
                </a:tc>
                <a:extLst>
                  <a:ext uri="{0D108BD9-81ED-4DB2-BD59-A6C34878D82A}">
                    <a16:rowId xmlns:a16="http://schemas.microsoft.com/office/drawing/2014/main" val="821778138"/>
                  </a:ext>
                </a:extLst>
              </a:tr>
              <a:tr h="370840">
                <a:tc>
                  <a:txBody>
                    <a:bodyPr/>
                    <a:lstStyle/>
                    <a:p>
                      <a:r>
                        <a:rPr lang="en-IN" dirty="0">
                          <a:latin typeface="Calibri" panose="020F0502020204030204" pitchFamily="34" charset="0"/>
                          <a:ea typeface="Calibri" panose="020F0502020204030204" pitchFamily="34" charset="0"/>
                          <a:cs typeface="Calibri" panose="020F0502020204030204" pitchFamily="34" charset="0"/>
                        </a:rPr>
                        <a:t>Iphone 5</a:t>
                      </a:r>
                    </a:p>
                  </a:txBody>
                  <a:tcPr/>
                </a:tc>
                <a:tc>
                  <a:txBody>
                    <a:bodyPr/>
                    <a:lstStyle/>
                    <a:p>
                      <a:r>
                        <a:rPr lang="en-IN" dirty="0">
                          <a:latin typeface="Calibri" panose="020F0502020204030204" pitchFamily="34" charset="0"/>
                          <a:ea typeface="Calibri" panose="020F0502020204030204" pitchFamily="34" charset="0"/>
                          <a:cs typeface="Calibri" panose="020F0502020204030204" pitchFamily="34" charset="0"/>
                        </a:rPr>
                        <a:t>2340</a:t>
                      </a:r>
                    </a:p>
                  </a:txBody>
                  <a:tcPr/>
                </a:tc>
                <a:extLst>
                  <a:ext uri="{0D108BD9-81ED-4DB2-BD59-A6C34878D82A}">
                    <a16:rowId xmlns:a16="http://schemas.microsoft.com/office/drawing/2014/main" val="1177056065"/>
                  </a:ext>
                </a:extLst>
              </a:tr>
              <a:tr h="370840">
                <a:tc>
                  <a:txBody>
                    <a:bodyPr/>
                    <a:lstStyle/>
                    <a:p>
                      <a:r>
                        <a:rPr lang="en-IN" dirty="0">
                          <a:latin typeface="Calibri" panose="020F0502020204030204" pitchFamily="34" charset="0"/>
                          <a:ea typeface="Calibri" panose="020F0502020204030204" pitchFamily="34" charset="0"/>
                          <a:cs typeface="Calibri" panose="020F0502020204030204" pitchFamily="34" charset="0"/>
                        </a:rPr>
                        <a:t>Macbook air</a:t>
                      </a:r>
                    </a:p>
                  </a:txBody>
                  <a:tcPr/>
                </a:tc>
                <a:tc>
                  <a:txBody>
                    <a:bodyPr/>
                    <a:lstStyle/>
                    <a:p>
                      <a:r>
                        <a:rPr lang="en-IN" dirty="0">
                          <a:latin typeface="Calibri" panose="020F0502020204030204" pitchFamily="34" charset="0"/>
                          <a:ea typeface="Calibri" panose="020F0502020204030204" pitchFamily="34" charset="0"/>
                          <a:cs typeface="Calibri" panose="020F0502020204030204" pitchFamily="34" charset="0"/>
                        </a:rPr>
                        <a:t>2340</a:t>
                      </a:r>
                    </a:p>
                  </a:txBody>
                  <a:tcPr/>
                </a:tc>
                <a:extLst>
                  <a:ext uri="{0D108BD9-81ED-4DB2-BD59-A6C34878D82A}">
                    <a16:rowId xmlns:a16="http://schemas.microsoft.com/office/drawing/2014/main" val="1564323003"/>
                  </a:ext>
                </a:extLst>
              </a:tr>
              <a:tr h="370840">
                <a:tc>
                  <a:txBody>
                    <a:bodyPr/>
                    <a:lstStyle/>
                    <a:p>
                      <a:r>
                        <a:rPr lang="en-IN" dirty="0">
                          <a:latin typeface="Calibri" panose="020F0502020204030204" pitchFamily="34" charset="0"/>
                          <a:ea typeface="Calibri" panose="020F0502020204030204" pitchFamily="34" charset="0"/>
                          <a:cs typeface="Calibri" panose="020F0502020204030204" pitchFamily="34" charset="0"/>
                        </a:rPr>
                        <a:t>Macbook pro</a:t>
                      </a:r>
                    </a:p>
                  </a:txBody>
                  <a:tcPr/>
                </a:tc>
                <a:tc>
                  <a:txBody>
                    <a:bodyPr/>
                    <a:lstStyle/>
                    <a:p>
                      <a:r>
                        <a:rPr lang="en-IN" dirty="0">
                          <a:latin typeface="Calibri" panose="020F0502020204030204" pitchFamily="34" charset="0"/>
                          <a:ea typeface="Calibri" panose="020F0502020204030204" pitchFamily="34" charset="0"/>
                          <a:cs typeface="Calibri" panose="020F0502020204030204" pitchFamily="34" charset="0"/>
                        </a:rPr>
                        <a:t>4943</a:t>
                      </a:r>
                    </a:p>
                  </a:txBody>
                  <a:tcPr/>
                </a:tc>
                <a:extLst>
                  <a:ext uri="{0D108BD9-81ED-4DB2-BD59-A6C34878D82A}">
                    <a16:rowId xmlns:a16="http://schemas.microsoft.com/office/drawing/2014/main" val="2292733338"/>
                  </a:ext>
                </a:extLst>
              </a:tr>
              <a:tr h="370840">
                <a:tc>
                  <a:txBody>
                    <a:bodyPr/>
                    <a:lstStyle/>
                    <a:p>
                      <a:r>
                        <a:rPr lang="en-IN" dirty="0">
                          <a:latin typeface="Calibri" panose="020F0502020204030204" pitchFamily="34" charset="0"/>
                          <a:ea typeface="Calibri" panose="020F0502020204030204" pitchFamily="34" charset="0"/>
                          <a:cs typeface="Calibri" panose="020F0502020204030204" pitchFamily="34" charset="0"/>
                        </a:rPr>
                        <a:t>Samsung galaxy S4</a:t>
                      </a:r>
                    </a:p>
                  </a:txBody>
                  <a:tcPr/>
                </a:tc>
                <a:tc>
                  <a:txBody>
                    <a:bodyPr/>
                    <a:lstStyle/>
                    <a:p>
                      <a:r>
                        <a:rPr lang="en-IN" dirty="0">
                          <a:latin typeface="Calibri" panose="020F0502020204030204" pitchFamily="34" charset="0"/>
                          <a:ea typeface="Calibri" panose="020F0502020204030204" pitchFamily="34" charset="0"/>
                          <a:cs typeface="Calibri" panose="020F0502020204030204" pitchFamily="34" charset="0"/>
                        </a:rPr>
                        <a:t>1740</a:t>
                      </a:r>
                    </a:p>
                  </a:txBody>
                  <a:tcPr/>
                </a:tc>
                <a:extLst>
                  <a:ext uri="{0D108BD9-81ED-4DB2-BD59-A6C34878D82A}">
                    <a16:rowId xmlns:a16="http://schemas.microsoft.com/office/drawing/2014/main" val="471235968"/>
                  </a:ext>
                </a:extLst>
              </a:tr>
              <a:tr h="370840">
                <a:tc>
                  <a:txBody>
                    <a:bodyPr/>
                    <a:lstStyle/>
                    <a:p>
                      <a:r>
                        <a:rPr lang="en-IN" dirty="0">
                          <a:latin typeface="Calibri" panose="020F0502020204030204" pitchFamily="34" charset="0"/>
                          <a:ea typeface="Calibri" panose="020F0502020204030204" pitchFamily="34" charset="0"/>
                          <a:cs typeface="Calibri" panose="020F0502020204030204" pitchFamily="34" charset="0"/>
                        </a:rPr>
                        <a:t>Lenovo thinkpad</a:t>
                      </a:r>
                    </a:p>
                  </a:txBody>
                  <a:tcPr/>
                </a:tc>
                <a:tc>
                  <a:txBody>
                    <a:bodyPr/>
                    <a:lstStyle/>
                    <a:p>
                      <a:r>
                        <a:rPr lang="en-IN" dirty="0">
                          <a:latin typeface="Calibri" panose="020F0502020204030204" pitchFamily="34" charset="0"/>
                          <a:ea typeface="Calibri" panose="020F0502020204030204" pitchFamily="34" charset="0"/>
                          <a:cs typeface="Calibri" panose="020F0502020204030204" pitchFamily="34" charset="0"/>
                        </a:rPr>
                        <a:t>3286</a:t>
                      </a:r>
                    </a:p>
                  </a:txBody>
                  <a:tcPr/>
                </a:tc>
                <a:extLst>
                  <a:ext uri="{0D108BD9-81ED-4DB2-BD59-A6C34878D82A}">
                    <a16:rowId xmlns:a16="http://schemas.microsoft.com/office/drawing/2014/main" val="3415744248"/>
                  </a:ext>
                </a:extLst>
              </a:tr>
            </a:tbl>
          </a:graphicData>
        </a:graphic>
      </p:graphicFrame>
      <p:sp>
        <p:nvSpPr>
          <p:cNvPr id="11" name="TextBox 10">
            <a:extLst>
              <a:ext uri="{FF2B5EF4-FFF2-40B4-BE49-F238E27FC236}">
                <a16:creationId xmlns:a16="http://schemas.microsoft.com/office/drawing/2014/main" id="{29EF75DF-002D-50D5-853E-71B550635D84}"/>
              </a:ext>
            </a:extLst>
          </p:cNvPr>
          <p:cNvSpPr txBox="1"/>
          <p:nvPr/>
        </p:nvSpPr>
        <p:spPr>
          <a:xfrm>
            <a:off x="5929460" y="3332264"/>
            <a:ext cx="5816706" cy="3139321"/>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From the table it can be observed that Macbook pro has the highest amount of users, Lenovo thinkpad has second highest followed by iPhone 5, MacBook air and Samsung galaxy S4. </a:t>
            </a:r>
          </a:p>
          <a:p>
            <a:r>
              <a:rPr lang="en-IN" dirty="0">
                <a:latin typeface="Calibri" panose="020F0502020204030204" pitchFamily="34" charset="0"/>
                <a:ea typeface="Calibri" panose="020F0502020204030204" pitchFamily="34" charset="0"/>
                <a:cs typeface="Calibri" panose="020F0502020204030204" pitchFamily="34" charset="0"/>
              </a:rPr>
              <a:t>This analysis helps us to understand the most used devices. The company can bring more interesting features and offers for the particular device users  which are present in majority. We can see that Macbook Pro has the highest amount of users and the company needs to focus on them to increase the user engagement and also increase new users.  </a:t>
            </a:r>
          </a:p>
        </p:txBody>
      </p:sp>
    </p:spTree>
    <p:extLst>
      <p:ext uri="{BB962C8B-B14F-4D97-AF65-F5344CB8AC3E}">
        <p14:creationId xmlns:p14="http://schemas.microsoft.com/office/powerpoint/2010/main" val="1920544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19DB-8368-8BA6-F3B4-9C22F4CC81E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60BA3CF-A3E1-11A8-2EDA-59D48196774A}"/>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7A23E38E-EF0C-3300-75E9-CCBC5437F676}"/>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4ECA8D6A-71FD-A9D3-B59B-734E75F16DE0}"/>
              </a:ext>
            </a:extLst>
          </p:cNvPr>
          <p:cNvSpPr txBox="1"/>
          <p:nvPr/>
        </p:nvSpPr>
        <p:spPr>
          <a:xfrm>
            <a:off x="118783" y="2137020"/>
            <a:ext cx="10659034" cy="3847207"/>
          </a:xfrm>
          <a:prstGeom prst="rect">
            <a:avLst/>
          </a:prstGeom>
          <a:noFill/>
        </p:spPr>
        <p:txBody>
          <a:bodyPr wrap="square" rtlCol="0">
            <a:spAutoFit/>
          </a:bodyPr>
          <a:lstStyle/>
          <a:p>
            <a:r>
              <a:rPr lang="en-IN" dirty="0"/>
              <a:t> ANS. </a:t>
            </a:r>
            <a:r>
              <a:rPr lang="en-IN" b="1" dirty="0"/>
              <a:t>SQL CODE used:</a:t>
            </a:r>
          </a:p>
          <a:p>
            <a:r>
              <a:rPr lang="en-IN" dirty="0">
                <a:latin typeface="Calibri" panose="020F0502020204030204" pitchFamily="34" charset="0"/>
                <a:ea typeface="Calibri" panose="020F0502020204030204" pitchFamily="34" charset="0"/>
                <a:cs typeface="Calibri" panose="020F0502020204030204" pitchFamily="34" charset="0"/>
              </a:rPr>
              <a:t>SELECT</a:t>
            </a:r>
          </a:p>
          <a:p>
            <a:r>
              <a:rPr lang="en-IN" dirty="0">
                <a:latin typeface="Calibri" panose="020F0502020204030204" pitchFamily="34" charset="0"/>
                <a:ea typeface="Calibri" panose="020F0502020204030204" pitchFamily="34" charset="0"/>
                <a:cs typeface="Calibri" panose="020F0502020204030204" pitchFamily="34" charset="0"/>
              </a:rPr>
              <a:t>100.0 * SUM(CASE WHEN email_action = 'email_open' THEN 1 ELSE 0 END) /</a:t>
            </a:r>
          </a:p>
          <a:p>
            <a:r>
              <a:rPr lang="en-IN" dirty="0">
                <a:latin typeface="Calibri" panose="020F0502020204030204" pitchFamily="34" charset="0"/>
                <a:ea typeface="Calibri" panose="020F0502020204030204" pitchFamily="34" charset="0"/>
                <a:cs typeface="Calibri" panose="020F0502020204030204" pitchFamily="34" charset="0"/>
              </a:rPr>
              <a:t>SUM(CASE WHEN email_action = 'email_sent' THEN 1 ELSE 0 END) AS email_open_rate,</a:t>
            </a:r>
          </a:p>
          <a:p>
            <a:r>
              <a:rPr lang="en-IN" dirty="0">
                <a:latin typeface="Calibri" panose="020F0502020204030204" pitchFamily="34" charset="0"/>
                <a:ea typeface="Calibri" panose="020F0502020204030204" pitchFamily="34" charset="0"/>
                <a:cs typeface="Calibri" panose="020F0502020204030204" pitchFamily="34" charset="0"/>
              </a:rPr>
              <a:t>100.0 * SUM(CASE WHEN email_action = 'email_clicked' THEN 1 ELSE 0 END) /</a:t>
            </a:r>
          </a:p>
          <a:p>
            <a:r>
              <a:rPr lang="en-IN" dirty="0">
                <a:latin typeface="Calibri" panose="020F0502020204030204" pitchFamily="34" charset="0"/>
                <a:ea typeface="Calibri" panose="020F0502020204030204" pitchFamily="34" charset="0"/>
                <a:cs typeface="Calibri" panose="020F0502020204030204" pitchFamily="34" charset="0"/>
              </a:rPr>
              <a:t>SUM(CASE WHEN email_action = 'email_sent' THEN 1 ELSE 0 END) AS email_clicked_rate</a:t>
            </a:r>
          </a:p>
          <a:p>
            <a:r>
              <a:rPr lang="en-IN" dirty="0">
                <a:latin typeface="Calibri" panose="020F0502020204030204" pitchFamily="34" charset="0"/>
                <a:ea typeface="Calibri" panose="020F0502020204030204" pitchFamily="34" charset="0"/>
                <a:cs typeface="Calibri" panose="020F0502020204030204" pitchFamily="34" charset="0"/>
              </a:rPr>
              <a:t>FROM</a:t>
            </a:r>
          </a:p>
          <a:p>
            <a:r>
              <a:rPr lang="en-IN" dirty="0">
                <a:latin typeface="Calibri" panose="020F0502020204030204" pitchFamily="34" charset="0"/>
                <a:ea typeface="Calibri" panose="020F0502020204030204" pitchFamily="34" charset="0"/>
                <a:cs typeface="Calibri" panose="020F0502020204030204" pitchFamily="34" charset="0"/>
              </a:rPr>
              <a:t>	(SELECT *,</a:t>
            </a:r>
          </a:p>
          <a:p>
            <a:r>
              <a:rPr lang="en-IN" dirty="0">
                <a:latin typeface="Calibri" panose="020F0502020204030204" pitchFamily="34" charset="0"/>
                <a:ea typeface="Calibri" panose="020F0502020204030204" pitchFamily="34" charset="0"/>
                <a:cs typeface="Calibri" panose="020F0502020204030204" pitchFamily="34" charset="0"/>
              </a:rPr>
              <a:t>		CASE</a:t>
            </a:r>
          </a:p>
          <a:p>
            <a:r>
              <a:rPr lang="en-IN" dirty="0">
                <a:latin typeface="Calibri" panose="020F0502020204030204" pitchFamily="34" charset="0"/>
                <a:ea typeface="Calibri" panose="020F0502020204030204" pitchFamily="34" charset="0"/>
                <a:cs typeface="Calibri" panose="020F0502020204030204" pitchFamily="34" charset="0"/>
              </a:rPr>
              <a:t>			WHEN action IN ('sent_weekly_digest', 'sent_reengagement_email') THEN 'email_sent'</a:t>
            </a:r>
          </a:p>
          <a:p>
            <a:endParaRPr lang="en-IN" sz="2800" dirty="0">
              <a:latin typeface="Calibri" panose="020F0502020204030204" pitchFamily="34" charset="0"/>
              <a:ea typeface="Calibri" panose="020F0502020204030204" pitchFamily="34" charset="0"/>
              <a:cs typeface="Calibri" panose="020F0502020204030204" pitchFamily="34" charset="0"/>
            </a:endParaRPr>
          </a:p>
          <a:p>
            <a:endParaRPr lang="en-IN" b="1" dirty="0"/>
          </a:p>
        </p:txBody>
      </p:sp>
      <p:pic>
        <p:nvPicPr>
          <p:cNvPr id="2" name="Picture 1">
            <a:extLst>
              <a:ext uri="{FF2B5EF4-FFF2-40B4-BE49-F238E27FC236}">
                <a16:creationId xmlns:a16="http://schemas.microsoft.com/office/drawing/2014/main" id="{2C70078C-A532-B566-0EEE-81AA956ACD8D}"/>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57476797-D40F-3FD9-8B0C-EAD396566E17}"/>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16316BC0-BF61-FDBB-661E-0C91D1AA8C9A}"/>
              </a:ext>
            </a:extLst>
          </p:cNvPr>
          <p:cNvSpPr txBox="1"/>
          <p:nvPr/>
        </p:nvSpPr>
        <p:spPr>
          <a:xfrm>
            <a:off x="443929" y="936691"/>
            <a:ext cx="11304141" cy="1200329"/>
          </a:xfrm>
          <a:prstGeom prst="rect">
            <a:avLst/>
          </a:prstGeom>
          <a:noFill/>
        </p:spPr>
        <p:txBody>
          <a:bodyPr wrap="square" rtlCol="0">
            <a:spAutoFit/>
          </a:bodyPr>
          <a:lstStyle/>
          <a:p>
            <a:r>
              <a:rPr lang="en-US" dirty="0">
                <a:solidFill>
                  <a:schemeClr val="bg1"/>
                </a:solidFill>
              </a:rPr>
              <a:t>TASK E. </a:t>
            </a:r>
            <a:r>
              <a:rPr lang="en-US" b="1" dirty="0">
                <a:solidFill>
                  <a:schemeClr val="bg1"/>
                </a:solidFill>
              </a:rPr>
              <a:t>Email Engagement Analysis</a:t>
            </a:r>
          </a:p>
          <a:p>
            <a:r>
              <a:rPr lang="en-US" dirty="0">
                <a:solidFill>
                  <a:schemeClr val="bg1"/>
                </a:solidFill>
              </a:rPr>
              <a:t>Objective: Analyze how users are engaging with the email service..</a:t>
            </a:r>
          </a:p>
          <a:p>
            <a:r>
              <a:rPr lang="en-US" dirty="0">
                <a:solidFill>
                  <a:schemeClr val="bg1"/>
                </a:solidFill>
              </a:rPr>
              <a:t>Your Task: Write an SQL query to calculate the email engagement metrics.</a:t>
            </a:r>
          </a:p>
          <a:p>
            <a:endParaRPr lang="en-US" dirty="0">
              <a:solidFill>
                <a:schemeClr val="bg1"/>
              </a:solidFill>
            </a:endParaRPr>
          </a:p>
        </p:txBody>
      </p:sp>
      <p:sp>
        <p:nvSpPr>
          <p:cNvPr id="10" name="TextBox 9">
            <a:extLst>
              <a:ext uri="{FF2B5EF4-FFF2-40B4-BE49-F238E27FC236}">
                <a16:creationId xmlns:a16="http://schemas.microsoft.com/office/drawing/2014/main" id="{D213DD87-4660-75FB-5196-A79145E21469}"/>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FE017D59-A47A-8BD2-EFCA-D60B9BBCEAE7}"/>
              </a:ext>
            </a:extLst>
          </p:cNvPr>
          <p:cNvSpPr txBox="1"/>
          <p:nvPr/>
        </p:nvSpPr>
        <p:spPr>
          <a:xfrm>
            <a:off x="11830721" y="6447934"/>
            <a:ext cx="443930" cy="369332"/>
          </a:xfrm>
          <a:prstGeom prst="rect">
            <a:avLst/>
          </a:prstGeom>
          <a:noFill/>
        </p:spPr>
        <p:txBody>
          <a:bodyPr wrap="square" rtlCol="0">
            <a:spAutoFit/>
          </a:bodyPr>
          <a:lstStyle/>
          <a:p>
            <a:r>
              <a:rPr lang="en-IN" dirty="0">
                <a:solidFill>
                  <a:schemeClr val="bg1"/>
                </a:solidFill>
              </a:rPr>
              <a:t>36</a:t>
            </a:r>
          </a:p>
        </p:txBody>
      </p:sp>
    </p:spTree>
    <p:extLst>
      <p:ext uri="{BB962C8B-B14F-4D97-AF65-F5344CB8AC3E}">
        <p14:creationId xmlns:p14="http://schemas.microsoft.com/office/powerpoint/2010/main" val="2673912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A659B-C759-970B-DF3F-E7CC7F23660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4EF8EEA-1D00-304C-9DE0-D61BF78F31BB}"/>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FF86F128-19E8-F132-C6D5-BA784F9AF6A5}"/>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16729C50-BCBE-BB58-4A4B-5B5E8A86FD82}"/>
              </a:ext>
            </a:extLst>
          </p:cNvPr>
          <p:cNvSpPr txBox="1"/>
          <p:nvPr/>
        </p:nvSpPr>
        <p:spPr>
          <a:xfrm>
            <a:off x="118783" y="2137020"/>
            <a:ext cx="10659034" cy="3293209"/>
          </a:xfrm>
          <a:prstGeom prst="rect">
            <a:avLst/>
          </a:prstGeom>
          <a:noFill/>
        </p:spPr>
        <p:txBody>
          <a:bodyPr wrap="square" rtlCol="0">
            <a:spAutoFit/>
          </a:bodyPr>
          <a:lstStyle/>
          <a:p>
            <a:r>
              <a:rPr lang="en-IN" dirty="0"/>
              <a:t> ANS. </a:t>
            </a:r>
            <a:r>
              <a:rPr lang="en-IN" b="1" dirty="0"/>
              <a:t>SQL CODE used:</a:t>
            </a:r>
          </a:p>
          <a:p>
            <a:endParaRPr lang="en-IN" dirty="0"/>
          </a:p>
          <a:p>
            <a:pPr marL="0" lvl="2"/>
            <a:r>
              <a:rPr lang="en-IN" dirty="0"/>
              <a:t> </a:t>
            </a:r>
            <a:r>
              <a:rPr lang="en-IN" dirty="0">
                <a:latin typeface="Calibri" panose="020F0502020204030204" pitchFamily="34" charset="0"/>
                <a:ea typeface="Calibri" panose="020F0502020204030204" pitchFamily="34" charset="0"/>
                <a:cs typeface="Calibri" panose="020F0502020204030204" pitchFamily="34" charset="0"/>
              </a:rPr>
              <a:t>WHEN action IN ('email_open') THEN 'email_open'</a:t>
            </a:r>
          </a:p>
          <a:p>
            <a:pPr marL="0" lvl="2"/>
            <a:r>
              <a:rPr lang="en-IN" dirty="0">
                <a:latin typeface="Calibri" panose="020F0502020204030204" pitchFamily="34" charset="0"/>
                <a:ea typeface="Calibri" panose="020F0502020204030204" pitchFamily="34" charset="0"/>
                <a:cs typeface="Calibri" panose="020F0502020204030204" pitchFamily="34" charset="0"/>
              </a:rPr>
              <a:t>            WHEN action IN ('email_clickthrough') THEN 'email_clicked'</a:t>
            </a:r>
          </a:p>
          <a:p>
            <a:pPr marL="0" lvl="2"/>
            <a:r>
              <a:rPr lang="en-IN" dirty="0">
                <a:latin typeface="Calibri" panose="020F0502020204030204" pitchFamily="34" charset="0"/>
                <a:ea typeface="Calibri" panose="020F0502020204030204" pitchFamily="34" charset="0"/>
                <a:cs typeface="Calibri" panose="020F0502020204030204" pitchFamily="34" charset="0"/>
              </a:rPr>
              <a:t>            ELSE NULL</a:t>
            </a:r>
          </a:p>
          <a:p>
            <a:pPr marL="0" lvl="2"/>
            <a:r>
              <a:rPr lang="en-IN" dirty="0">
                <a:latin typeface="Calibri" panose="020F0502020204030204" pitchFamily="34" charset="0"/>
                <a:ea typeface="Calibri" panose="020F0502020204030204" pitchFamily="34" charset="0"/>
                <a:cs typeface="Calibri" panose="020F0502020204030204" pitchFamily="34" charset="0"/>
              </a:rPr>
              <a:t>		END AS email_action</a:t>
            </a:r>
          </a:p>
          <a:p>
            <a:pPr marL="0" lvl="2"/>
            <a:r>
              <a:rPr lang="en-IN" dirty="0">
                <a:latin typeface="Calibri" panose="020F0502020204030204" pitchFamily="34" charset="0"/>
                <a:ea typeface="Calibri" panose="020F0502020204030204" pitchFamily="34" charset="0"/>
                <a:cs typeface="Calibri" panose="020F0502020204030204" pitchFamily="34" charset="0"/>
              </a:rPr>
              <a:t>	FROM</a:t>
            </a:r>
          </a:p>
          <a:p>
            <a:pPr marL="0" lvl="2"/>
            <a:r>
              <a:rPr lang="en-IN" dirty="0">
                <a:latin typeface="Calibri" panose="020F0502020204030204" pitchFamily="34" charset="0"/>
                <a:ea typeface="Calibri" panose="020F0502020204030204" pitchFamily="34" charset="0"/>
                <a:cs typeface="Calibri" panose="020F0502020204030204" pitchFamily="34" charset="0"/>
              </a:rPr>
              <a:t>		operation_project3.email_events</a:t>
            </a:r>
          </a:p>
          <a:p>
            <a:pPr marL="0" lvl="2"/>
            <a:r>
              <a:rPr lang="en-IN" dirty="0">
                <a:latin typeface="Calibri" panose="020F0502020204030204" pitchFamily="34" charset="0"/>
                <a:ea typeface="Calibri" panose="020F0502020204030204" pitchFamily="34" charset="0"/>
                <a:cs typeface="Calibri" panose="020F0502020204030204" pitchFamily="34" charset="0"/>
              </a:rPr>
              <a:t>) a;</a:t>
            </a:r>
          </a:p>
          <a:p>
            <a:endParaRPr lang="en-IN" sz="2800" dirty="0">
              <a:latin typeface="Calibri" panose="020F0502020204030204" pitchFamily="34" charset="0"/>
              <a:ea typeface="Calibri" panose="020F0502020204030204" pitchFamily="34" charset="0"/>
              <a:cs typeface="Calibri" panose="020F0502020204030204" pitchFamily="34" charset="0"/>
            </a:endParaRPr>
          </a:p>
          <a:p>
            <a:endParaRPr lang="en-IN" b="1" dirty="0"/>
          </a:p>
        </p:txBody>
      </p:sp>
      <p:pic>
        <p:nvPicPr>
          <p:cNvPr id="2" name="Picture 1">
            <a:extLst>
              <a:ext uri="{FF2B5EF4-FFF2-40B4-BE49-F238E27FC236}">
                <a16:creationId xmlns:a16="http://schemas.microsoft.com/office/drawing/2014/main" id="{682E5D39-593C-D4BB-EE21-2CE373D10FDB}"/>
              </a:ext>
            </a:extLst>
          </p:cNvPr>
          <p:cNvPicPr>
            <a:picLocks noChangeAspect="1"/>
          </p:cNvPicPr>
          <p:nvPr/>
        </p:nvPicPr>
        <p:blipFill>
          <a:blip r:embed="rId4"/>
          <a:stretch>
            <a:fillRect/>
          </a:stretch>
        </p:blipFill>
        <p:spPr>
          <a:xfrm>
            <a:off x="0" y="930357"/>
            <a:ext cx="12192000" cy="967287"/>
          </a:xfrm>
          <a:prstGeom prst="rect">
            <a:avLst/>
          </a:prstGeom>
        </p:spPr>
      </p:pic>
      <p:sp>
        <p:nvSpPr>
          <p:cNvPr id="3" name="Freeform 1">
            <a:extLst>
              <a:ext uri="{FF2B5EF4-FFF2-40B4-BE49-F238E27FC236}">
                <a16:creationId xmlns:a16="http://schemas.microsoft.com/office/drawing/2014/main" id="{9E03491F-E956-F4EE-AD1C-DCD7FDD76DFD}"/>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BDDE7478-B464-44BD-0D0A-972F323AD77D}"/>
              </a:ext>
            </a:extLst>
          </p:cNvPr>
          <p:cNvSpPr txBox="1"/>
          <p:nvPr/>
        </p:nvSpPr>
        <p:spPr>
          <a:xfrm>
            <a:off x="443929" y="936691"/>
            <a:ext cx="11304141" cy="923330"/>
          </a:xfrm>
          <a:prstGeom prst="rect">
            <a:avLst/>
          </a:prstGeom>
          <a:noFill/>
        </p:spPr>
        <p:txBody>
          <a:bodyPr wrap="square" rtlCol="0">
            <a:spAutoFit/>
          </a:bodyPr>
          <a:lstStyle/>
          <a:p>
            <a:r>
              <a:rPr lang="en-US" dirty="0">
                <a:solidFill>
                  <a:schemeClr val="bg1"/>
                </a:solidFill>
              </a:rPr>
              <a:t>TASK E. </a:t>
            </a:r>
            <a:r>
              <a:rPr lang="en-US" b="1" dirty="0">
                <a:solidFill>
                  <a:schemeClr val="bg1"/>
                </a:solidFill>
              </a:rPr>
              <a:t>Email Engagement Analysis</a:t>
            </a:r>
          </a:p>
          <a:p>
            <a:r>
              <a:rPr lang="en-US" dirty="0">
                <a:solidFill>
                  <a:schemeClr val="bg1"/>
                </a:solidFill>
              </a:rPr>
              <a:t>Objective: Analyze how users are engaging with the email service..</a:t>
            </a:r>
          </a:p>
          <a:p>
            <a:r>
              <a:rPr lang="en-US" dirty="0">
                <a:solidFill>
                  <a:schemeClr val="bg1"/>
                </a:solidFill>
              </a:rPr>
              <a:t>Your Task: Write an SQL query to calculate the email engagement metrics.</a:t>
            </a:r>
          </a:p>
        </p:txBody>
      </p:sp>
      <p:sp>
        <p:nvSpPr>
          <p:cNvPr id="10" name="TextBox 9">
            <a:extLst>
              <a:ext uri="{FF2B5EF4-FFF2-40B4-BE49-F238E27FC236}">
                <a16:creationId xmlns:a16="http://schemas.microsoft.com/office/drawing/2014/main" id="{4F1A20A8-F06F-1423-E9B8-C64FC92F27A6}"/>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E728A386-31E1-FF53-721C-8032ED2F0050}"/>
              </a:ext>
            </a:extLst>
          </p:cNvPr>
          <p:cNvSpPr txBox="1"/>
          <p:nvPr/>
        </p:nvSpPr>
        <p:spPr>
          <a:xfrm>
            <a:off x="11821211" y="6447934"/>
            <a:ext cx="471341" cy="369332"/>
          </a:xfrm>
          <a:prstGeom prst="rect">
            <a:avLst/>
          </a:prstGeom>
          <a:noFill/>
        </p:spPr>
        <p:txBody>
          <a:bodyPr wrap="square" rtlCol="0">
            <a:spAutoFit/>
          </a:bodyPr>
          <a:lstStyle/>
          <a:p>
            <a:r>
              <a:rPr lang="en-IN" dirty="0">
                <a:solidFill>
                  <a:schemeClr val="bg1"/>
                </a:solidFill>
              </a:rPr>
              <a:t>37</a:t>
            </a:r>
          </a:p>
        </p:txBody>
      </p:sp>
    </p:spTree>
    <p:extLst>
      <p:ext uri="{BB962C8B-B14F-4D97-AF65-F5344CB8AC3E}">
        <p14:creationId xmlns:p14="http://schemas.microsoft.com/office/powerpoint/2010/main" val="1356300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09746-CC97-D481-82FD-0547B70058D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A6EAF99-6BE1-F614-7633-D714C92739B9}"/>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DA1DF913-4D1D-C037-BC5B-8D6B700E3DB6}"/>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53CECB22-4E9E-4487-D9A4-E7528DBB0666}"/>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58DACBB7-991A-914B-F42B-5656DB61745A}"/>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F0AC6F1A-E9B7-A12D-4195-410511240889}"/>
              </a:ext>
            </a:extLst>
          </p:cNvPr>
          <p:cNvSpPr txBox="1"/>
          <p:nvPr/>
        </p:nvSpPr>
        <p:spPr>
          <a:xfrm>
            <a:off x="443929" y="936691"/>
            <a:ext cx="11304141" cy="923330"/>
          </a:xfrm>
          <a:prstGeom prst="rect">
            <a:avLst/>
          </a:prstGeom>
          <a:noFill/>
        </p:spPr>
        <p:txBody>
          <a:bodyPr wrap="square" rtlCol="0">
            <a:spAutoFit/>
          </a:bodyPr>
          <a:lstStyle/>
          <a:p>
            <a:pPr algn="ctr"/>
            <a:r>
              <a:rPr lang="en-IN" sz="3600" dirty="0">
                <a:solidFill>
                  <a:schemeClr val="bg1"/>
                </a:solidFill>
              </a:rPr>
              <a:t>OUTPUT IN MySQL Workbench</a:t>
            </a:r>
            <a:endParaRPr lang="en-US" sz="3600" dirty="0">
              <a:solidFill>
                <a:schemeClr val="bg1"/>
              </a:solidFill>
            </a:endParaRPr>
          </a:p>
          <a:p>
            <a:endParaRPr lang="en-IN" dirty="0"/>
          </a:p>
        </p:txBody>
      </p:sp>
      <p:sp>
        <p:nvSpPr>
          <p:cNvPr id="10" name="TextBox 9">
            <a:extLst>
              <a:ext uri="{FF2B5EF4-FFF2-40B4-BE49-F238E27FC236}">
                <a16:creationId xmlns:a16="http://schemas.microsoft.com/office/drawing/2014/main" id="{F8B8945E-81FA-2F32-F2E5-33711A2A41EF}"/>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pic>
        <p:nvPicPr>
          <p:cNvPr id="8" name="Picture 7">
            <a:extLst>
              <a:ext uri="{FF2B5EF4-FFF2-40B4-BE49-F238E27FC236}">
                <a16:creationId xmlns:a16="http://schemas.microsoft.com/office/drawing/2014/main" id="{9574BD6B-6B7C-1500-7607-AA93C4B58C56}"/>
              </a:ext>
            </a:extLst>
          </p:cNvPr>
          <p:cNvPicPr>
            <a:picLocks noChangeAspect="1"/>
          </p:cNvPicPr>
          <p:nvPr/>
        </p:nvPicPr>
        <p:blipFill>
          <a:blip r:embed="rId5"/>
          <a:stretch>
            <a:fillRect/>
          </a:stretch>
        </p:blipFill>
        <p:spPr>
          <a:xfrm>
            <a:off x="2462689" y="1768071"/>
            <a:ext cx="6978307" cy="2409448"/>
          </a:xfrm>
          <a:prstGeom prst="rect">
            <a:avLst/>
          </a:prstGeom>
        </p:spPr>
      </p:pic>
      <p:sp>
        <p:nvSpPr>
          <p:cNvPr id="4" name="TextBox 3">
            <a:extLst>
              <a:ext uri="{FF2B5EF4-FFF2-40B4-BE49-F238E27FC236}">
                <a16:creationId xmlns:a16="http://schemas.microsoft.com/office/drawing/2014/main" id="{43F4CA00-FFC5-244F-2F3E-327F07D0A187}"/>
              </a:ext>
            </a:extLst>
          </p:cNvPr>
          <p:cNvSpPr txBox="1"/>
          <p:nvPr/>
        </p:nvSpPr>
        <p:spPr>
          <a:xfrm>
            <a:off x="11830721" y="6438507"/>
            <a:ext cx="443930" cy="369332"/>
          </a:xfrm>
          <a:prstGeom prst="rect">
            <a:avLst/>
          </a:prstGeom>
          <a:noFill/>
        </p:spPr>
        <p:txBody>
          <a:bodyPr wrap="square" rtlCol="0">
            <a:spAutoFit/>
          </a:bodyPr>
          <a:lstStyle/>
          <a:p>
            <a:r>
              <a:rPr lang="en-IN" dirty="0">
                <a:solidFill>
                  <a:schemeClr val="bg1"/>
                </a:solidFill>
              </a:rPr>
              <a:t>38</a:t>
            </a:r>
          </a:p>
        </p:txBody>
      </p:sp>
      <p:sp>
        <p:nvSpPr>
          <p:cNvPr id="9" name="TextBox 8">
            <a:extLst>
              <a:ext uri="{FF2B5EF4-FFF2-40B4-BE49-F238E27FC236}">
                <a16:creationId xmlns:a16="http://schemas.microsoft.com/office/drawing/2014/main" id="{2B3BBBAC-E271-2448-B20B-6DD0D3E5A47B}"/>
              </a:ext>
            </a:extLst>
          </p:cNvPr>
          <p:cNvSpPr txBox="1"/>
          <p:nvPr/>
        </p:nvSpPr>
        <p:spPr>
          <a:xfrm>
            <a:off x="933254" y="4440025"/>
            <a:ext cx="10067826" cy="1938992"/>
          </a:xfrm>
          <a:prstGeom prst="rect">
            <a:avLst/>
          </a:prstGeom>
          <a:noFill/>
        </p:spPr>
        <p:txBody>
          <a:bodyPr wrap="square" rtlCol="0">
            <a:spAutoFit/>
          </a:bodyPr>
          <a:lstStyle/>
          <a:p>
            <a:r>
              <a:rPr lang="en-IN" sz="2400" dirty="0">
                <a:latin typeface="Calibri" panose="020F0502020204030204" pitchFamily="34" charset="0"/>
                <a:ea typeface="Calibri" panose="020F0502020204030204" pitchFamily="34" charset="0"/>
                <a:cs typeface="Calibri" panose="020F0502020204030204" pitchFamily="34" charset="0"/>
              </a:rPr>
              <a:t>Output:</a:t>
            </a:r>
          </a:p>
          <a:p>
            <a:endParaRPr lang="en-IN" sz="2400" dirty="0">
              <a:latin typeface="Calibri" panose="020F0502020204030204" pitchFamily="34" charset="0"/>
              <a:ea typeface="Calibri" panose="020F0502020204030204" pitchFamily="34" charset="0"/>
              <a:cs typeface="Calibri" panose="020F0502020204030204" pitchFamily="34" charset="0"/>
            </a:endParaRPr>
          </a:p>
          <a:p>
            <a:r>
              <a:rPr lang="en-IN" sz="2400" dirty="0">
                <a:latin typeface="Calibri" panose="020F0502020204030204" pitchFamily="34" charset="0"/>
                <a:ea typeface="Calibri" panose="020F0502020204030204" pitchFamily="34" charset="0"/>
                <a:cs typeface="Calibri" panose="020F0502020204030204" pitchFamily="34" charset="0"/>
              </a:rPr>
              <a:t>Email open rate = 33.5%</a:t>
            </a:r>
          </a:p>
          <a:p>
            <a:endParaRPr lang="en-IN" sz="2400" dirty="0">
              <a:latin typeface="Calibri" panose="020F0502020204030204" pitchFamily="34" charset="0"/>
              <a:ea typeface="Calibri" panose="020F0502020204030204" pitchFamily="34" charset="0"/>
              <a:cs typeface="Calibri" panose="020F0502020204030204" pitchFamily="34" charset="0"/>
            </a:endParaRPr>
          </a:p>
          <a:p>
            <a:r>
              <a:rPr lang="en-IN" sz="2400" dirty="0">
                <a:latin typeface="Calibri" panose="020F0502020204030204" pitchFamily="34" charset="0"/>
                <a:ea typeface="Calibri" panose="020F0502020204030204" pitchFamily="34" charset="0"/>
                <a:cs typeface="Calibri" panose="020F0502020204030204" pitchFamily="34" charset="0"/>
              </a:rPr>
              <a:t>Email clicked rate = 14.7%</a:t>
            </a:r>
          </a:p>
        </p:txBody>
      </p:sp>
    </p:spTree>
    <p:extLst>
      <p:ext uri="{BB962C8B-B14F-4D97-AF65-F5344CB8AC3E}">
        <p14:creationId xmlns:p14="http://schemas.microsoft.com/office/powerpoint/2010/main" val="4937877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EA7E3-1177-BC3E-F3BE-221CF420224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E5CC920-3412-88D5-0A81-F0E38059D64D}"/>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16F6780D-9A91-C79E-F536-3AA75CB940C1}"/>
              </a:ext>
            </a:extLst>
          </p:cNvPr>
          <p:cNvPicPr>
            <a:picLocks noChangeAspect="1"/>
          </p:cNvPicPr>
          <p:nvPr/>
        </p:nvPicPr>
        <p:blipFill>
          <a:blip r:embed="rId3"/>
          <a:stretch>
            <a:fillRect/>
          </a:stretch>
        </p:blipFill>
        <p:spPr>
          <a:xfrm>
            <a:off x="0" y="1"/>
            <a:ext cx="12192000" cy="785148"/>
          </a:xfrm>
          <a:prstGeom prst="rect">
            <a:avLst/>
          </a:prstGeom>
        </p:spPr>
      </p:pic>
      <p:sp>
        <p:nvSpPr>
          <p:cNvPr id="9" name="TextBox 8">
            <a:extLst>
              <a:ext uri="{FF2B5EF4-FFF2-40B4-BE49-F238E27FC236}">
                <a16:creationId xmlns:a16="http://schemas.microsoft.com/office/drawing/2014/main" id="{3AB912D2-B98C-EE58-709B-1807C3F0B9A6}"/>
              </a:ext>
            </a:extLst>
          </p:cNvPr>
          <p:cNvSpPr txBox="1"/>
          <p:nvPr/>
        </p:nvSpPr>
        <p:spPr>
          <a:xfrm>
            <a:off x="274247" y="1967835"/>
            <a:ext cx="10659034" cy="4832092"/>
          </a:xfrm>
          <a:prstGeom prst="rect">
            <a:avLst/>
          </a:prstGeom>
          <a:noFill/>
        </p:spPr>
        <p:txBody>
          <a:bodyPr wrap="square" rtlCol="0">
            <a:spAutoFit/>
          </a:bodyPr>
          <a:lstStyle/>
          <a:p>
            <a:r>
              <a:rPr lang="en-IN" dirty="0"/>
              <a:t> </a:t>
            </a:r>
            <a:r>
              <a:rPr lang="en-IN" sz="2800" dirty="0">
                <a:latin typeface="Calibri" panose="020F0502020204030204" pitchFamily="34" charset="0"/>
                <a:ea typeface="Calibri" panose="020F0502020204030204" pitchFamily="34" charset="0"/>
                <a:cs typeface="Calibri" panose="020F0502020204030204" pitchFamily="34" charset="0"/>
              </a:rPr>
              <a:t>In  Email engagement analysis we calculate </a:t>
            </a:r>
            <a:r>
              <a:rPr lang="en-IN" sz="2800" u="sng" dirty="0">
                <a:latin typeface="Calibri" panose="020F0502020204030204" pitchFamily="34" charset="0"/>
                <a:ea typeface="Calibri" panose="020F0502020204030204" pitchFamily="34" charset="0"/>
                <a:cs typeface="Calibri" panose="020F0502020204030204" pitchFamily="34" charset="0"/>
              </a:rPr>
              <a:t>email open rate </a:t>
            </a:r>
            <a:r>
              <a:rPr lang="en-IN" sz="2800" dirty="0">
                <a:latin typeface="Calibri" panose="020F0502020204030204" pitchFamily="34" charset="0"/>
                <a:ea typeface="Calibri" panose="020F0502020204030204" pitchFamily="34" charset="0"/>
                <a:cs typeface="Calibri" panose="020F0502020204030204" pitchFamily="34" charset="0"/>
              </a:rPr>
              <a:t>which is </a:t>
            </a:r>
            <a:r>
              <a:rPr lang="en-IN" sz="2800" u="sng" dirty="0">
                <a:latin typeface="Calibri" panose="020F0502020204030204" pitchFamily="34" charset="0"/>
                <a:ea typeface="Calibri" panose="020F0502020204030204" pitchFamily="34" charset="0"/>
                <a:cs typeface="Calibri" panose="020F0502020204030204" pitchFamily="34" charset="0"/>
              </a:rPr>
              <a:t>33.58 %</a:t>
            </a:r>
            <a:r>
              <a:rPr lang="en-IN" sz="2800" dirty="0">
                <a:latin typeface="Calibri" panose="020F0502020204030204" pitchFamily="34" charset="0"/>
                <a:ea typeface="Calibri" panose="020F0502020204030204" pitchFamily="34" charset="0"/>
                <a:cs typeface="Calibri" panose="020F0502020204030204" pitchFamily="34" charset="0"/>
              </a:rPr>
              <a:t> and </a:t>
            </a:r>
            <a:r>
              <a:rPr lang="en-IN" sz="2800" b="1" dirty="0">
                <a:latin typeface="Calibri" panose="020F0502020204030204" pitchFamily="34" charset="0"/>
                <a:ea typeface="Calibri" panose="020F0502020204030204" pitchFamily="34" charset="0"/>
                <a:cs typeface="Calibri" panose="020F0502020204030204" pitchFamily="34" charset="0"/>
              </a:rPr>
              <a:t>email click rate </a:t>
            </a:r>
            <a:r>
              <a:rPr lang="en-IN" sz="2800" dirty="0">
                <a:latin typeface="Calibri" panose="020F0502020204030204" pitchFamily="34" charset="0"/>
                <a:ea typeface="Calibri" panose="020F0502020204030204" pitchFamily="34" charset="0"/>
                <a:cs typeface="Calibri" panose="020F0502020204030204" pitchFamily="34" charset="0"/>
              </a:rPr>
              <a:t>which is </a:t>
            </a:r>
            <a:r>
              <a:rPr lang="en-IN" sz="2800" b="1" dirty="0">
                <a:latin typeface="Calibri" panose="020F0502020204030204" pitchFamily="34" charset="0"/>
                <a:ea typeface="Calibri" panose="020F0502020204030204" pitchFamily="34" charset="0"/>
                <a:cs typeface="Calibri" panose="020F0502020204030204" pitchFamily="34" charset="0"/>
              </a:rPr>
              <a:t>14.78 %.</a:t>
            </a:r>
          </a:p>
          <a:p>
            <a:r>
              <a:rPr lang="en-IN" sz="2800" u="sng" dirty="0">
                <a:latin typeface="Calibri" panose="020F0502020204030204" pitchFamily="34" charset="0"/>
                <a:ea typeface="Calibri" panose="020F0502020204030204" pitchFamily="34" charset="0"/>
                <a:cs typeface="Calibri" panose="020F0502020204030204" pitchFamily="34" charset="0"/>
              </a:rPr>
              <a:t>Email opens</a:t>
            </a:r>
            <a:r>
              <a:rPr lang="en-IN" sz="2800" dirty="0">
                <a:latin typeface="Calibri" panose="020F0502020204030204" pitchFamily="34" charset="0"/>
                <a:ea typeface="Calibri" panose="020F0502020204030204" pitchFamily="34" charset="0"/>
                <a:cs typeface="Calibri" panose="020F0502020204030204" pitchFamily="34" charset="0"/>
              </a:rPr>
              <a:t>, trach when recipients load images in an email, indicating they have at least seen the message while </a:t>
            </a:r>
            <a:r>
              <a:rPr lang="en-IN" sz="2800" b="1" dirty="0">
                <a:latin typeface="Calibri" panose="020F0502020204030204" pitchFamily="34" charset="0"/>
                <a:ea typeface="Calibri" panose="020F0502020204030204" pitchFamily="34" charset="0"/>
                <a:cs typeface="Calibri" panose="020F0502020204030204" pitchFamily="34" charset="0"/>
              </a:rPr>
              <a:t>Emai Clicks </a:t>
            </a:r>
            <a:r>
              <a:rPr lang="en-IN" sz="2800" dirty="0">
                <a:latin typeface="Calibri" panose="020F0502020204030204" pitchFamily="34" charset="0"/>
                <a:ea typeface="Calibri" panose="020F0502020204030204" pitchFamily="34" charset="0"/>
                <a:cs typeface="Calibri" panose="020F0502020204030204" pitchFamily="34" charset="0"/>
              </a:rPr>
              <a:t>measure when recipients actively click on links within the email, demonstrating deeper engagement and interest in the content. Opens provide insight into the effectiveness of subject lines and sender information, while clicks reveal the appeal of the actual content, offers and  calls-to-action within the email. Email clicks become more valuable metric since they indicate which users successfully took further efforts and were more engaged in the content of the email.</a:t>
            </a:r>
          </a:p>
        </p:txBody>
      </p:sp>
      <p:pic>
        <p:nvPicPr>
          <p:cNvPr id="2" name="Picture 1">
            <a:extLst>
              <a:ext uri="{FF2B5EF4-FFF2-40B4-BE49-F238E27FC236}">
                <a16:creationId xmlns:a16="http://schemas.microsoft.com/office/drawing/2014/main" id="{48E6F66B-C5F8-C608-6B39-03E659A32529}"/>
              </a:ext>
            </a:extLst>
          </p:cNvPr>
          <p:cNvPicPr>
            <a:picLocks noChangeAspect="1"/>
          </p:cNvPicPr>
          <p:nvPr/>
        </p:nvPicPr>
        <p:blipFill>
          <a:blip r:embed="rId4"/>
          <a:stretch>
            <a:fillRect/>
          </a:stretch>
        </p:blipFill>
        <p:spPr>
          <a:xfrm>
            <a:off x="0" y="930358"/>
            <a:ext cx="12192000" cy="785148"/>
          </a:xfrm>
          <a:prstGeom prst="rect">
            <a:avLst/>
          </a:prstGeom>
        </p:spPr>
      </p:pic>
      <p:sp>
        <p:nvSpPr>
          <p:cNvPr id="3" name="Freeform 1">
            <a:extLst>
              <a:ext uri="{FF2B5EF4-FFF2-40B4-BE49-F238E27FC236}">
                <a16:creationId xmlns:a16="http://schemas.microsoft.com/office/drawing/2014/main" id="{5BCEF07F-1F40-925A-378F-464AB2291BE1}"/>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584FC9DE-9F7C-7387-7D88-D7C017FF2164}"/>
              </a:ext>
            </a:extLst>
          </p:cNvPr>
          <p:cNvSpPr txBox="1"/>
          <p:nvPr/>
        </p:nvSpPr>
        <p:spPr>
          <a:xfrm>
            <a:off x="443929" y="936691"/>
            <a:ext cx="11304141" cy="923330"/>
          </a:xfrm>
          <a:prstGeom prst="rect">
            <a:avLst/>
          </a:prstGeom>
          <a:noFill/>
        </p:spPr>
        <p:txBody>
          <a:bodyPr wrap="square" rtlCol="0">
            <a:spAutoFit/>
          </a:bodyPr>
          <a:lstStyle/>
          <a:p>
            <a:pPr algn="ctr"/>
            <a:r>
              <a:rPr lang="en-US" sz="3600" dirty="0">
                <a:solidFill>
                  <a:schemeClr val="bg1"/>
                </a:solidFill>
              </a:rPr>
              <a:t>Key Observation from Email Engagement Analysis</a:t>
            </a:r>
          </a:p>
          <a:p>
            <a:endParaRPr lang="en-IN" dirty="0"/>
          </a:p>
        </p:txBody>
      </p:sp>
      <p:sp>
        <p:nvSpPr>
          <p:cNvPr id="10" name="TextBox 9">
            <a:extLst>
              <a:ext uri="{FF2B5EF4-FFF2-40B4-BE49-F238E27FC236}">
                <a16:creationId xmlns:a16="http://schemas.microsoft.com/office/drawing/2014/main" id="{8C707FD0-C13A-B97C-A757-B9951600918B}"/>
              </a:ext>
            </a:extLst>
          </p:cNvPr>
          <p:cNvSpPr txBox="1"/>
          <p:nvPr/>
        </p:nvSpPr>
        <p:spPr>
          <a:xfrm>
            <a:off x="3011078" y="112278"/>
            <a:ext cx="6169842" cy="369332"/>
          </a:xfrm>
          <a:prstGeom prst="rect">
            <a:avLst/>
          </a:prstGeom>
          <a:noFill/>
        </p:spPr>
        <p:txBody>
          <a:bodyPr wrap="square">
            <a:spAutoFit/>
          </a:bodyPr>
          <a:lstStyle/>
          <a:p>
            <a:pPr algn="ctr"/>
            <a:r>
              <a:rPr lang="en-US" sz="1800" b="1" u="sng" dirty="0">
                <a:solidFill>
                  <a:schemeClr val="bg1"/>
                </a:solidFill>
              </a:rPr>
              <a:t>Case Study 2: Investigating Metric Spike</a:t>
            </a:r>
            <a:endParaRPr lang="en-IN" sz="1800" b="1" u="sng" dirty="0">
              <a:solidFill>
                <a:schemeClr val="bg1"/>
              </a:solidFill>
            </a:endParaRPr>
          </a:p>
        </p:txBody>
      </p:sp>
      <p:sp>
        <p:nvSpPr>
          <p:cNvPr id="4" name="TextBox 3">
            <a:extLst>
              <a:ext uri="{FF2B5EF4-FFF2-40B4-BE49-F238E27FC236}">
                <a16:creationId xmlns:a16="http://schemas.microsoft.com/office/drawing/2014/main" id="{891CB5A0-4324-70A2-032C-3759E6B9D175}"/>
              </a:ext>
            </a:extLst>
          </p:cNvPr>
          <p:cNvSpPr txBox="1"/>
          <p:nvPr/>
        </p:nvSpPr>
        <p:spPr>
          <a:xfrm>
            <a:off x="11849493" y="6438507"/>
            <a:ext cx="499620" cy="369332"/>
          </a:xfrm>
          <a:prstGeom prst="rect">
            <a:avLst/>
          </a:prstGeom>
          <a:noFill/>
        </p:spPr>
        <p:txBody>
          <a:bodyPr wrap="square" rtlCol="0">
            <a:spAutoFit/>
          </a:bodyPr>
          <a:lstStyle/>
          <a:p>
            <a:r>
              <a:rPr lang="en-IN" dirty="0">
                <a:solidFill>
                  <a:schemeClr val="bg1"/>
                </a:solidFill>
              </a:rPr>
              <a:t>39</a:t>
            </a:r>
          </a:p>
        </p:txBody>
      </p:sp>
    </p:spTree>
    <p:extLst>
      <p:ext uri="{BB962C8B-B14F-4D97-AF65-F5344CB8AC3E}">
        <p14:creationId xmlns:p14="http://schemas.microsoft.com/office/powerpoint/2010/main" val="35290352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EC0B0-B117-CC20-7615-60D31292CA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5FF7C47-282A-A1CE-8409-769DECE50034}"/>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EA69F82F-7037-E959-339D-4096530CC719}"/>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98740CE7-7119-B386-1373-B50A72F407E3}"/>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2E3F06D3-74BC-4ABE-0266-8B845BD859A4}"/>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847AC13B-7602-DFA1-114A-56A10A2F3982}"/>
              </a:ext>
            </a:extLst>
          </p:cNvPr>
          <p:cNvSpPr txBox="1"/>
          <p:nvPr/>
        </p:nvSpPr>
        <p:spPr>
          <a:xfrm>
            <a:off x="443929" y="936691"/>
            <a:ext cx="11304141" cy="646331"/>
          </a:xfrm>
          <a:prstGeom prst="rect">
            <a:avLst/>
          </a:prstGeom>
          <a:noFill/>
        </p:spPr>
        <p:txBody>
          <a:bodyPr wrap="square" rtlCol="0">
            <a:spAutoFit/>
          </a:bodyPr>
          <a:lstStyle/>
          <a:p>
            <a:pPr algn="ctr"/>
            <a:r>
              <a:rPr lang="en-IN" sz="3600" dirty="0">
                <a:solidFill>
                  <a:schemeClr val="bg1"/>
                </a:solidFill>
              </a:rPr>
              <a:t>APPROACH</a:t>
            </a:r>
          </a:p>
        </p:txBody>
      </p:sp>
      <p:sp>
        <p:nvSpPr>
          <p:cNvPr id="4" name="TextBox 3">
            <a:extLst>
              <a:ext uri="{FF2B5EF4-FFF2-40B4-BE49-F238E27FC236}">
                <a16:creationId xmlns:a16="http://schemas.microsoft.com/office/drawing/2014/main" id="{57FBFC11-4571-21DA-9CF3-3AC93406C6A2}"/>
              </a:ext>
            </a:extLst>
          </p:cNvPr>
          <p:cNvSpPr txBox="1"/>
          <p:nvPr/>
        </p:nvSpPr>
        <p:spPr>
          <a:xfrm>
            <a:off x="11821729" y="6450402"/>
            <a:ext cx="461914" cy="369332"/>
          </a:xfrm>
          <a:prstGeom prst="rect">
            <a:avLst/>
          </a:prstGeom>
          <a:noFill/>
        </p:spPr>
        <p:txBody>
          <a:bodyPr wrap="square" rtlCol="0">
            <a:spAutoFit/>
          </a:bodyPr>
          <a:lstStyle/>
          <a:p>
            <a:r>
              <a:rPr lang="en-IN" dirty="0">
                <a:solidFill>
                  <a:schemeClr val="bg1"/>
                </a:solidFill>
              </a:rPr>
              <a:t>40</a:t>
            </a:r>
          </a:p>
        </p:txBody>
      </p:sp>
      <p:sp>
        <p:nvSpPr>
          <p:cNvPr id="8" name="TextBox 7">
            <a:extLst>
              <a:ext uri="{FF2B5EF4-FFF2-40B4-BE49-F238E27FC236}">
                <a16:creationId xmlns:a16="http://schemas.microsoft.com/office/drawing/2014/main" id="{DA534C42-044D-85EB-7D55-C1A689120DDC}"/>
              </a:ext>
            </a:extLst>
          </p:cNvPr>
          <p:cNvSpPr txBox="1"/>
          <p:nvPr/>
        </p:nvSpPr>
        <p:spPr>
          <a:xfrm>
            <a:off x="546755" y="1894788"/>
            <a:ext cx="10869105" cy="3970318"/>
          </a:xfrm>
          <a:prstGeom prst="rect">
            <a:avLst/>
          </a:prstGeom>
          <a:noFill/>
        </p:spPr>
        <p:txBody>
          <a:bodyPr wrap="square" rtlCol="0">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After studying MySQL course from Trainity. I learnt how to import large dataset into MySQL. There were two case studies Job data analysis and Investigating metric spike. For both the cases two different datasets were provided. First dataset was easy to import but second dataset had three files namely, users, events, email events. These files had large amount of data. I used various techniques taught in the course to import the whole data. I used MS Excel to view the CSV files. In this way, I could get clarity about the contents of the data. It was interesting to work on such huge amount of data for the first time. </a:t>
            </a:r>
          </a:p>
        </p:txBody>
      </p:sp>
      <p:sp>
        <p:nvSpPr>
          <p:cNvPr id="9" name="TextBox 8">
            <a:extLst>
              <a:ext uri="{FF2B5EF4-FFF2-40B4-BE49-F238E27FC236}">
                <a16:creationId xmlns:a16="http://schemas.microsoft.com/office/drawing/2014/main" id="{E110D732-7F24-558C-4DEE-9D86E518B8CE}"/>
              </a:ext>
            </a:extLst>
          </p:cNvPr>
          <p:cNvSpPr txBox="1"/>
          <p:nvPr/>
        </p:nvSpPr>
        <p:spPr>
          <a:xfrm>
            <a:off x="3011078" y="112278"/>
            <a:ext cx="6169842" cy="646331"/>
          </a:xfrm>
          <a:prstGeom prst="rect">
            <a:avLst/>
          </a:prstGeom>
          <a:noFill/>
        </p:spPr>
        <p:txBody>
          <a:bodyPr wrap="square">
            <a:spAutoFit/>
          </a:bodyPr>
          <a:lstStyle/>
          <a:p>
            <a:pPr algn="ctr"/>
            <a:r>
              <a:rPr lang="en-US" b="1" dirty="0">
                <a:solidFill>
                  <a:schemeClr val="bg1"/>
                </a:solidFill>
              </a:rPr>
              <a:t>Project 3</a:t>
            </a:r>
            <a:r>
              <a:rPr lang="en-US" b="1" u="sng" dirty="0">
                <a:solidFill>
                  <a:schemeClr val="bg1"/>
                </a:solidFill>
              </a:rPr>
              <a:t>: </a:t>
            </a:r>
            <a:r>
              <a:rPr lang="en-US" b="1" dirty="0">
                <a:solidFill>
                  <a:schemeClr val="bg1"/>
                </a:solidFill>
              </a:rPr>
              <a:t>Operation Analytics and Investigating Metric Spike</a:t>
            </a:r>
          </a:p>
          <a:p>
            <a:pPr algn="ctr"/>
            <a:endParaRPr lang="en-IN" sz="1800" b="1" u="sng" dirty="0">
              <a:solidFill>
                <a:schemeClr val="bg1"/>
              </a:solidFill>
            </a:endParaRPr>
          </a:p>
        </p:txBody>
      </p:sp>
    </p:spTree>
    <p:extLst>
      <p:ext uri="{BB962C8B-B14F-4D97-AF65-F5344CB8AC3E}">
        <p14:creationId xmlns:p14="http://schemas.microsoft.com/office/powerpoint/2010/main" val="3072719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DE512-C958-6E3D-B8BF-AD653246ADC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25D5102-97DE-B28B-4166-5178443502E1}"/>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D6A52567-92D4-CFF3-CF4A-CE7FEB665E67}"/>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7413166F-9F5C-47F0-B8F9-7FF1A39CE32D}"/>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393065D8-E5DD-C73E-C0BF-FDE0DAFA3FCD}"/>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2EE3342B-93A4-EFB4-71E4-FE88835D3E54}"/>
              </a:ext>
            </a:extLst>
          </p:cNvPr>
          <p:cNvSpPr txBox="1"/>
          <p:nvPr/>
        </p:nvSpPr>
        <p:spPr>
          <a:xfrm>
            <a:off x="443929" y="936691"/>
            <a:ext cx="11304141" cy="646331"/>
          </a:xfrm>
          <a:prstGeom prst="rect">
            <a:avLst/>
          </a:prstGeom>
          <a:noFill/>
        </p:spPr>
        <p:txBody>
          <a:bodyPr wrap="square" rtlCol="0">
            <a:spAutoFit/>
          </a:bodyPr>
          <a:lstStyle/>
          <a:p>
            <a:pPr algn="ctr"/>
            <a:r>
              <a:rPr lang="en-IN" sz="3600" dirty="0">
                <a:solidFill>
                  <a:schemeClr val="bg1"/>
                </a:solidFill>
              </a:rPr>
              <a:t>Tech-stack Used</a:t>
            </a:r>
          </a:p>
        </p:txBody>
      </p:sp>
      <p:sp>
        <p:nvSpPr>
          <p:cNvPr id="4" name="TextBox 3">
            <a:extLst>
              <a:ext uri="{FF2B5EF4-FFF2-40B4-BE49-F238E27FC236}">
                <a16:creationId xmlns:a16="http://schemas.microsoft.com/office/drawing/2014/main" id="{AB1C84F0-2170-7726-9303-72576BF967B5}"/>
              </a:ext>
            </a:extLst>
          </p:cNvPr>
          <p:cNvSpPr txBox="1"/>
          <p:nvPr/>
        </p:nvSpPr>
        <p:spPr>
          <a:xfrm>
            <a:off x="11830721" y="6450402"/>
            <a:ext cx="443929" cy="369332"/>
          </a:xfrm>
          <a:prstGeom prst="rect">
            <a:avLst/>
          </a:prstGeom>
          <a:noFill/>
        </p:spPr>
        <p:txBody>
          <a:bodyPr wrap="square" rtlCol="0">
            <a:spAutoFit/>
          </a:bodyPr>
          <a:lstStyle/>
          <a:p>
            <a:r>
              <a:rPr lang="en-IN" dirty="0">
                <a:solidFill>
                  <a:schemeClr val="bg1"/>
                </a:solidFill>
              </a:rPr>
              <a:t>41</a:t>
            </a:r>
          </a:p>
        </p:txBody>
      </p:sp>
      <p:sp>
        <p:nvSpPr>
          <p:cNvPr id="8" name="TextBox 7">
            <a:extLst>
              <a:ext uri="{FF2B5EF4-FFF2-40B4-BE49-F238E27FC236}">
                <a16:creationId xmlns:a16="http://schemas.microsoft.com/office/drawing/2014/main" id="{058C965B-55B4-D378-8E1E-FD469A4213C4}"/>
              </a:ext>
            </a:extLst>
          </p:cNvPr>
          <p:cNvSpPr txBox="1"/>
          <p:nvPr/>
        </p:nvSpPr>
        <p:spPr>
          <a:xfrm>
            <a:off x="292231" y="1875934"/>
            <a:ext cx="11048214" cy="4448013"/>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IN" sz="3200" dirty="0">
                <a:latin typeface="Calibri" panose="020F0502020204030204" pitchFamily="34" charset="0"/>
                <a:ea typeface="Calibri" panose="020F0502020204030204" pitchFamily="34" charset="0"/>
                <a:cs typeface="Calibri" panose="020F0502020204030204" pitchFamily="34" charset="0"/>
              </a:rPr>
              <a:t>MySQL Workbench 8.0 CE</a:t>
            </a:r>
          </a:p>
          <a:p>
            <a:pPr marL="285750" indent="-285750">
              <a:lnSpc>
                <a:spcPct val="150000"/>
              </a:lnSpc>
              <a:buFont typeface="Wingdings" panose="05000000000000000000" pitchFamily="2" charset="2"/>
              <a:buChar char="q"/>
            </a:pPr>
            <a:r>
              <a:rPr lang="en-IN" sz="3200" dirty="0">
                <a:latin typeface="Calibri" panose="020F0502020204030204" pitchFamily="34" charset="0"/>
                <a:ea typeface="Calibri" panose="020F0502020204030204" pitchFamily="34" charset="0"/>
                <a:cs typeface="Calibri" panose="020F0502020204030204" pitchFamily="34" charset="0"/>
              </a:rPr>
              <a:t>MS Excel</a:t>
            </a:r>
          </a:p>
          <a:p>
            <a:pPr marL="285750" indent="-285750">
              <a:lnSpc>
                <a:spcPct val="150000"/>
              </a:lnSpc>
              <a:buFont typeface="Wingdings" panose="05000000000000000000" pitchFamily="2" charset="2"/>
              <a:buChar char="q"/>
            </a:pPr>
            <a:r>
              <a:rPr lang="en-IN" sz="3200" dirty="0">
                <a:latin typeface="Calibri" panose="020F0502020204030204" pitchFamily="34" charset="0"/>
                <a:ea typeface="Calibri" panose="020F0502020204030204" pitchFamily="34" charset="0"/>
                <a:cs typeface="Calibri" panose="020F0502020204030204" pitchFamily="34" charset="0"/>
              </a:rPr>
              <a:t>MS PowerPoint </a:t>
            </a:r>
          </a:p>
          <a:p>
            <a:pPr marL="285750" indent="-285750">
              <a:lnSpc>
                <a:spcPct val="150000"/>
              </a:lnSpc>
              <a:buFont typeface="Wingdings" panose="05000000000000000000" pitchFamily="2" charset="2"/>
              <a:buChar char="q"/>
            </a:pPr>
            <a:r>
              <a:rPr lang="en-IN" sz="3200" dirty="0">
                <a:latin typeface="Calibri" panose="020F0502020204030204" pitchFamily="34" charset="0"/>
                <a:ea typeface="Calibri" panose="020F0502020204030204" pitchFamily="34" charset="0"/>
                <a:cs typeface="Calibri" panose="020F0502020204030204" pitchFamily="34" charset="0"/>
              </a:rPr>
              <a:t>Google Drive</a:t>
            </a:r>
          </a:p>
          <a:p>
            <a:pPr marL="285750" indent="-285750">
              <a:lnSpc>
                <a:spcPct val="150000"/>
              </a:lnSpc>
              <a:buFont typeface="Wingdings" panose="05000000000000000000" pitchFamily="2" charset="2"/>
              <a:buChar char="q"/>
            </a:pPr>
            <a:r>
              <a:rPr lang="en-IN" sz="3200" dirty="0">
                <a:latin typeface="Calibri" panose="020F0502020204030204" pitchFamily="34" charset="0"/>
                <a:ea typeface="Calibri" panose="020F0502020204030204" pitchFamily="34" charset="0"/>
                <a:cs typeface="Calibri" panose="020F0502020204030204" pitchFamily="34" charset="0"/>
              </a:rPr>
              <a:t>Trainity Website</a:t>
            </a:r>
            <a:r>
              <a:rPr lang="en-IN" dirty="0"/>
              <a:t> </a:t>
            </a:r>
          </a:p>
          <a:p>
            <a:pPr marL="285750" indent="-285750">
              <a:lnSpc>
                <a:spcPct val="150000"/>
              </a:lnSpc>
              <a:buFont typeface="Wingdings" panose="05000000000000000000" pitchFamily="2" charset="2"/>
              <a:buChar char="q"/>
            </a:pPr>
            <a:r>
              <a:rPr lang="en-IN" sz="3200" dirty="0">
                <a:latin typeface="Calibri" panose="020F0502020204030204" pitchFamily="34" charset="0"/>
                <a:ea typeface="Calibri" panose="020F0502020204030204" pitchFamily="34" charset="0"/>
                <a:cs typeface="Calibri" panose="020F0502020204030204" pitchFamily="34" charset="0"/>
              </a:rPr>
              <a:t>Google Chrome</a:t>
            </a:r>
          </a:p>
        </p:txBody>
      </p:sp>
      <p:pic>
        <p:nvPicPr>
          <p:cNvPr id="11" name="Picture 10">
            <a:extLst>
              <a:ext uri="{FF2B5EF4-FFF2-40B4-BE49-F238E27FC236}">
                <a16:creationId xmlns:a16="http://schemas.microsoft.com/office/drawing/2014/main" id="{6177EE16-D3A1-AB82-5256-F8C4CA258902}"/>
              </a:ext>
            </a:extLst>
          </p:cNvPr>
          <p:cNvPicPr>
            <a:picLocks noChangeAspect="1"/>
          </p:cNvPicPr>
          <p:nvPr/>
        </p:nvPicPr>
        <p:blipFill>
          <a:blip r:embed="rId5"/>
          <a:stretch>
            <a:fillRect/>
          </a:stretch>
        </p:blipFill>
        <p:spPr>
          <a:xfrm>
            <a:off x="5606423" y="1816960"/>
            <a:ext cx="720966" cy="719435"/>
          </a:xfrm>
          <a:prstGeom prst="rect">
            <a:avLst/>
          </a:prstGeom>
        </p:spPr>
      </p:pic>
      <p:pic>
        <p:nvPicPr>
          <p:cNvPr id="13" name="Picture 12">
            <a:extLst>
              <a:ext uri="{FF2B5EF4-FFF2-40B4-BE49-F238E27FC236}">
                <a16:creationId xmlns:a16="http://schemas.microsoft.com/office/drawing/2014/main" id="{07275E6F-B483-07EE-125A-DB7E60F2BB68}"/>
              </a:ext>
            </a:extLst>
          </p:cNvPr>
          <p:cNvPicPr>
            <a:picLocks noChangeAspect="1"/>
          </p:cNvPicPr>
          <p:nvPr/>
        </p:nvPicPr>
        <p:blipFill>
          <a:blip r:embed="rId6"/>
          <a:stretch>
            <a:fillRect/>
          </a:stretch>
        </p:blipFill>
        <p:spPr>
          <a:xfrm>
            <a:off x="5606423" y="2701162"/>
            <a:ext cx="720966" cy="638569"/>
          </a:xfrm>
          <a:prstGeom prst="rect">
            <a:avLst/>
          </a:prstGeom>
        </p:spPr>
      </p:pic>
      <p:pic>
        <p:nvPicPr>
          <p:cNvPr id="15" name="Picture 14">
            <a:extLst>
              <a:ext uri="{FF2B5EF4-FFF2-40B4-BE49-F238E27FC236}">
                <a16:creationId xmlns:a16="http://schemas.microsoft.com/office/drawing/2014/main" id="{A7E837CF-AF37-0F6D-E8D2-8548BE5907BC}"/>
              </a:ext>
            </a:extLst>
          </p:cNvPr>
          <p:cNvPicPr>
            <a:picLocks noChangeAspect="1"/>
          </p:cNvPicPr>
          <p:nvPr/>
        </p:nvPicPr>
        <p:blipFill>
          <a:blip r:embed="rId7"/>
          <a:stretch>
            <a:fillRect/>
          </a:stretch>
        </p:blipFill>
        <p:spPr>
          <a:xfrm>
            <a:off x="5606423" y="3429000"/>
            <a:ext cx="720966" cy="650360"/>
          </a:xfrm>
          <a:prstGeom prst="rect">
            <a:avLst/>
          </a:prstGeom>
        </p:spPr>
      </p:pic>
      <p:pic>
        <p:nvPicPr>
          <p:cNvPr id="17" name="Picture 16">
            <a:extLst>
              <a:ext uri="{FF2B5EF4-FFF2-40B4-BE49-F238E27FC236}">
                <a16:creationId xmlns:a16="http://schemas.microsoft.com/office/drawing/2014/main" id="{B7E58F8C-6D82-2C77-803E-DC127108E8E5}"/>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5606423" y="4196122"/>
            <a:ext cx="720966" cy="650360"/>
          </a:xfrm>
          <a:prstGeom prst="rect">
            <a:avLst/>
          </a:prstGeom>
        </p:spPr>
      </p:pic>
      <p:pic>
        <p:nvPicPr>
          <p:cNvPr id="20" name="Picture 19">
            <a:extLst>
              <a:ext uri="{FF2B5EF4-FFF2-40B4-BE49-F238E27FC236}">
                <a16:creationId xmlns:a16="http://schemas.microsoft.com/office/drawing/2014/main" id="{BD61686F-63F2-38E1-EE79-B7701DB618A4}"/>
              </a:ext>
            </a:extLst>
          </p:cNvPr>
          <p:cNvPicPr>
            <a:picLocks noChangeAspect="1"/>
          </p:cNvPicPr>
          <p:nvPr/>
        </p:nvPicPr>
        <p:blipFill>
          <a:blip r:embed="rId10"/>
          <a:stretch>
            <a:fillRect/>
          </a:stretch>
        </p:blipFill>
        <p:spPr>
          <a:xfrm>
            <a:off x="5606423" y="5019281"/>
            <a:ext cx="1051651" cy="358171"/>
          </a:xfrm>
          <a:prstGeom prst="rect">
            <a:avLst/>
          </a:prstGeom>
        </p:spPr>
      </p:pic>
      <p:pic>
        <p:nvPicPr>
          <p:cNvPr id="22" name="Picture 21">
            <a:extLst>
              <a:ext uri="{FF2B5EF4-FFF2-40B4-BE49-F238E27FC236}">
                <a16:creationId xmlns:a16="http://schemas.microsoft.com/office/drawing/2014/main" id="{C3D26B26-FD4F-853C-6632-C567597F4F3D}"/>
              </a:ext>
            </a:extLst>
          </p:cNvPr>
          <p:cNvPicPr>
            <a:picLocks noChangeAspect="1"/>
          </p:cNvPicPr>
          <p:nvPr/>
        </p:nvPicPr>
        <p:blipFill>
          <a:blip r:embed="rId11" cstate="print">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5633695" y="5650893"/>
            <a:ext cx="799508" cy="799508"/>
          </a:xfrm>
          <a:prstGeom prst="rect">
            <a:avLst/>
          </a:prstGeom>
        </p:spPr>
      </p:pic>
      <p:sp>
        <p:nvSpPr>
          <p:cNvPr id="24" name="TextBox 23">
            <a:extLst>
              <a:ext uri="{FF2B5EF4-FFF2-40B4-BE49-F238E27FC236}">
                <a16:creationId xmlns:a16="http://schemas.microsoft.com/office/drawing/2014/main" id="{E01D0461-FFBB-856B-0C1E-253438409D67}"/>
              </a:ext>
            </a:extLst>
          </p:cNvPr>
          <p:cNvSpPr txBox="1"/>
          <p:nvPr/>
        </p:nvSpPr>
        <p:spPr>
          <a:xfrm>
            <a:off x="3011078" y="112278"/>
            <a:ext cx="6169842" cy="646331"/>
          </a:xfrm>
          <a:prstGeom prst="rect">
            <a:avLst/>
          </a:prstGeom>
          <a:noFill/>
        </p:spPr>
        <p:txBody>
          <a:bodyPr wrap="square">
            <a:spAutoFit/>
          </a:bodyPr>
          <a:lstStyle/>
          <a:p>
            <a:pPr algn="ctr"/>
            <a:r>
              <a:rPr lang="en-US" b="1" dirty="0">
                <a:solidFill>
                  <a:schemeClr val="bg1"/>
                </a:solidFill>
              </a:rPr>
              <a:t>Project 3</a:t>
            </a:r>
            <a:r>
              <a:rPr lang="en-US" b="1" u="sng" dirty="0">
                <a:solidFill>
                  <a:schemeClr val="bg1"/>
                </a:solidFill>
              </a:rPr>
              <a:t>: </a:t>
            </a:r>
            <a:r>
              <a:rPr lang="en-US" b="1" dirty="0">
                <a:solidFill>
                  <a:schemeClr val="bg1"/>
                </a:solidFill>
              </a:rPr>
              <a:t>Operation Analytics and Investigating Metric Spike</a:t>
            </a:r>
          </a:p>
          <a:p>
            <a:pPr algn="ctr"/>
            <a:endParaRPr lang="en-IN" sz="1800" b="1" u="sng" dirty="0">
              <a:solidFill>
                <a:schemeClr val="bg1"/>
              </a:solidFill>
            </a:endParaRPr>
          </a:p>
        </p:txBody>
      </p:sp>
    </p:spTree>
    <p:extLst>
      <p:ext uri="{BB962C8B-B14F-4D97-AF65-F5344CB8AC3E}">
        <p14:creationId xmlns:p14="http://schemas.microsoft.com/office/powerpoint/2010/main" val="27045123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4">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16" name="TextBox 15"/>
          <p:cNvSpPr txBox="1"/>
          <p:nvPr/>
        </p:nvSpPr>
        <p:spPr>
          <a:xfrm>
            <a:off x="11907454" y="6481180"/>
            <a:ext cx="373820" cy="307777"/>
          </a:xfrm>
          <a:prstGeom prst="rect">
            <a:avLst/>
          </a:prstGeom>
          <a:noFill/>
        </p:spPr>
        <p:txBody>
          <a:bodyPr wrap="none" rtlCol="0">
            <a:spAutoFit/>
          </a:bodyPr>
          <a:lstStyle/>
          <a:p>
            <a:r>
              <a:rPr lang="en-US" sz="1400" b="1" dirty="0">
                <a:solidFill>
                  <a:schemeClr val="bg1"/>
                </a:solidFill>
              </a:rPr>
              <a:t>42</a:t>
            </a:r>
          </a:p>
        </p:txBody>
      </p:sp>
      <p:sp>
        <p:nvSpPr>
          <p:cNvPr id="122" name="TextBox 121"/>
          <p:cNvSpPr txBox="1"/>
          <p:nvPr/>
        </p:nvSpPr>
        <p:spPr>
          <a:xfrm>
            <a:off x="5387665" y="903690"/>
            <a:ext cx="1416670" cy="276999"/>
          </a:xfrm>
          <a:prstGeom prst="rect">
            <a:avLst/>
          </a:prstGeom>
          <a:noFill/>
        </p:spPr>
        <p:txBody>
          <a:bodyPr wrap="none" lIns="0" tIns="0" rIns="0" bIns="0" rtlCol="0">
            <a:spAutoFit/>
          </a:bodyPr>
          <a:lstStyle/>
          <a:p>
            <a:pPr>
              <a:tabLst>
                <a:tab pos="347663" algn="l"/>
              </a:tabLst>
            </a:pPr>
            <a:r>
              <a:rPr lang="en-US" dirty="0">
                <a:solidFill>
                  <a:srgbClr val="30353F"/>
                </a:solidFill>
                <a:latin typeface="+mj-lt"/>
              </a:rPr>
              <a:t>EMPLOYEMENTS</a:t>
            </a:r>
          </a:p>
        </p:txBody>
      </p:sp>
      <p:sp>
        <p:nvSpPr>
          <p:cNvPr id="121" name="TextBox 120"/>
          <p:cNvSpPr txBox="1"/>
          <p:nvPr/>
        </p:nvSpPr>
        <p:spPr>
          <a:xfrm>
            <a:off x="1293929" y="903690"/>
            <a:ext cx="1700787" cy="276999"/>
          </a:xfrm>
          <a:prstGeom prst="rect">
            <a:avLst/>
          </a:prstGeom>
          <a:noFill/>
        </p:spPr>
        <p:txBody>
          <a:bodyPr wrap="none" lIns="0" tIns="0" rIns="0" bIns="0" rtlCol="0">
            <a:spAutoFit/>
          </a:bodyPr>
          <a:lstStyle/>
          <a:p>
            <a:pPr>
              <a:tabLst>
                <a:tab pos="347663" algn="l"/>
              </a:tabLst>
            </a:pPr>
            <a:r>
              <a:rPr lang="en-US" dirty="0">
                <a:solidFill>
                  <a:srgbClr val="30353F"/>
                </a:solidFill>
                <a:latin typeface="+mj-lt"/>
              </a:rPr>
              <a:t>TIME MANAGEMENT</a:t>
            </a:r>
          </a:p>
        </p:txBody>
      </p:sp>
      <p:sp>
        <p:nvSpPr>
          <p:cNvPr id="123" name="TextBox 122"/>
          <p:cNvSpPr txBox="1"/>
          <p:nvPr/>
        </p:nvSpPr>
        <p:spPr>
          <a:xfrm>
            <a:off x="9220529" y="903690"/>
            <a:ext cx="1654299" cy="276999"/>
          </a:xfrm>
          <a:prstGeom prst="rect">
            <a:avLst/>
          </a:prstGeom>
          <a:noFill/>
        </p:spPr>
        <p:txBody>
          <a:bodyPr wrap="none" lIns="0" tIns="0" rIns="0" bIns="0" rtlCol="0">
            <a:spAutoFit/>
          </a:bodyPr>
          <a:lstStyle/>
          <a:p>
            <a:pPr>
              <a:tabLst>
                <a:tab pos="347663" algn="l"/>
              </a:tabLst>
            </a:pPr>
            <a:r>
              <a:rPr lang="en-US" dirty="0">
                <a:solidFill>
                  <a:srgbClr val="30353F"/>
                </a:solidFill>
                <a:latin typeface="+mj-lt"/>
              </a:rPr>
              <a:t>TEAM CONNECTION</a:t>
            </a:r>
          </a:p>
        </p:txBody>
      </p:sp>
      <p:sp>
        <p:nvSpPr>
          <p:cNvPr id="138" name="Rectangle 137">
            <a:extLst>
              <a:ext uri="{C183D7F6-B498-43B3-948B-1728B52AA6E4}">
                <adec:decorative xmlns:adec="http://schemas.microsoft.com/office/drawing/2017/decorative" val="1"/>
              </a:ext>
            </a:extLst>
          </p:cNvPr>
          <p:cNvSpPr/>
          <p:nvPr/>
        </p:nvSpPr>
        <p:spPr>
          <a:xfrm>
            <a:off x="5014510" y="2534138"/>
            <a:ext cx="2162981" cy="3472192"/>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C183D7F6-B498-43B3-948B-1728B52AA6E4}">
                <adec:decorative xmlns:adec="http://schemas.microsoft.com/office/drawing/2017/decorative" val="1"/>
              </a:ext>
            </a:extLst>
          </p:cNvPr>
          <p:cNvGrpSpPr/>
          <p:nvPr/>
        </p:nvGrpSpPr>
        <p:grpSpPr>
          <a:xfrm>
            <a:off x="4255846" y="1257300"/>
            <a:ext cx="3680308" cy="2453538"/>
            <a:chOff x="4064749" y="1192972"/>
            <a:chExt cx="4062503" cy="2708336"/>
          </a:xfrm>
        </p:grpSpPr>
        <p:grpSp>
          <p:nvGrpSpPr>
            <p:cNvPr id="2" name="Group 1"/>
            <p:cNvGrpSpPr/>
            <p:nvPr/>
          </p:nvGrpSpPr>
          <p:grpSpPr>
            <a:xfrm>
              <a:off x="4064749" y="1192972"/>
              <a:ext cx="4062503" cy="2708336"/>
              <a:chOff x="4064749" y="1192972"/>
              <a:chExt cx="4062503" cy="2708336"/>
            </a:xfrm>
          </p:grpSpPr>
          <p:graphicFrame>
            <p:nvGraphicFramePr>
              <p:cNvPr id="114" name="Chart 113"/>
              <p:cNvGraphicFramePr/>
              <p:nvPr>
                <p:extLst>
                  <p:ext uri="{D42A27DB-BD31-4B8C-83A1-F6EECF244321}">
                    <p14:modId xmlns:p14="http://schemas.microsoft.com/office/powerpoint/2010/main" val="3921070937"/>
                  </p:ext>
                </p:extLst>
              </p:nvPr>
            </p:nvGraphicFramePr>
            <p:xfrm>
              <a:off x="4064749" y="1192972"/>
              <a:ext cx="4062503" cy="2708336"/>
            </p:xfrm>
            <a:graphic>
              <a:graphicData uri="http://schemas.openxmlformats.org/drawingml/2006/chart">
                <c:chart xmlns:c="http://schemas.openxmlformats.org/drawingml/2006/chart" xmlns:r="http://schemas.openxmlformats.org/officeDocument/2006/relationships" r:id="rId2"/>
              </a:graphicData>
            </a:graphic>
          </p:graphicFrame>
          <p:sp>
            <p:nvSpPr>
              <p:cNvPr id="61" name="Oval 60"/>
              <p:cNvSpPr/>
              <p:nvPr/>
            </p:nvSpPr>
            <p:spPr>
              <a:xfrm>
                <a:off x="5302166" y="1753306"/>
                <a:ext cx="1587668" cy="15876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9" name="Freeform 5"/>
            <p:cNvSpPr>
              <a:spLocks noEditPoints="1"/>
            </p:cNvSpPr>
            <p:nvPr/>
          </p:nvSpPr>
          <p:spPr bwMode="auto">
            <a:xfrm>
              <a:off x="5708499" y="2119338"/>
              <a:ext cx="775002" cy="855603"/>
            </a:xfrm>
            <a:custGeom>
              <a:avLst/>
              <a:gdLst>
                <a:gd name="T0" fmla="*/ 1440 w 1800"/>
                <a:gd name="T1" fmla="*/ 544 h 2048"/>
                <a:gd name="T2" fmla="*/ 360 w 1800"/>
                <a:gd name="T3" fmla="*/ 544 h 2048"/>
                <a:gd name="T4" fmla="*/ 0 w 1800"/>
                <a:gd name="T5" fmla="*/ 1868 h 2048"/>
                <a:gd name="T6" fmla="*/ 1620 w 1800"/>
                <a:gd name="T7" fmla="*/ 2048 h 2048"/>
                <a:gd name="T8" fmla="*/ 1176 w 1800"/>
                <a:gd name="T9" fmla="*/ 1011 h 2048"/>
                <a:gd name="T10" fmla="*/ 900 w 1800"/>
                <a:gd name="T11" fmla="*/ 120 h 2048"/>
                <a:gd name="T12" fmla="*/ 900 w 1800"/>
                <a:gd name="T13" fmla="*/ 968 h 2048"/>
                <a:gd name="T14" fmla="*/ 1012 w 1800"/>
                <a:gd name="T15" fmla="*/ 1096 h 2048"/>
                <a:gd name="T16" fmla="*/ 788 w 1800"/>
                <a:gd name="T17" fmla="*/ 1096 h 2048"/>
                <a:gd name="T18" fmla="*/ 1012 w 1800"/>
                <a:gd name="T19" fmla="*/ 1096 h 2048"/>
                <a:gd name="T20" fmla="*/ 180 w 1800"/>
                <a:gd name="T21" fmla="*/ 1928 h 2048"/>
                <a:gd name="T22" fmla="*/ 419 w 1800"/>
                <a:gd name="T23" fmla="*/ 1254 h 2048"/>
                <a:gd name="T24" fmla="*/ 702 w 1800"/>
                <a:gd name="T25" fmla="*/ 1550 h 2048"/>
                <a:gd name="T26" fmla="*/ 778 w 1800"/>
                <a:gd name="T27" fmla="*/ 1637 h 2048"/>
                <a:gd name="T28" fmla="*/ 698 w 1800"/>
                <a:gd name="T29" fmla="*/ 1385 h 2048"/>
                <a:gd name="T30" fmla="*/ 669 w 1800"/>
                <a:gd name="T31" fmla="*/ 1414 h 2048"/>
                <a:gd name="T32" fmla="*/ 645 w 1800"/>
                <a:gd name="T33" fmla="*/ 1131 h 2048"/>
                <a:gd name="T34" fmla="*/ 698 w 1800"/>
                <a:gd name="T35" fmla="*/ 1385 h 2048"/>
                <a:gd name="T36" fmla="*/ 899 w 1800"/>
                <a:gd name="T37" fmla="*/ 1638 h 2048"/>
                <a:gd name="T38" fmla="*/ 901 w 1800"/>
                <a:gd name="T39" fmla="*/ 1638 h 2048"/>
                <a:gd name="T40" fmla="*/ 851 w 1800"/>
                <a:gd name="T41" fmla="*/ 1928 h 2048"/>
                <a:gd name="T42" fmla="*/ 900 w 1800"/>
                <a:gd name="T43" fmla="*/ 1628 h 2048"/>
                <a:gd name="T44" fmla="*/ 813 w 1800"/>
                <a:gd name="T45" fmla="*/ 1440 h 2048"/>
                <a:gd name="T46" fmla="*/ 987 w 1800"/>
                <a:gd name="T47" fmla="*/ 1440 h 2048"/>
                <a:gd name="T48" fmla="*/ 1155 w 1800"/>
                <a:gd name="T49" fmla="*/ 1131 h 2048"/>
                <a:gd name="T50" fmla="*/ 1134 w 1800"/>
                <a:gd name="T51" fmla="*/ 1417 h 2048"/>
                <a:gd name="T52" fmla="*/ 1102 w 1800"/>
                <a:gd name="T53" fmla="*/ 1385 h 2048"/>
                <a:gd name="T54" fmla="*/ 1155 w 1800"/>
                <a:gd name="T55" fmla="*/ 1131 h 2048"/>
                <a:gd name="T56" fmla="*/ 1071 w 1800"/>
                <a:gd name="T57" fmla="*/ 1928 h 2048"/>
                <a:gd name="T58" fmla="*/ 1076 w 1800"/>
                <a:gd name="T59" fmla="*/ 1529 h 2048"/>
                <a:gd name="T60" fmla="*/ 1188 w 1800"/>
                <a:gd name="T61" fmla="*/ 1544 h 2048"/>
                <a:gd name="T62" fmla="*/ 1680 w 1800"/>
                <a:gd name="T63" fmla="*/ 186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0" h="2048">
                  <a:moveTo>
                    <a:pt x="1176" y="1011"/>
                  </a:moveTo>
                  <a:cubicBezTo>
                    <a:pt x="1334" y="916"/>
                    <a:pt x="1440" y="742"/>
                    <a:pt x="1440" y="544"/>
                  </a:cubicBezTo>
                  <a:cubicBezTo>
                    <a:pt x="1440" y="244"/>
                    <a:pt x="1198" y="0"/>
                    <a:pt x="900" y="0"/>
                  </a:cubicBezTo>
                  <a:cubicBezTo>
                    <a:pt x="602" y="0"/>
                    <a:pt x="360" y="244"/>
                    <a:pt x="360" y="544"/>
                  </a:cubicBezTo>
                  <a:cubicBezTo>
                    <a:pt x="360" y="742"/>
                    <a:pt x="466" y="916"/>
                    <a:pt x="624" y="1011"/>
                  </a:cubicBezTo>
                  <a:cubicBezTo>
                    <a:pt x="269" y="1125"/>
                    <a:pt x="0" y="1460"/>
                    <a:pt x="0" y="1868"/>
                  </a:cubicBezTo>
                  <a:cubicBezTo>
                    <a:pt x="0" y="1967"/>
                    <a:pt x="81" y="2048"/>
                    <a:pt x="180" y="2048"/>
                  </a:cubicBezTo>
                  <a:cubicBezTo>
                    <a:pt x="197" y="2048"/>
                    <a:pt x="1577" y="2048"/>
                    <a:pt x="1620" y="2048"/>
                  </a:cubicBezTo>
                  <a:cubicBezTo>
                    <a:pt x="1719" y="2048"/>
                    <a:pt x="1800" y="1967"/>
                    <a:pt x="1800" y="1868"/>
                  </a:cubicBezTo>
                  <a:cubicBezTo>
                    <a:pt x="1800" y="1460"/>
                    <a:pt x="1531" y="1125"/>
                    <a:pt x="1176" y="1011"/>
                  </a:cubicBezTo>
                  <a:close/>
                  <a:moveTo>
                    <a:pt x="480" y="544"/>
                  </a:moveTo>
                  <a:cubicBezTo>
                    <a:pt x="480" y="310"/>
                    <a:pt x="668" y="120"/>
                    <a:pt x="900" y="120"/>
                  </a:cubicBezTo>
                  <a:cubicBezTo>
                    <a:pt x="1132" y="120"/>
                    <a:pt x="1320" y="310"/>
                    <a:pt x="1320" y="544"/>
                  </a:cubicBezTo>
                  <a:cubicBezTo>
                    <a:pt x="1320" y="778"/>
                    <a:pt x="1132" y="968"/>
                    <a:pt x="900" y="968"/>
                  </a:cubicBezTo>
                  <a:cubicBezTo>
                    <a:pt x="668" y="968"/>
                    <a:pt x="480" y="778"/>
                    <a:pt x="480" y="544"/>
                  </a:cubicBezTo>
                  <a:close/>
                  <a:moveTo>
                    <a:pt x="1012" y="1096"/>
                  </a:moveTo>
                  <a:cubicBezTo>
                    <a:pt x="900" y="1190"/>
                    <a:pt x="900" y="1190"/>
                    <a:pt x="900" y="1190"/>
                  </a:cubicBezTo>
                  <a:cubicBezTo>
                    <a:pt x="788" y="1096"/>
                    <a:pt x="788" y="1096"/>
                    <a:pt x="788" y="1096"/>
                  </a:cubicBezTo>
                  <a:cubicBezTo>
                    <a:pt x="824" y="1091"/>
                    <a:pt x="862" y="1088"/>
                    <a:pt x="900" y="1088"/>
                  </a:cubicBezTo>
                  <a:cubicBezTo>
                    <a:pt x="938" y="1088"/>
                    <a:pt x="976" y="1091"/>
                    <a:pt x="1012" y="1096"/>
                  </a:cubicBezTo>
                  <a:close/>
                  <a:moveTo>
                    <a:pt x="729" y="1928"/>
                  </a:moveTo>
                  <a:cubicBezTo>
                    <a:pt x="180" y="1928"/>
                    <a:pt x="180" y="1928"/>
                    <a:pt x="180" y="1928"/>
                  </a:cubicBezTo>
                  <a:cubicBezTo>
                    <a:pt x="147" y="1928"/>
                    <a:pt x="120" y="1901"/>
                    <a:pt x="120" y="1868"/>
                  </a:cubicBezTo>
                  <a:cubicBezTo>
                    <a:pt x="120" y="1619"/>
                    <a:pt x="237" y="1397"/>
                    <a:pt x="419" y="1254"/>
                  </a:cubicBezTo>
                  <a:cubicBezTo>
                    <a:pt x="610" y="1541"/>
                    <a:pt x="610" y="1541"/>
                    <a:pt x="610" y="1541"/>
                  </a:cubicBezTo>
                  <a:cubicBezTo>
                    <a:pt x="631" y="1573"/>
                    <a:pt x="676" y="1577"/>
                    <a:pt x="702" y="1550"/>
                  </a:cubicBezTo>
                  <a:cubicBezTo>
                    <a:pt x="724" y="1529"/>
                    <a:pt x="724" y="1529"/>
                    <a:pt x="724" y="1529"/>
                  </a:cubicBezTo>
                  <a:cubicBezTo>
                    <a:pt x="778" y="1637"/>
                    <a:pt x="778" y="1637"/>
                    <a:pt x="778" y="1637"/>
                  </a:cubicBezTo>
                  <a:lnTo>
                    <a:pt x="729" y="1928"/>
                  </a:lnTo>
                  <a:close/>
                  <a:moveTo>
                    <a:pt x="698" y="1385"/>
                  </a:moveTo>
                  <a:cubicBezTo>
                    <a:pt x="698" y="1385"/>
                    <a:pt x="698" y="1385"/>
                    <a:pt x="698" y="1385"/>
                  </a:cubicBezTo>
                  <a:cubicBezTo>
                    <a:pt x="669" y="1414"/>
                    <a:pt x="669" y="1414"/>
                    <a:pt x="669" y="1414"/>
                  </a:cubicBezTo>
                  <a:cubicBezTo>
                    <a:pt x="519" y="1188"/>
                    <a:pt x="519" y="1188"/>
                    <a:pt x="519" y="1188"/>
                  </a:cubicBezTo>
                  <a:cubicBezTo>
                    <a:pt x="559" y="1165"/>
                    <a:pt x="601" y="1146"/>
                    <a:pt x="645" y="1131"/>
                  </a:cubicBezTo>
                  <a:cubicBezTo>
                    <a:pt x="650" y="1138"/>
                    <a:pt x="640" y="1129"/>
                    <a:pt x="811" y="1272"/>
                  </a:cubicBezTo>
                  <a:lnTo>
                    <a:pt x="698" y="1385"/>
                  </a:lnTo>
                  <a:close/>
                  <a:moveTo>
                    <a:pt x="851" y="1928"/>
                  </a:moveTo>
                  <a:cubicBezTo>
                    <a:pt x="899" y="1638"/>
                    <a:pt x="899" y="1638"/>
                    <a:pt x="899" y="1638"/>
                  </a:cubicBezTo>
                  <a:cubicBezTo>
                    <a:pt x="900" y="1635"/>
                    <a:pt x="900" y="1631"/>
                    <a:pt x="900" y="1628"/>
                  </a:cubicBezTo>
                  <a:cubicBezTo>
                    <a:pt x="900" y="1631"/>
                    <a:pt x="900" y="1635"/>
                    <a:pt x="901" y="1638"/>
                  </a:cubicBezTo>
                  <a:cubicBezTo>
                    <a:pt x="949" y="1928"/>
                    <a:pt x="949" y="1928"/>
                    <a:pt x="949" y="1928"/>
                  </a:cubicBezTo>
                  <a:lnTo>
                    <a:pt x="851" y="1928"/>
                  </a:lnTo>
                  <a:close/>
                  <a:moveTo>
                    <a:pt x="906" y="1601"/>
                  </a:moveTo>
                  <a:cubicBezTo>
                    <a:pt x="902" y="1610"/>
                    <a:pt x="900" y="1619"/>
                    <a:pt x="900" y="1628"/>
                  </a:cubicBezTo>
                  <a:cubicBezTo>
                    <a:pt x="900" y="1619"/>
                    <a:pt x="898" y="1610"/>
                    <a:pt x="894" y="1601"/>
                  </a:cubicBezTo>
                  <a:cubicBezTo>
                    <a:pt x="813" y="1440"/>
                    <a:pt x="813" y="1440"/>
                    <a:pt x="813" y="1440"/>
                  </a:cubicBezTo>
                  <a:cubicBezTo>
                    <a:pt x="900" y="1353"/>
                    <a:pt x="900" y="1353"/>
                    <a:pt x="900" y="1353"/>
                  </a:cubicBezTo>
                  <a:cubicBezTo>
                    <a:pt x="987" y="1440"/>
                    <a:pt x="987" y="1440"/>
                    <a:pt x="987" y="1440"/>
                  </a:cubicBezTo>
                  <a:lnTo>
                    <a:pt x="906" y="1601"/>
                  </a:lnTo>
                  <a:close/>
                  <a:moveTo>
                    <a:pt x="1155" y="1131"/>
                  </a:moveTo>
                  <a:cubicBezTo>
                    <a:pt x="1205" y="1148"/>
                    <a:pt x="1253" y="1171"/>
                    <a:pt x="1298" y="1197"/>
                  </a:cubicBezTo>
                  <a:cubicBezTo>
                    <a:pt x="1134" y="1417"/>
                    <a:pt x="1134" y="1417"/>
                    <a:pt x="1134" y="1417"/>
                  </a:cubicBezTo>
                  <a:cubicBezTo>
                    <a:pt x="1102" y="1385"/>
                    <a:pt x="1102" y="1385"/>
                    <a:pt x="1102" y="1385"/>
                  </a:cubicBezTo>
                  <a:cubicBezTo>
                    <a:pt x="1102" y="1385"/>
                    <a:pt x="1102" y="1385"/>
                    <a:pt x="1102" y="1385"/>
                  </a:cubicBezTo>
                  <a:cubicBezTo>
                    <a:pt x="989" y="1272"/>
                    <a:pt x="989" y="1272"/>
                    <a:pt x="989" y="1272"/>
                  </a:cubicBezTo>
                  <a:cubicBezTo>
                    <a:pt x="1161" y="1128"/>
                    <a:pt x="1150" y="1138"/>
                    <a:pt x="1155" y="1131"/>
                  </a:cubicBezTo>
                  <a:close/>
                  <a:moveTo>
                    <a:pt x="1620" y="1928"/>
                  </a:moveTo>
                  <a:cubicBezTo>
                    <a:pt x="1071" y="1928"/>
                    <a:pt x="1071" y="1928"/>
                    <a:pt x="1071" y="1928"/>
                  </a:cubicBezTo>
                  <a:cubicBezTo>
                    <a:pt x="1022" y="1637"/>
                    <a:pt x="1022" y="1637"/>
                    <a:pt x="1022" y="1637"/>
                  </a:cubicBezTo>
                  <a:cubicBezTo>
                    <a:pt x="1076" y="1529"/>
                    <a:pt x="1076" y="1529"/>
                    <a:pt x="1076" y="1529"/>
                  </a:cubicBezTo>
                  <a:cubicBezTo>
                    <a:pt x="1098" y="1550"/>
                    <a:pt x="1098" y="1550"/>
                    <a:pt x="1098" y="1550"/>
                  </a:cubicBezTo>
                  <a:cubicBezTo>
                    <a:pt x="1123" y="1576"/>
                    <a:pt x="1166" y="1573"/>
                    <a:pt x="1188" y="1544"/>
                  </a:cubicBezTo>
                  <a:cubicBezTo>
                    <a:pt x="1396" y="1267"/>
                    <a:pt x="1396" y="1267"/>
                    <a:pt x="1396" y="1267"/>
                  </a:cubicBezTo>
                  <a:cubicBezTo>
                    <a:pt x="1569" y="1410"/>
                    <a:pt x="1680" y="1626"/>
                    <a:pt x="1680" y="1868"/>
                  </a:cubicBezTo>
                  <a:cubicBezTo>
                    <a:pt x="1680" y="1901"/>
                    <a:pt x="1653" y="1928"/>
                    <a:pt x="1620" y="1928"/>
                  </a:cubicBezTo>
                  <a:close/>
                </a:path>
              </a:pathLst>
            </a:custGeom>
            <a:solidFill>
              <a:srgbClr val="98A3AD"/>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5" name="TextBox 124"/>
          <p:cNvSpPr txBox="1"/>
          <p:nvPr/>
        </p:nvSpPr>
        <p:spPr>
          <a:xfrm>
            <a:off x="5018682" y="3721965"/>
            <a:ext cx="2154637" cy="1969770"/>
          </a:xfrm>
          <a:prstGeom prst="rect">
            <a:avLst/>
          </a:prstGeom>
          <a:noFill/>
        </p:spPr>
        <p:txBody>
          <a:bodyPr wrap="square" lIns="0" tIns="0" rIns="0" bIns="0" rtlCol="0">
            <a:spAutoFit/>
          </a:bodyPr>
          <a:lstStyle>
            <a:defPPr>
              <a:defRPr lang="en-US"/>
            </a:defPPr>
            <a:lvl1pPr algn="ctr">
              <a:defRPr sz="1600">
                <a:solidFill>
                  <a:schemeClr val="bg1"/>
                </a:solidFill>
              </a:defRPr>
            </a:lvl1pPr>
          </a:lstStyle>
          <a:p>
            <a:r>
              <a:rPr lang="en-US" dirty="0">
                <a:solidFill>
                  <a:srgbClr val="30353F"/>
                </a:solidFill>
              </a:rPr>
              <a:t>The first dataset </a:t>
            </a:r>
          </a:p>
          <a:p>
            <a:r>
              <a:rPr lang="en-US" dirty="0">
                <a:solidFill>
                  <a:srgbClr val="30353F"/>
                </a:solidFill>
              </a:rPr>
              <a:t>contained a list of </a:t>
            </a:r>
          </a:p>
          <a:p>
            <a:r>
              <a:rPr lang="en-US" dirty="0">
                <a:solidFill>
                  <a:srgbClr val="30353F"/>
                </a:solidFill>
              </a:rPr>
              <a:t>Actor IDs and the </a:t>
            </a:r>
          </a:p>
          <a:p>
            <a:r>
              <a:rPr lang="en-US" dirty="0">
                <a:solidFill>
                  <a:srgbClr val="30353F"/>
                </a:solidFill>
              </a:rPr>
              <a:t>languages used by </a:t>
            </a:r>
          </a:p>
          <a:p>
            <a:r>
              <a:rPr lang="en-US" dirty="0">
                <a:solidFill>
                  <a:srgbClr val="30353F"/>
                </a:solidFill>
              </a:rPr>
              <a:t>them. It also contained some duplicate rows which needed to be found out in MySQL.</a:t>
            </a:r>
          </a:p>
        </p:txBody>
      </p:sp>
      <p:sp>
        <p:nvSpPr>
          <p:cNvPr id="141" name="Rectangle 140">
            <a:extLst>
              <a:ext uri="{C183D7F6-B498-43B3-948B-1728B52AA6E4}">
                <adec:decorative xmlns:adec="http://schemas.microsoft.com/office/drawing/2017/decorative" val="1"/>
              </a:ext>
            </a:extLst>
          </p:cNvPr>
          <p:cNvSpPr/>
          <p:nvPr/>
        </p:nvSpPr>
        <p:spPr>
          <a:xfrm>
            <a:off x="1057712" y="2543209"/>
            <a:ext cx="2173221" cy="3471990"/>
          </a:xfrm>
          <a:prstGeom prst="rect">
            <a:avLst/>
          </a:prstGeom>
          <a:gradFill flip="none" rotWithShape="1">
            <a:gsLst>
              <a:gs pos="100000">
                <a:srgbClr val="30353F">
                  <a:alpha val="0"/>
                </a:srgbClr>
              </a:gs>
              <a:gs pos="0">
                <a:srgbClr val="30353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C183D7F6-B498-43B3-948B-1728B52AA6E4}">
                <adec:decorative xmlns:adec="http://schemas.microsoft.com/office/drawing/2017/decorative" val="1"/>
              </a:ext>
            </a:extLst>
          </p:cNvPr>
          <p:cNvGrpSpPr/>
          <p:nvPr/>
        </p:nvGrpSpPr>
        <p:grpSpPr>
          <a:xfrm>
            <a:off x="304169" y="1258770"/>
            <a:ext cx="3680307" cy="2453539"/>
            <a:chOff x="-20046" y="1192971"/>
            <a:chExt cx="4062503" cy="2708336"/>
          </a:xfrm>
        </p:grpSpPr>
        <p:sp>
          <p:nvSpPr>
            <p:cNvPr id="142" name="Oval 141"/>
            <p:cNvSpPr/>
            <p:nvPr/>
          </p:nvSpPr>
          <p:spPr>
            <a:xfrm>
              <a:off x="1217371" y="1753306"/>
              <a:ext cx="1587668" cy="15876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p:cNvGrpSpPr/>
            <p:nvPr/>
          </p:nvGrpSpPr>
          <p:grpSpPr>
            <a:xfrm>
              <a:off x="-20046" y="1192971"/>
              <a:ext cx="4062503" cy="2708336"/>
              <a:chOff x="825276" y="1527237"/>
              <a:chExt cx="3419288" cy="2279526"/>
            </a:xfrm>
          </p:grpSpPr>
          <p:graphicFrame>
            <p:nvGraphicFramePr>
              <p:cNvPr id="46" name="Chart 45"/>
              <p:cNvGraphicFramePr/>
              <p:nvPr>
                <p:extLst>
                  <p:ext uri="{D42A27DB-BD31-4B8C-83A1-F6EECF244321}">
                    <p14:modId xmlns:p14="http://schemas.microsoft.com/office/powerpoint/2010/main" val="1540568077"/>
                  </p:ext>
                </p:extLst>
              </p:nvPr>
            </p:nvGraphicFramePr>
            <p:xfrm>
              <a:off x="825276" y="1527237"/>
              <a:ext cx="3419288" cy="2279526"/>
            </p:xfrm>
            <a:graphic>
              <a:graphicData uri="http://schemas.openxmlformats.org/drawingml/2006/chart">
                <c:chart xmlns:c="http://schemas.openxmlformats.org/drawingml/2006/chart" xmlns:r="http://schemas.openxmlformats.org/officeDocument/2006/relationships" r:id="rId3"/>
              </a:graphicData>
            </a:graphic>
          </p:graphicFrame>
          <p:grpSp>
            <p:nvGrpSpPr>
              <p:cNvPr id="95" name="Group 94"/>
              <p:cNvGrpSpPr/>
              <p:nvPr/>
            </p:nvGrpSpPr>
            <p:grpSpPr>
              <a:xfrm>
                <a:off x="2163942" y="2306932"/>
                <a:ext cx="741957" cy="720135"/>
                <a:chOff x="1389063" y="3748088"/>
                <a:chExt cx="336550" cy="336550"/>
              </a:xfrm>
              <a:solidFill>
                <a:srgbClr val="30353F"/>
              </a:solidFill>
            </p:grpSpPr>
            <p:sp>
              <p:nvSpPr>
                <p:cNvPr id="93" name="Freeform 5"/>
                <p:cNvSpPr>
                  <a:spLocks/>
                </p:cNvSpPr>
                <p:nvPr/>
              </p:nvSpPr>
              <p:spPr bwMode="auto">
                <a:xfrm>
                  <a:off x="1547813" y="3787776"/>
                  <a:ext cx="58738" cy="60325"/>
                </a:xfrm>
                <a:custGeom>
                  <a:avLst/>
                  <a:gdLst>
                    <a:gd name="T0" fmla="*/ 300 w 360"/>
                    <a:gd name="T1" fmla="*/ 244 h 364"/>
                    <a:gd name="T2" fmla="*/ 120 w 360"/>
                    <a:gd name="T3" fmla="*/ 244 h 364"/>
                    <a:gd name="T4" fmla="*/ 120 w 360"/>
                    <a:gd name="T5" fmla="*/ 60 h 364"/>
                    <a:gd name="T6" fmla="*/ 60 w 360"/>
                    <a:gd name="T7" fmla="*/ 0 h 364"/>
                    <a:gd name="T8" fmla="*/ 0 w 360"/>
                    <a:gd name="T9" fmla="*/ 60 h 364"/>
                    <a:gd name="T10" fmla="*/ 0 w 360"/>
                    <a:gd name="T11" fmla="*/ 304 h 364"/>
                    <a:gd name="T12" fmla="*/ 60 w 360"/>
                    <a:gd name="T13" fmla="*/ 364 h 364"/>
                    <a:gd name="T14" fmla="*/ 300 w 360"/>
                    <a:gd name="T15" fmla="*/ 364 h 364"/>
                    <a:gd name="T16" fmla="*/ 360 w 360"/>
                    <a:gd name="T17" fmla="*/ 304 h 364"/>
                    <a:gd name="T18" fmla="*/ 300 w 360"/>
                    <a:gd name="T19" fmla="*/ 24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364">
                      <a:moveTo>
                        <a:pt x="300" y="244"/>
                      </a:moveTo>
                      <a:cubicBezTo>
                        <a:pt x="120" y="244"/>
                        <a:pt x="120" y="244"/>
                        <a:pt x="120" y="244"/>
                      </a:cubicBezTo>
                      <a:cubicBezTo>
                        <a:pt x="120" y="60"/>
                        <a:pt x="120" y="60"/>
                        <a:pt x="120" y="60"/>
                      </a:cubicBezTo>
                      <a:cubicBezTo>
                        <a:pt x="120" y="27"/>
                        <a:pt x="93" y="0"/>
                        <a:pt x="60" y="0"/>
                      </a:cubicBezTo>
                      <a:cubicBezTo>
                        <a:pt x="27" y="0"/>
                        <a:pt x="0" y="27"/>
                        <a:pt x="0" y="60"/>
                      </a:cubicBezTo>
                      <a:cubicBezTo>
                        <a:pt x="0" y="304"/>
                        <a:pt x="0" y="304"/>
                        <a:pt x="0" y="304"/>
                      </a:cubicBezTo>
                      <a:cubicBezTo>
                        <a:pt x="0" y="337"/>
                        <a:pt x="27" y="364"/>
                        <a:pt x="60" y="364"/>
                      </a:cubicBezTo>
                      <a:cubicBezTo>
                        <a:pt x="300" y="364"/>
                        <a:pt x="300" y="364"/>
                        <a:pt x="300" y="364"/>
                      </a:cubicBezTo>
                      <a:cubicBezTo>
                        <a:pt x="333" y="364"/>
                        <a:pt x="360" y="337"/>
                        <a:pt x="360" y="304"/>
                      </a:cubicBezTo>
                      <a:cubicBezTo>
                        <a:pt x="360" y="271"/>
                        <a:pt x="333" y="244"/>
                        <a:pt x="300" y="2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6"/>
                <p:cNvSpPr>
                  <a:spLocks noEditPoints="1"/>
                </p:cNvSpPr>
                <p:nvPr/>
              </p:nvSpPr>
              <p:spPr bwMode="auto">
                <a:xfrm>
                  <a:off x="1389063" y="3748088"/>
                  <a:ext cx="336550" cy="336550"/>
                </a:xfrm>
                <a:custGeom>
                  <a:avLst/>
                  <a:gdLst>
                    <a:gd name="T0" fmla="*/ 1808 w 2048"/>
                    <a:gd name="T1" fmla="*/ 1454 h 2048"/>
                    <a:gd name="T2" fmla="*/ 1808 w 2048"/>
                    <a:gd name="T3" fmla="*/ 1388 h 2048"/>
                    <a:gd name="T4" fmla="*/ 1628 w 2048"/>
                    <a:gd name="T5" fmla="*/ 1208 h 2048"/>
                    <a:gd name="T6" fmla="*/ 1084 w 2048"/>
                    <a:gd name="T7" fmla="*/ 1208 h 2048"/>
                    <a:gd name="T8" fmla="*/ 1084 w 2048"/>
                    <a:gd name="T9" fmla="*/ 1085 h 2048"/>
                    <a:gd name="T10" fmla="*/ 1564 w 2048"/>
                    <a:gd name="T11" fmla="*/ 544 h 2048"/>
                    <a:gd name="T12" fmla="*/ 1024 w 2048"/>
                    <a:gd name="T13" fmla="*/ 0 h 2048"/>
                    <a:gd name="T14" fmla="*/ 484 w 2048"/>
                    <a:gd name="T15" fmla="*/ 544 h 2048"/>
                    <a:gd name="T16" fmla="*/ 964 w 2048"/>
                    <a:gd name="T17" fmla="*/ 1085 h 2048"/>
                    <a:gd name="T18" fmla="*/ 964 w 2048"/>
                    <a:gd name="T19" fmla="*/ 1208 h 2048"/>
                    <a:gd name="T20" fmla="*/ 420 w 2048"/>
                    <a:gd name="T21" fmla="*/ 1208 h 2048"/>
                    <a:gd name="T22" fmla="*/ 240 w 2048"/>
                    <a:gd name="T23" fmla="*/ 1388 h 2048"/>
                    <a:gd name="T24" fmla="*/ 240 w 2048"/>
                    <a:gd name="T25" fmla="*/ 1454 h 2048"/>
                    <a:gd name="T26" fmla="*/ 0 w 2048"/>
                    <a:gd name="T27" fmla="*/ 1748 h 2048"/>
                    <a:gd name="T28" fmla="*/ 300 w 2048"/>
                    <a:gd name="T29" fmla="*/ 2048 h 2048"/>
                    <a:gd name="T30" fmla="*/ 600 w 2048"/>
                    <a:gd name="T31" fmla="*/ 1748 h 2048"/>
                    <a:gd name="T32" fmla="*/ 360 w 2048"/>
                    <a:gd name="T33" fmla="*/ 1454 h 2048"/>
                    <a:gd name="T34" fmla="*/ 360 w 2048"/>
                    <a:gd name="T35" fmla="*/ 1388 h 2048"/>
                    <a:gd name="T36" fmla="*/ 420 w 2048"/>
                    <a:gd name="T37" fmla="*/ 1328 h 2048"/>
                    <a:gd name="T38" fmla="*/ 964 w 2048"/>
                    <a:gd name="T39" fmla="*/ 1328 h 2048"/>
                    <a:gd name="T40" fmla="*/ 964 w 2048"/>
                    <a:gd name="T41" fmla="*/ 1454 h 2048"/>
                    <a:gd name="T42" fmla="*/ 724 w 2048"/>
                    <a:gd name="T43" fmla="*/ 1748 h 2048"/>
                    <a:gd name="T44" fmla="*/ 1024 w 2048"/>
                    <a:gd name="T45" fmla="*/ 2048 h 2048"/>
                    <a:gd name="T46" fmla="*/ 1324 w 2048"/>
                    <a:gd name="T47" fmla="*/ 1748 h 2048"/>
                    <a:gd name="T48" fmla="*/ 1084 w 2048"/>
                    <a:gd name="T49" fmla="*/ 1454 h 2048"/>
                    <a:gd name="T50" fmla="*/ 1084 w 2048"/>
                    <a:gd name="T51" fmla="*/ 1328 h 2048"/>
                    <a:gd name="T52" fmla="*/ 1628 w 2048"/>
                    <a:gd name="T53" fmla="*/ 1328 h 2048"/>
                    <a:gd name="T54" fmla="*/ 1688 w 2048"/>
                    <a:gd name="T55" fmla="*/ 1388 h 2048"/>
                    <a:gd name="T56" fmla="*/ 1688 w 2048"/>
                    <a:gd name="T57" fmla="*/ 1454 h 2048"/>
                    <a:gd name="T58" fmla="*/ 1448 w 2048"/>
                    <a:gd name="T59" fmla="*/ 1748 h 2048"/>
                    <a:gd name="T60" fmla="*/ 1748 w 2048"/>
                    <a:gd name="T61" fmla="*/ 2048 h 2048"/>
                    <a:gd name="T62" fmla="*/ 2048 w 2048"/>
                    <a:gd name="T63" fmla="*/ 1748 h 2048"/>
                    <a:gd name="T64" fmla="*/ 1808 w 2048"/>
                    <a:gd name="T65" fmla="*/ 1454 h 2048"/>
                    <a:gd name="T66" fmla="*/ 480 w 2048"/>
                    <a:gd name="T67" fmla="*/ 1748 h 2048"/>
                    <a:gd name="T68" fmla="*/ 300 w 2048"/>
                    <a:gd name="T69" fmla="*/ 1928 h 2048"/>
                    <a:gd name="T70" fmla="*/ 120 w 2048"/>
                    <a:gd name="T71" fmla="*/ 1748 h 2048"/>
                    <a:gd name="T72" fmla="*/ 300 w 2048"/>
                    <a:gd name="T73" fmla="*/ 1568 h 2048"/>
                    <a:gd name="T74" fmla="*/ 480 w 2048"/>
                    <a:gd name="T75" fmla="*/ 1748 h 2048"/>
                    <a:gd name="T76" fmla="*/ 1204 w 2048"/>
                    <a:gd name="T77" fmla="*/ 1748 h 2048"/>
                    <a:gd name="T78" fmla="*/ 1024 w 2048"/>
                    <a:gd name="T79" fmla="*/ 1928 h 2048"/>
                    <a:gd name="T80" fmla="*/ 844 w 2048"/>
                    <a:gd name="T81" fmla="*/ 1748 h 2048"/>
                    <a:gd name="T82" fmla="*/ 1024 w 2048"/>
                    <a:gd name="T83" fmla="*/ 1568 h 2048"/>
                    <a:gd name="T84" fmla="*/ 1204 w 2048"/>
                    <a:gd name="T85" fmla="*/ 1748 h 2048"/>
                    <a:gd name="T86" fmla="*/ 1024 w 2048"/>
                    <a:gd name="T87" fmla="*/ 968 h 2048"/>
                    <a:gd name="T88" fmla="*/ 604 w 2048"/>
                    <a:gd name="T89" fmla="*/ 544 h 2048"/>
                    <a:gd name="T90" fmla="*/ 1024 w 2048"/>
                    <a:gd name="T91" fmla="*/ 120 h 2048"/>
                    <a:gd name="T92" fmla="*/ 1444 w 2048"/>
                    <a:gd name="T93" fmla="*/ 544 h 2048"/>
                    <a:gd name="T94" fmla="*/ 1024 w 2048"/>
                    <a:gd name="T95" fmla="*/ 968 h 2048"/>
                    <a:gd name="T96" fmla="*/ 1748 w 2048"/>
                    <a:gd name="T97" fmla="*/ 1928 h 2048"/>
                    <a:gd name="T98" fmla="*/ 1568 w 2048"/>
                    <a:gd name="T99" fmla="*/ 1748 h 2048"/>
                    <a:gd name="T100" fmla="*/ 1748 w 2048"/>
                    <a:gd name="T101" fmla="*/ 1568 h 2048"/>
                    <a:gd name="T102" fmla="*/ 1928 w 2048"/>
                    <a:gd name="T103" fmla="*/ 1748 h 2048"/>
                    <a:gd name="T104" fmla="*/ 1748 w 2048"/>
                    <a:gd name="T105" fmla="*/ 192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48" h="2048">
                      <a:moveTo>
                        <a:pt x="1808" y="1454"/>
                      </a:moveTo>
                      <a:cubicBezTo>
                        <a:pt x="1808" y="1388"/>
                        <a:pt x="1808" y="1388"/>
                        <a:pt x="1808" y="1388"/>
                      </a:cubicBezTo>
                      <a:cubicBezTo>
                        <a:pt x="1808" y="1289"/>
                        <a:pt x="1727" y="1208"/>
                        <a:pt x="1628" y="1208"/>
                      </a:cubicBezTo>
                      <a:cubicBezTo>
                        <a:pt x="1084" y="1208"/>
                        <a:pt x="1084" y="1208"/>
                        <a:pt x="1084" y="1208"/>
                      </a:cubicBezTo>
                      <a:cubicBezTo>
                        <a:pt x="1084" y="1085"/>
                        <a:pt x="1084" y="1085"/>
                        <a:pt x="1084" y="1085"/>
                      </a:cubicBezTo>
                      <a:cubicBezTo>
                        <a:pt x="1354" y="1054"/>
                        <a:pt x="1564" y="824"/>
                        <a:pt x="1564" y="544"/>
                      </a:cubicBezTo>
                      <a:cubicBezTo>
                        <a:pt x="1564" y="244"/>
                        <a:pt x="1322" y="0"/>
                        <a:pt x="1024" y="0"/>
                      </a:cubicBezTo>
                      <a:cubicBezTo>
                        <a:pt x="726" y="0"/>
                        <a:pt x="484" y="244"/>
                        <a:pt x="484" y="544"/>
                      </a:cubicBezTo>
                      <a:cubicBezTo>
                        <a:pt x="484" y="824"/>
                        <a:pt x="694" y="1054"/>
                        <a:pt x="964" y="1085"/>
                      </a:cubicBezTo>
                      <a:cubicBezTo>
                        <a:pt x="964" y="1208"/>
                        <a:pt x="964" y="1208"/>
                        <a:pt x="964" y="1208"/>
                      </a:cubicBezTo>
                      <a:cubicBezTo>
                        <a:pt x="420" y="1208"/>
                        <a:pt x="420" y="1208"/>
                        <a:pt x="420" y="1208"/>
                      </a:cubicBezTo>
                      <a:cubicBezTo>
                        <a:pt x="321" y="1208"/>
                        <a:pt x="240" y="1289"/>
                        <a:pt x="240" y="1388"/>
                      </a:cubicBezTo>
                      <a:cubicBezTo>
                        <a:pt x="240" y="1454"/>
                        <a:pt x="240" y="1454"/>
                        <a:pt x="240" y="1454"/>
                      </a:cubicBezTo>
                      <a:cubicBezTo>
                        <a:pt x="103" y="1482"/>
                        <a:pt x="0" y="1603"/>
                        <a:pt x="0" y="1748"/>
                      </a:cubicBezTo>
                      <a:cubicBezTo>
                        <a:pt x="0" y="1913"/>
                        <a:pt x="135" y="2048"/>
                        <a:pt x="300" y="2048"/>
                      </a:cubicBezTo>
                      <a:cubicBezTo>
                        <a:pt x="465" y="2048"/>
                        <a:pt x="600" y="1913"/>
                        <a:pt x="600" y="1748"/>
                      </a:cubicBezTo>
                      <a:cubicBezTo>
                        <a:pt x="600" y="1603"/>
                        <a:pt x="497" y="1482"/>
                        <a:pt x="360" y="1454"/>
                      </a:cubicBezTo>
                      <a:cubicBezTo>
                        <a:pt x="360" y="1388"/>
                        <a:pt x="360" y="1388"/>
                        <a:pt x="360" y="1388"/>
                      </a:cubicBezTo>
                      <a:cubicBezTo>
                        <a:pt x="360" y="1355"/>
                        <a:pt x="387" y="1328"/>
                        <a:pt x="420" y="1328"/>
                      </a:cubicBezTo>
                      <a:cubicBezTo>
                        <a:pt x="964" y="1328"/>
                        <a:pt x="964" y="1328"/>
                        <a:pt x="964" y="1328"/>
                      </a:cubicBezTo>
                      <a:cubicBezTo>
                        <a:pt x="964" y="1454"/>
                        <a:pt x="964" y="1454"/>
                        <a:pt x="964" y="1454"/>
                      </a:cubicBezTo>
                      <a:cubicBezTo>
                        <a:pt x="827" y="1482"/>
                        <a:pt x="724" y="1603"/>
                        <a:pt x="724" y="1748"/>
                      </a:cubicBezTo>
                      <a:cubicBezTo>
                        <a:pt x="724" y="1913"/>
                        <a:pt x="859" y="2048"/>
                        <a:pt x="1024" y="2048"/>
                      </a:cubicBezTo>
                      <a:cubicBezTo>
                        <a:pt x="1189" y="2048"/>
                        <a:pt x="1324" y="1913"/>
                        <a:pt x="1324" y="1748"/>
                      </a:cubicBezTo>
                      <a:cubicBezTo>
                        <a:pt x="1324" y="1603"/>
                        <a:pt x="1221" y="1482"/>
                        <a:pt x="1084" y="1454"/>
                      </a:cubicBezTo>
                      <a:cubicBezTo>
                        <a:pt x="1084" y="1328"/>
                        <a:pt x="1084" y="1328"/>
                        <a:pt x="1084" y="1328"/>
                      </a:cubicBezTo>
                      <a:cubicBezTo>
                        <a:pt x="1628" y="1328"/>
                        <a:pt x="1628" y="1328"/>
                        <a:pt x="1628" y="1328"/>
                      </a:cubicBezTo>
                      <a:cubicBezTo>
                        <a:pt x="1661" y="1328"/>
                        <a:pt x="1688" y="1355"/>
                        <a:pt x="1688" y="1388"/>
                      </a:cubicBezTo>
                      <a:cubicBezTo>
                        <a:pt x="1688" y="1454"/>
                        <a:pt x="1688" y="1454"/>
                        <a:pt x="1688" y="1454"/>
                      </a:cubicBezTo>
                      <a:cubicBezTo>
                        <a:pt x="1551" y="1482"/>
                        <a:pt x="1448" y="1603"/>
                        <a:pt x="1448" y="1748"/>
                      </a:cubicBezTo>
                      <a:cubicBezTo>
                        <a:pt x="1448" y="1913"/>
                        <a:pt x="1583" y="2048"/>
                        <a:pt x="1748" y="2048"/>
                      </a:cubicBezTo>
                      <a:cubicBezTo>
                        <a:pt x="1913" y="2048"/>
                        <a:pt x="2048" y="1913"/>
                        <a:pt x="2048" y="1748"/>
                      </a:cubicBezTo>
                      <a:cubicBezTo>
                        <a:pt x="2048" y="1603"/>
                        <a:pt x="1945" y="1482"/>
                        <a:pt x="1808" y="1454"/>
                      </a:cubicBezTo>
                      <a:close/>
                      <a:moveTo>
                        <a:pt x="480" y="1748"/>
                      </a:moveTo>
                      <a:cubicBezTo>
                        <a:pt x="480" y="1847"/>
                        <a:pt x="399" y="1928"/>
                        <a:pt x="300" y="1928"/>
                      </a:cubicBezTo>
                      <a:cubicBezTo>
                        <a:pt x="201" y="1928"/>
                        <a:pt x="120" y="1847"/>
                        <a:pt x="120" y="1748"/>
                      </a:cubicBezTo>
                      <a:cubicBezTo>
                        <a:pt x="120" y="1649"/>
                        <a:pt x="201" y="1568"/>
                        <a:pt x="300" y="1568"/>
                      </a:cubicBezTo>
                      <a:cubicBezTo>
                        <a:pt x="399" y="1568"/>
                        <a:pt x="480" y="1649"/>
                        <a:pt x="480" y="1748"/>
                      </a:cubicBezTo>
                      <a:close/>
                      <a:moveTo>
                        <a:pt x="1204" y="1748"/>
                      </a:moveTo>
                      <a:cubicBezTo>
                        <a:pt x="1204" y="1847"/>
                        <a:pt x="1123" y="1928"/>
                        <a:pt x="1024" y="1928"/>
                      </a:cubicBezTo>
                      <a:cubicBezTo>
                        <a:pt x="925" y="1928"/>
                        <a:pt x="844" y="1847"/>
                        <a:pt x="844" y="1748"/>
                      </a:cubicBezTo>
                      <a:cubicBezTo>
                        <a:pt x="844" y="1649"/>
                        <a:pt x="925" y="1568"/>
                        <a:pt x="1024" y="1568"/>
                      </a:cubicBezTo>
                      <a:cubicBezTo>
                        <a:pt x="1123" y="1568"/>
                        <a:pt x="1204" y="1649"/>
                        <a:pt x="1204" y="1748"/>
                      </a:cubicBezTo>
                      <a:close/>
                      <a:moveTo>
                        <a:pt x="1024" y="968"/>
                      </a:moveTo>
                      <a:cubicBezTo>
                        <a:pt x="792" y="968"/>
                        <a:pt x="604" y="778"/>
                        <a:pt x="604" y="544"/>
                      </a:cubicBezTo>
                      <a:cubicBezTo>
                        <a:pt x="604" y="310"/>
                        <a:pt x="792" y="120"/>
                        <a:pt x="1024" y="120"/>
                      </a:cubicBezTo>
                      <a:cubicBezTo>
                        <a:pt x="1256" y="120"/>
                        <a:pt x="1444" y="310"/>
                        <a:pt x="1444" y="544"/>
                      </a:cubicBezTo>
                      <a:cubicBezTo>
                        <a:pt x="1444" y="778"/>
                        <a:pt x="1256" y="968"/>
                        <a:pt x="1024" y="968"/>
                      </a:cubicBezTo>
                      <a:close/>
                      <a:moveTo>
                        <a:pt x="1748" y="1928"/>
                      </a:moveTo>
                      <a:cubicBezTo>
                        <a:pt x="1649" y="1928"/>
                        <a:pt x="1568" y="1847"/>
                        <a:pt x="1568" y="1748"/>
                      </a:cubicBezTo>
                      <a:cubicBezTo>
                        <a:pt x="1568" y="1649"/>
                        <a:pt x="1649" y="1568"/>
                        <a:pt x="1748" y="1568"/>
                      </a:cubicBezTo>
                      <a:cubicBezTo>
                        <a:pt x="1847" y="1568"/>
                        <a:pt x="1928" y="1649"/>
                        <a:pt x="1928" y="1748"/>
                      </a:cubicBezTo>
                      <a:cubicBezTo>
                        <a:pt x="1928" y="1847"/>
                        <a:pt x="1847" y="1928"/>
                        <a:pt x="1748" y="19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sp>
        <p:nvSpPr>
          <p:cNvPr id="124" name="TextBox 123"/>
          <p:cNvSpPr txBox="1"/>
          <p:nvPr/>
        </p:nvSpPr>
        <p:spPr>
          <a:xfrm>
            <a:off x="1067004" y="3723437"/>
            <a:ext cx="2154636" cy="1723549"/>
          </a:xfrm>
          <a:prstGeom prst="rect">
            <a:avLst/>
          </a:prstGeom>
          <a:noFill/>
        </p:spPr>
        <p:txBody>
          <a:bodyPr wrap="square" lIns="0" tIns="0" rIns="0" bIns="0" rtlCol="0">
            <a:spAutoFit/>
          </a:bodyPr>
          <a:lstStyle/>
          <a:p>
            <a:pPr algn="ctr"/>
            <a:r>
              <a:rPr lang="en-US" sz="1600" dirty="0">
                <a:solidFill>
                  <a:srgbClr val="30353F"/>
                </a:solidFill>
              </a:rPr>
              <a:t>Jobs reviewed per hour </a:t>
            </a:r>
          </a:p>
          <a:p>
            <a:pPr algn="ctr"/>
            <a:r>
              <a:rPr lang="en-US" sz="1600" dirty="0">
                <a:solidFill>
                  <a:srgbClr val="30353F"/>
                </a:solidFill>
              </a:rPr>
              <a:t>is 126 hours.</a:t>
            </a:r>
          </a:p>
          <a:p>
            <a:pPr algn="ctr"/>
            <a:r>
              <a:rPr lang="en-US" sz="1600" dirty="0">
                <a:solidFill>
                  <a:srgbClr val="30353F"/>
                </a:solidFill>
              </a:rPr>
              <a:t>7-day rolling average</a:t>
            </a:r>
          </a:p>
          <a:p>
            <a:pPr algn="ctr"/>
            <a:r>
              <a:rPr lang="en-US" sz="1600" dirty="0">
                <a:solidFill>
                  <a:srgbClr val="30353F"/>
                </a:solidFill>
              </a:rPr>
              <a:t>Was 0.03 events per </a:t>
            </a:r>
          </a:p>
          <a:p>
            <a:pPr algn="ctr"/>
            <a:r>
              <a:rPr lang="en-US" sz="1600" dirty="0">
                <a:solidFill>
                  <a:srgbClr val="30353F"/>
                </a:solidFill>
              </a:rPr>
              <a:t>second.</a:t>
            </a:r>
          </a:p>
          <a:p>
            <a:pPr algn="ctr"/>
            <a:endParaRPr lang="en-US" sz="1600" dirty="0">
              <a:solidFill>
                <a:srgbClr val="30353F"/>
              </a:solidFill>
            </a:endParaRPr>
          </a:p>
          <a:p>
            <a:pPr algn="ctr"/>
            <a:endParaRPr lang="en-US" sz="1600" dirty="0">
              <a:solidFill>
                <a:srgbClr val="30353F"/>
              </a:solidFill>
            </a:endParaRPr>
          </a:p>
        </p:txBody>
      </p:sp>
      <p:sp>
        <p:nvSpPr>
          <p:cNvPr id="145" name="Rectangle 144">
            <a:extLst>
              <a:ext uri="{C183D7F6-B498-43B3-948B-1728B52AA6E4}">
                <adec:decorative xmlns:adec="http://schemas.microsoft.com/office/drawing/2017/decorative" val="1"/>
              </a:ext>
            </a:extLst>
          </p:cNvPr>
          <p:cNvSpPr/>
          <p:nvPr/>
        </p:nvSpPr>
        <p:spPr>
          <a:xfrm>
            <a:off x="8957488" y="2547286"/>
            <a:ext cx="2180381" cy="3447372"/>
          </a:xfrm>
          <a:prstGeom prst="rect">
            <a:avLst/>
          </a:prstGeom>
          <a:gradFill flip="none" rotWithShape="1">
            <a:gsLst>
              <a:gs pos="100000">
                <a:srgbClr val="BABABA">
                  <a:alpha val="0"/>
                </a:srgbClr>
              </a:gs>
              <a:gs pos="0">
                <a:srgbClr val="BABABA"/>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C183D7F6-B498-43B3-948B-1728B52AA6E4}">
                <adec:decorative xmlns:adec="http://schemas.microsoft.com/office/drawing/2017/decorative" val="1"/>
              </a:ext>
            </a:extLst>
          </p:cNvPr>
          <p:cNvGrpSpPr/>
          <p:nvPr/>
        </p:nvGrpSpPr>
        <p:grpSpPr>
          <a:xfrm>
            <a:off x="8207524" y="1257300"/>
            <a:ext cx="3680308" cy="2453538"/>
            <a:chOff x="8149543" y="1192972"/>
            <a:chExt cx="4062503" cy="2708336"/>
          </a:xfrm>
        </p:grpSpPr>
        <p:sp>
          <p:nvSpPr>
            <p:cNvPr id="146" name="Oval 145"/>
            <p:cNvSpPr/>
            <p:nvPr/>
          </p:nvSpPr>
          <p:spPr>
            <a:xfrm>
              <a:off x="9386960" y="1753306"/>
              <a:ext cx="1587668" cy="15876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4" name="Group 53"/>
            <p:cNvGrpSpPr/>
            <p:nvPr/>
          </p:nvGrpSpPr>
          <p:grpSpPr>
            <a:xfrm>
              <a:off x="8149543" y="1192972"/>
              <a:ext cx="4062503" cy="2708336"/>
              <a:chOff x="7701376" y="1492374"/>
              <a:chExt cx="3419288" cy="2279526"/>
            </a:xfrm>
          </p:grpSpPr>
          <p:graphicFrame>
            <p:nvGraphicFramePr>
              <p:cNvPr id="115" name="Chart 114"/>
              <p:cNvGraphicFramePr/>
              <p:nvPr>
                <p:extLst>
                  <p:ext uri="{D42A27DB-BD31-4B8C-83A1-F6EECF244321}">
                    <p14:modId xmlns:p14="http://schemas.microsoft.com/office/powerpoint/2010/main" val="2562691546"/>
                  </p:ext>
                </p:extLst>
              </p:nvPr>
            </p:nvGraphicFramePr>
            <p:xfrm>
              <a:off x="7701376" y="1492374"/>
              <a:ext cx="3419288" cy="2279526"/>
            </p:xfrm>
            <a:graphic>
              <a:graphicData uri="http://schemas.openxmlformats.org/drawingml/2006/chart">
                <c:chart xmlns:c="http://schemas.openxmlformats.org/drawingml/2006/chart" xmlns:r="http://schemas.openxmlformats.org/officeDocument/2006/relationships" r:id="rId4"/>
              </a:graphicData>
            </a:graphic>
          </p:graphicFrame>
          <p:sp>
            <p:nvSpPr>
              <p:cNvPr id="140" name="Freeform 34"/>
              <p:cNvSpPr>
                <a:spLocks noEditPoints="1"/>
              </p:cNvSpPr>
              <p:nvPr/>
            </p:nvSpPr>
            <p:spPr bwMode="auto">
              <a:xfrm>
                <a:off x="9041442" y="2272070"/>
                <a:ext cx="739156" cy="720135"/>
              </a:xfrm>
              <a:custGeom>
                <a:avLst/>
                <a:gdLst>
                  <a:gd name="T0" fmla="*/ 1924 w 2048"/>
                  <a:gd name="T1" fmla="*/ 300 h 2048"/>
                  <a:gd name="T2" fmla="*/ 1324 w 2048"/>
                  <a:gd name="T3" fmla="*/ 300 h 2048"/>
                  <a:gd name="T4" fmla="*/ 1024 w 2048"/>
                  <a:gd name="T5" fmla="*/ 240 h 2048"/>
                  <a:gd name="T6" fmla="*/ 720 w 2048"/>
                  <a:gd name="T7" fmla="*/ 300 h 2048"/>
                  <a:gd name="T8" fmla="*/ 120 w 2048"/>
                  <a:gd name="T9" fmla="*/ 300 h 2048"/>
                  <a:gd name="T10" fmla="*/ 0 w 2048"/>
                  <a:gd name="T11" fmla="*/ 900 h 2048"/>
                  <a:gd name="T12" fmla="*/ 242 w 2048"/>
                  <a:gd name="T13" fmla="*/ 960 h 2048"/>
                  <a:gd name="T14" fmla="*/ 689 w 2048"/>
                  <a:gd name="T15" fmla="*/ 1730 h 2048"/>
                  <a:gd name="T16" fmla="*/ 660 w 2048"/>
                  <a:gd name="T17" fmla="*/ 2048 h 2048"/>
                  <a:gd name="T18" fmla="*/ 1444 w 2048"/>
                  <a:gd name="T19" fmla="*/ 1988 h 2048"/>
                  <a:gd name="T20" fmla="*/ 1804 w 2048"/>
                  <a:gd name="T21" fmla="*/ 1020 h 2048"/>
                  <a:gd name="T22" fmla="*/ 1988 w 2048"/>
                  <a:gd name="T23" fmla="*/ 960 h 2048"/>
                  <a:gd name="T24" fmla="*/ 1819 w 2048"/>
                  <a:gd name="T25" fmla="*/ 527 h 2048"/>
                  <a:gd name="T26" fmla="*/ 1804 w 2048"/>
                  <a:gd name="T27" fmla="*/ 300 h 2048"/>
                  <a:gd name="T28" fmla="*/ 1444 w 2048"/>
                  <a:gd name="T29" fmla="*/ 300 h 2048"/>
                  <a:gd name="T30" fmla="*/ 420 w 2048"/>
                  <a:gd name="T31" fmla="*/ 120 h 2048"/>
                  <a:gd name="T32" fmla="*/ 420 w 2048"/>
                  <a:gd name="T33" fmla="*/ 480 h 2048"/>
                  <a:gd name="T34" fmla="*/ 420 w 2048"/>
                  <a:gd name="T35" fmla="*/ 120 h 2048"/>
                  <a:gd name="T36" fmla="*/ 420 w 2048"/>
                  <a:gd name="T37" fmla="*/ 600 h 2048"/>
                  <a:gd name="T38" fmla="*/ 126 w 2048"/>
                  <a:gd name="T39" fmla="*/ 840 h 2048"/>
                  <a:gd name="T40" fmla="*/ 1024 w 2048"/>
                  <a:gd name="T41" fmla="*/ 1684 h 2048"/>
                  <a:gd name="T42" fmla="*/ 726 w 2048"/>
                  <a:gd name="T43" fmla="*/ 1928 h 2048"/>
                  <a:gd name="T44" fmla="*/ 1024 w 2048"/>
                  <a:gd name="T45" fmla="*/ 1204 h 2048"/>
                  <a:gd name="T46" fmla="*/ 1024 w 2048"/>
                  <a:gd name="T47" fmla="*/ 1564 h 2048"/>
                  <a:gd name="T48" fmla="*/ 1263 w 2048"/>
                  <a:gd name="T49" fmla="*/ 1639 h 2048"/>
                  <a:gd name="T50" fmla="*/ 1324 w 2048"/>
                  <a:gd name="T51" fmla="*/ 1384 h 2048"/>
                  <a:gd name="T52" fmla="*/ 720 w 2048"/>
                  <a:gd name="T53" fmla="*/ 1384 h 2048"/>
                  <a:gd name="T54" fmla="*/ 828 w 2048"/>
                  <a:gd name="T55" fmla="*/ 1613 h 2048"/>
                  <a:gd name="T56" fmla="*/ 360 w 2048"/>
                  <a:gd name="T57" fmla="*/ 1020 h 2048"/>
                  <a:gd name="T58" fmla="*/ 780 w 2048"/>
                  <a:gd name="T59" fmla="*/ 960 h 2048"/>
                  <a:gd name="T60" fmla="*/ 615 w 2048"/>
                  <a:gd name="T61" fmla="*/ 528 h 2048"/>
                  <a:gd name="T62" fmla="*/ 1024 w 2048"/>
                  <a:gd name="T63" fmla="*/ 360 h 2048"/>
                  <a:gd name="T64" fmla="*/ 1429 w 2048"/>
                  <a:gd name="T65" fmla="*/ 528 h 2048"/>
                  <a:gd name="T66" fmla="*/ 1264 w 2048"/>
                  <a:gd name="T67" fmla="*/ 960 h 2048"/>
                  <a:gd name="T68" fmla="*/ 1684 w 2048"/>
                  <a:gd name="T69" fmla="*/ 1020 h 2048"/>
                  <a:gd name="T70" fmla="*/ 1330 w 2048"/>
                  <a:gd name="T71" fmla="*/ 840 h 2048"/>
                  <a:gd name="T72" fmla="*/ 1922 w 2048"/>
                  <a:gd name="T73" fmla="*/ 8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8" h="2048">
                    <a:moveTo>
                      <a:pt x="1819" y="527"/>
                    </a:moveTo>
                    <a:cubicBezTo>
                      <a:pt x="1883" y="472"/>
                      <a:pt x="1924" y="391"/>
                      <a:pt x="1924" y="300"/>
                    </a:cubicBezTo>
                    <a:cubicBezTo>
                      <a:pt x="1924" y="135"/>
                      <a:pt x="1789" y="0"/>
                      <a:pt x="1624" y="0"/>
                    </a:cubicBezTo>
                    <a:cubicBezTo>
                      <a:pt x="1459" y="0"/>
                      <a:pt x="1324" y="135"/>
                      <a:pt x="1324" y="300"/>
                    </a:cubicBezTo>
                    <a:cubicBezTo>
                      <a:pt x="1324" y="300"/>
                      <a:pt x="1324" y="300"/>
                      <a:pt x="1324" y="300"/>
                    </a:cubicBezTo>
                    <a:cubicBezTo>
                      <a:pt x="1229" y="261"/>
                      <a:pt x="1128" y="240"/>
                      <a:pt x="1024" y="240"/>
                    </a:cubicBezTo>
                    <a:cubicBezTo>
                      <a:pt x="920" y="240"/>
                      <a:pt x="816" y="261"/>
                      <a:pt x="720" y="301"/>
                    </a:cubicBezTo>
                    <a:cubicBezTo>
                      <a:pt x="720" y="300"/>
                      <a:pt x="720" y="300"/>
                      <a:pt x="720" y="300"/>
                    </a:cubicBezTo>
                    <a:cubicBezTo>
                      <a:pt x="720" y="135"/>
                      <a:pt x="585" y="0"/>
                      <a:pt x="420" y="0"/>
                    </a:cubicBezTo>
                    <a:cubicBezTo>
                      <a:pt x="255" y="0"/>
                      <a:pt x="120" y="135"/>
                      <a:pt x="120" y="300"/>
                    </a:cubicBezTo>
                    <a:cubicBezTo>
                      <a:pt x="120" y="391"/>
                      <a:pt x="161" y="473"/>
                      <a:pt x="225" y="528"/>
                    </a:cubicBezTo>
                    <a:cubicBezTo>
                      <a:pt x="91" y="598"/>
                      <a:pt x="0" y="739"/>
                      <a:pt x="0" y="900"/>
                    </a:cubicBezTo>
                    <a:cubicBezTo>
                      <a:pt x="0" y="933"/>
                      <a:pt x="27" y="960"/>
                      <a:pt x="60" y="960"/>
                    </a:cubicBezTo>
                    <a:cubicBezTo>
                      <a:pt x="242" y="960"/>
                      <a:pt x="242" y="960"/>
                      <a:pt x="242" y="960"/>
                    </a:cubicBezTo>
                    <a:cubicBezTo>
                      <a:pt x="241" y="980"/>
                      <a:pt x="240" y="1000"/>
                      <a:pt x="240" y="1020"/>
                    </a:cubicBezTo>
                    <a:cubicBezTo>
                      <a:pt x="240" y="1337"/>
                      <a:pt x="429" y="1608"/>
                      <a:pt x="689" y="1730"/>
                    </a:cubicBezTo>
                    <a:cubicBezTo>
                      <a:pt x="631" y="1804"/>
                      <a:pt x="600" y="1894"/>
                      <a:pt x="600" y="1988"/>
                    </a:cubicBezTo>
                    <a:cubicBezTo>
                      <a:pt x="600" y="2021"/>
                      <a:pt x="627" y="2048"/>
                      <a:pt x="660" y="2048"/>
                    </a:cubicBezTo>
                    <a:cubicBezTo>
                      <a:pt x="1384" y="2048"/>
                      <a:pt x="1384" y="2048"/>
                      <a:pt x="1384" y="2048"/>
                    </a:cubicBezTo>
                    <a:cubicBezTo>
                      <a:pt x="1417" y="2048"/>
                      <a:pt x="1444" y="2021"/>
                      <a:pt x="1444" y="1988"/>
                    </a:cubicBezTo>
                    <a:cubicBezTo>
                      <a:pt x="1444" y="1891"/>
                      <a:pt x="1411" y="1801"/>
                      <a:pt x="1357" y="1729"/>
                    </a:cubicBezTo>
                    <a:cubicBezTo>
                      <a:pt x="1619" y="1605"/>
                      <a:pt x="1804" y="1333"/>
                      <a:pt x="1804" y="1020"/>
                    </a:cubicBezTo>
                    <a:cubicBezTo>
                      <a:pt x="1804" y="1000"/>
                      <a:pt x="1803" y="980"/>
                      <a:pt x="1802" y="960"/>
                    </a:cubicBezTo>
                    <a:cubicBezTo>
                      <a:pt x="1988" y="960"/>
                      <a:pt x="1988" y="960"/>
                      <a:pt x="1988" y="960"/>
                    </a:cubicBezTo>
                    <a:cubicBezTo>
                      <a:pt x="2021" y="960"/>
                      <a:pt x="2048" y="933"/>
                      <a:pt x="2048" y="900"/>
                    </a:cubicBezTo>
                    <a:cubicBezTo>
                      <a:pt x="2048" y="738"/>
                      <a:pt x="1955" y="597"/>
                      <a:pt x="1819" y="527"/>
                    </a:cubicBezTo>
                    <a:close/>
                    <a:moveTo>
                      <a:pt x="1624" y="120"/>
                    </a:moveTo>
                    <a:cubicBezTo>
                      <a:pt x="1723" y="120"/>
                      <a:pt x="1804" y="201"/>
                      <a:pt x="1804" y="300"/>
                    </a:cubicBezTo>
                    <a:cubicBezTo>
                      <a:pt x="1804" y="399"/>
                      <a:pt x="1723" y="480"/>
                      <a:pt x="1624" y="480"/>
                    </a:cubicBezTo>
                    <a:cubicBezTo>
                      <a:pt x="1525" y="480"/>
                      <a:pt x="1444" y="399"/>
                      <a:pt x="1444" y="300"/>
                    </a:cubicBezTo>
                    <a:cubicBezTo>
                      <a:pt x="1444" y="201"/>
                      <a:pt x="1525" y="120"/>
                      <a:pt x="1624" y="120"/>
                    </a:cubicBezTo>
                    <a:close/>
                    <a:moveTo>
                      <a:pt x="420" y="120"/>
                    </a:moveTo>
                    <a:cubicBezTo>
                      <a:pt x="519" y="120"/>
                      <a:pt x="600" y="201"/>
                      <a:pt x="600" y="300"/>
                    </a:cubicBezTo>
                    <a:cubicBezTo>
                      <a:pt x="600" y="399"/>
                      <a:pt x="519" y="480"/>
                      <a:pt x="420" y="480"/>
                    </a:cubicBezTo>
                    <a:cubicBezTo>
                      <a:pt x="321" y="480"/>
                      <a:pt x="240" y="399"/>
                      <a:pt x="240" y="300"/>
                    </a:cubicBezTo>
                    <a:cubicBezTo>
                      <a:pt x="240" y="201"/>
                      <a:pt x="321" y="120"/>
                      <a:pt x="420" y="120"/>
                    </a:cubicBezTo>
                    <a:close/>
                    <a:moveTo>
                      <a:pt x="126" y="840"/>
                    </a:moveTo>
                    <a:cubicBezTo>
                      <a:pt x="154" y="703"/>
                      <a:pt x="275" y="600"/>
                      <a:pt x="420" y="600"/>
                    </a:cubicBezTo>
                    <a:cubicBezTo>
                      <a:pt x="565" y="600"/>
                      <a:pt x="686" y="703"/>
                      <a:pt x="714" y="840"/>
                    </a:cubicBezTo>
                    <a:lnTo>
                      <a:pt x="126" y="840"/>
                    </a:lnTo>
                    <a:close/>
                    <a:moveTo>
                      <a:pt x="726" y="1928"/>
                    </a:moveTo>
                    <a:cubicBezTo>
                      <a:pt x="755" y="1791"/>
                      <a:pt x="880" y="1684"/>
                      <a:pt x="1024" y="1684"/>
                    </a:cubicBezTo>
                    <a:cubicBezTo>
                      <a:pt x="1169" y="1684"/>
                      <a:pt x="1291" y="1789"/>
                      <a:pt x="1318" y="1928"/>
                    </a:cubicBezTo>
                    <a:lnTo>
                      <a:pt x="726" y="1928"/>
                    </a:lnTo>
                    <a:close/>
                    <a:moveTo>
                      <a:pt x="840" y="1384"/>
                    </a:moveTo>
                    <a:cubicBezTo>
                      <a:pt x="840" y="1286"/>
                      <a:pt x="924" y="1204"/>
                      <a:pt x="1024" y="1204"/>
                    </a:cubicBezTo>
                    <a:cubicBezTo>
                      <a:pt x="1123" y="1204"/>
                      <a:pt x="1204" y="1285"/>
                      <a:pt x="1204" y="1384"/>
                    </a:cubicBezTo>
                    <a:cubicBezTo>
                      <a:pt x="1204" y="1483"/>
                      <a:pt x="1123" y="1564"/>
                      <a:pt x="1024" y="1564"/>
                    </a:cubicBezTo>
                    <a:cubicBezTo>
                      <a:pt x="924" y="1564"/>
                      <a:pt x="840" y="1482"/>
                      <a:pt x="840" y="1384"/>
                    </a:cubicBezTo>
                    <a:close/>
                    <a:moveTo>
                      <a:pt x="1263" y="1639"/>
                    </a:moveTo>
                    <a:cubicBezTo>
                      <a:pt x="1249" y="1629"/>
                      <a:pt x="1234" y="1620"/>
                      <a:pt x="1218" y="1612"/>
                    </a:cubicBezTo>
                    <a:cubicBezTo>
                      <a:pt x="1283" y="1557"/>
                      <a:pt x="1324" y="1475"/>
                      <a:pt x="1324" y="1384"/>
                    </a:cubicBezTo>
                    <a:cubicBezTo>
                      <a:pt x="1324" y="1219"/>
                      <a:pt x="1189" y="1084"/>
                      <a:pt x="1024" y="1084"/>
                    </a:cubicBezTo>
                    <a:cubicBezTo>
                      <a:pt x="858" y="1084"/>
                      <a:pt x="720" y="1218"/>
                      <a:pt x="720" y="1384"/>
                    </a:cubicBezTo>
                    <a:cubicBezTo>
                      <a:pt x="720" y="1464"/>
                      <a:pt x="752" y="1540"/>
                      <a:pt x="810" y="1597"/>
                    </a:cubicBezTo>
                    <a:cubicBezTo>
                      <a:pt x="816" y="1602"/>
                      <a:pt x="822" y="1608"/>
                      <a:pt x="828" y="1613"/>
                    </a:cubicBezTo>
                    <a:cubicBezTo>
                      <a:pt x="813" y="1621"/>
                      <a:pt x="798" y="1630"/>
                      <a:pt x="783" y="1640"/>
                    </a:cubicBezTo>
                    <a:cubicBezTo>
                      <a:pt x="529" y="1542"/>
                      <a:pt x="360" y="1296"/>
                      <a:pt x="360" y="1020"/>
                    </a:cubicBezTo>
                    <a:cubicBezTo>
                      <a:pt x="360" y="1000"/>
                      <a:pt x="361" y="980"/>
                      <a:pt x="363" y="960"/>
                    </a:cubicBezTo>
                    <a:cubicBezTo>
                      <a:pt x="780" y="960"/>
                      <a:pt x="780" y="960"/>
                      <a:pt x="780" y="960"/>
                    </a:cubicBezTo>
                    <a:cubicBezTo>
                      <a:pt x="813" y="960"/>
                      <a:pt x="840" y="933"/>
                      <a:pt x="840" y="900"/>
                    </a:cubicBezTo>
                    <a:cubicBezTo>
                      <a:pt x="840" y="739"/>
                      <a:pt x="749" y="598"/>
                      <a:pt x="615" y="528"/>
                    </a:cubicBezTo>
                    <a:cubicBezTo>
                      <a:pt x="638" y="508"/>
                      <a:pt x="659" y="484"/>
                      <a:pt x="675" y="458"/>
                    </a:cubicBezTo>
                    <a:cubicBezTo>
                      <a:pt x="778" y="395"/>
                      <a:pt x="901" y="360"/>
                      <a:pt x="1024" y="360"/>
                    </a:cubicBezTo>
                    <a:cubicBezTo>
                      <a:pt x="1146" y="360"/>
                      <a:pt x="1265" y="394"/>
                      <a:pt x="1369" y="458"/>
                    </a:cubicBezTo>
                    <a:cubicBezTo>
                      <a:pt x="1385" y="484"/>
                      <a:pt x="1406" y="508"/>
                      <a:pt x="1429" y="528"/>
                    </a:cubicBezTo>
                    <a:cubicBezTo>
                      <a:pt x="1295" y="598"/>
                      <a:pt x="1204" y="739"/>
                      <a:pt x="1204" y="900"/>
                    </a:cubicBezTo>
                    <a:cubicBezTo>
                      <a:pt x="1204" y="933"/>
                      <a:pt x="1231" y="960"/>
                      <a:pt x="1264" y="960"/>
                    </a:cubicBezTo>
                    <a:cubicBezTo>
                      <a:pt x="1681" y="960"/>
                      <a:pt x="1681" y="960"/>
                      <a:pt x="1681" y="960"/>
                    </a:cubicBezTo>
                    <a:cubicBezTo>
                      <a:pt x="1683" y="980"/>
                      <a:pt x="1684" y="1000"/>
                      <a:pt x="1684" y="1020"/>
                    </a:cubicBezTo>
                    <a:cubicBezTo>
                      <a:pt x="1684" y="1296"/>
                      <a:pt x="1516" y="1541"/>
                      <a:pt x="1263" y="1639"/>
                    </a:cubicBezTo>
                    <a:close/>
                    <a:moveTo>
                      <a:pt x="1330" y="840"/>
                    </a:moveTo>
                    <a:cubicBezTo>
                      <a:pt x="1358" y="703"/>
                      <a:pt x="1479" y="600"/>
                      <a:pt x="1624" y="600"/>
                    </a:cubicBezTo>
                    <a:cubicBezTo>
                      <a:pt x="1771" y="600"/>
                      <a:pt x="1894" y="703"/>
                      <a:pt x="1922" y="840"/>
                    </a:cubicBezTo>
                    <a:lnTo>
                      <a:pt x="1330" y="840"/>
                    </a:lnTo>
                    <a:close/>
                  </a:path>
                </a:pathLst>
              </a:custGeom>
              <a:solidFill>
                <a:srgbClr val="BABABA"/>
              </a:solidFill>
              <a:ln>
                <a:noFill/>
              </a:ln>
            </p:spPr>
            <p:txBody>
              <a:bodyPr vert="horz" wrap="square" lIns="91440" tIns="45720" rIns="91440" bIns="45720" numCol="1" anchor="t" anchorCtr="0" compatLnSpc="1">
                <a:prstTxWarp prst="textNoShape">
                  <a:avLst/>
                </a:prstTxWarp>
              </a:bodyPr>
              <a:lstStyle/>
              <a:p>
                <a:endParaRPr lang="en-US" dirty="0"/>
              </a:p>
            </p:txBody>
          </p:sp>
        </p:grpSp>
      </p:grpSp>
      <p:sp>
        <p:nvSpPr>
          <p:cNvPr id="126" name="TextBox 125"/>
          <p:cNvSpPr txBox="1"/>
          <p:nvPr/>
        </p:nvSpPr>
        <p:spPr>
          <a:xfrm>
            <a:off x="8970360" y="3721965"/>
            <a:ext cx="2154637" cy="2215991"/>
          </a:xfrm>
          <a:prstGeom prst="rect">
            <a:avLst/>
          </a:prstGeom>
          <a:noFill/>
        </p:spPr>
        <p:txBody>
          <a:bodyPr wrap="square" lIns="0" tIns="0" rIns="0" bIns="0" rtlCol="0">
            <a:spAutoFit/>
          </a:bodyPr>
          <a:lstStyle>
            <a:defPPr>
              <a:defRPr lang="en-US"/>
            </a:defPPr>
            <a:lvl1pPr algn="ctr">
              <a:defRPr sz="1600">
                <a:solidFill>
                  <a:schemeClr val="bg1"/>
                </a:solidFill>
              </a:defRPr>
            </a:lvl1pPr>
          </a:lstStyle>
          <a:p>
            <a:r>
              <a:rPr lang="en-US" dirty="0">
                <a:solidFill>
                  <a:srgbClr val="30353F"/>
                </a:solidFill>
              </a:rPr>
              <a:t>Persian was the most highly used language</a:t>
            </a:r>
          </a:p>
          <a:p>
            <a:r>
              <a:rPr lang="en-US" dirty="0">
                <a:solidFill>
                  <a:srgbClr val="30353F"/>
                </a:solidFill>
              </a:rPr>
              <a:t>Within the list of </a:t>
            </a:r>
          </a:p>
          <a:p>
            <a:r>
              <a:rPr lang="en-US" dirty="0">
                <a:solidFill>
                  <a:srgbClr val="30353F"/>
                </a:solidFill>
              </a:rPr>
              <a:t>Persons. All other languages had a use percentage of 12.5 % while</a:t>
            </a:r>
          </a:p>
          <a:p>
            <a:r>
              <a:rPr lang="en-US" dirty="0">
                <a:solidFill>
                  <a:srgbClr val="30353F"/>
                </a:solidFill>
              </a:rPr>
              <a:t>Persian usage was </a:t>
            </a:r>
          </a:p>
          <a:p>
            <a:r>
              <a:rPr lang="en-US" dirty="0">
                <a:solidFill>
                  <a:srgbClr val="30353F"/>
                </a:solidFill>
              </a:rPr>
              <a:t>37.5 %</a:t>
            </a:r>
          </a:p>
        </p:txBody>
      </p:sp>
      <p:sp>
        <p:nvSpPr>
          <p:cNvPr id="35" name="TextBox 34">
            <a:extLst>
              <a:ext uri="{FF2B5EF4-FFF2-40B4-BE49-F238E27FC236}">
                <a16:creationId xmlns:a16="http://schemas.microsoft.com/office/drawing/2014/main" id="{0D497812-EAA0-46B1-8255-6A78E8C11B36}"/>
              </a:ext>
            </a:extLst>
          </p:cNvPr>
          <p:cNvSpPr txBox="1"/>
          <p:nvPr/>
        </p:nvSpPr>
        <p:spPr>
          <a:xfrm>
            <a:off x="2124565" y="165381"/>
            <a:ext cx="7942880"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DATA DRIVEN INSIGHTS for Case Study 1 </a:t>
            </a:r>
          </a:p>
        </p:txBody>
      </p:sp>
      <p:sp>
        <p:nvSpPr>
          <p:cNvPr id="3" name="Title 2" hidden="1">
            <a:extLst>
              <a:ext uri="{FF2B5EF4-FFF2-40B4-BE49-F238E27FC236}">
                <a16:creationId xmlns:a16="http://schemas.microsoft.com/office/drawing/2014/main" id="{58A8366B-1D42-43D0-87E4-B7BC3F2C1B4C}"/>
              </a:ext>
            </a:extLst>
          </p:cNvPr>
          <p:cNvSpPr>
            <a:spLocks noGrp="1"/>
          </p:cNvSpPr>
          <p:nvPr>
            <p:ph type="title"/>
          </p:nvPr>
        </p:nvSpPr>
        <p:spPr/>
        <p:txBody>
          <a:bodyPr/>
          <a:lstStyle/>
          <a:p>
            <a:r>
              <a:rPr lang="en-US" dirty="0"/>
              <a:t>Slide 5</a:t>
            </a:r>
          </a:p>
        </p:txBody>
      </p:sp>
    </p:spTree>
    <p:extLst>
      <p:ext uri="{BB962C8B-B14F-4D97-AF65-F5344CB8AC3E}">
        <p14:creationId xmlns:p14="http://schemas.microsoft.com/office/powerpoint/2010/main" val="1676837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reeform 42">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4" name="TextBox 43"/>
          <p:cNvSpPr txBox="1"/>
          <p:nvPr/>
        </p:nvSpPr>
        <p:spPr>
          <a:xfrm>
            <a:off x="11901536" y="6465820"/>
            <a:ext cx="373820" cy="307777"/>
          </a:xfrm>
          <a:prstGeom prst="rect">
            <a:avLst/>
          </a:prstGeom>
          <a:noFill/>
        </p:spPr>
        <p:txBody>
          <a:bodyPr wrap="none" rtlCol="0">
            <a:spAutoFit/>
          </a:bodyPr>
          <a:lstStyle/>
          <a:p>
            <a:r>
              <a:rPr lang="en-US" sz="1400" b="1" dirty="0">
                <a:solidFill>
                  <a:schemeClr val="bg1"/>
                </a:solidFill>
              </a:rPr>
              <a:t>43</a:t>
            </a:r>
          </a:p>
        </p:txBody>
      </p:sp>
      <p:grpSp>
        <p:nvGrpSpPr>
          <p:cNvPr id="161" name="Group 160">
            <a:extLst>
              <a:ext uri="{C183D7F6-B498-43B3-948B-1728B52AA6E4}">
                <adec:decorative xmlns:adec="http://schemas.microsoft.com/office/drawing/2017/decorative" val="1"/>
              </a:ext>
            </a:extLst>
          </p:cNvPr>
          <p:cNvGrpSpPr/>
          <p:nvPr/>
        </p:nvGrpSpPr>
        <p:grpSpPr>
          <a:xfrm>
            <a:off x="710070" y="775983"/>
            <a:ext cx="10755184" cy="2659794"/>
            <a:chOff x="851242" y="909911"/>
            <a:chExt cx="10755184" cy="2659794"/>
          </a:xfrm>
        </p:grpSpPr>
        <p:grpSp>
          <p:nvGrpSpPr>
            <p:cNvPr id="156" name="Group 155"/>
            <p:cNvGrpSpPr/>
            <p:nvPr/>
          </p:nvGrpSpPr>
          <p:grpSpPr>
            <a:xfrm>
              <a:off x="851242" y="909911"/>
              <a:ext cx="3352181" cy="2659794"/>
              <a:chOff x="851242" y="909911"/>
              <a:chExt cx="3352181" cy="2659794"/>
            </a:xfrm>
          </p:grpSpPr>
          <p:sp>
            <p:nvSpPr>
              <p:cNvPr id="78" name="Rectangle 77"/>
              <p:cNvSpPr/>
              <p:nvPr/>
            </p:nvSpPr>
            <p:spPr>
              <a:xfrm>
                <a:off x="851242" y="1421474"/>
                <a:ext cx="3352181" cy="2148231"/>
              </a:xfrm>
              <a:prstGeom prst="rect">
                <a:avLst/>
              </a:prstGeom>
              <a:gradFill flip="none" rotWithShape="1">
                <a:gsLst>
                  <a:gs pos="100000">
                    <a:srgbClr val="667181">
                      <a:alpha val="0"/>
                    </a:srgbClr>
                  </a:gs>
                  <a:gs pos="54000">
                    <a:srgbClr val="939CA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TextBox 91"/>
              <p:cNvSpPr txBox="1"/>
              <p:nvPr/>
            </p:nvSpPr>
            <p:spPr>
              <a:xfrm>
                <a:off x="1816573" y="2260175"/>
                <a:ext cx="1385316" cy="615553"/>
              </a:xfrm>
              <a:prstGeom prst="rect">
                <a:avLst/>
              </a:prstGeom>
              <a:noFill/>
            </p:spPr>
            <p:txBody>
              <a:bodyPr wrap="none" lIns="0" tIns="0" rIns="0" bIns="0" rtlCol="0">
                <a:spAutoFit/>
              </a:bodyPr>
              <a:lstStyle/>
              <a:p>
                <a:r>
                  <a:rPr lang="en-US" sz="2000" dirty="0">
                    <a:solidFill>
                      <a:schemeClr val="bg1"/>
                    </a:solidFill>
                  </a:rPr>
                  <a:t>Weekly User </a:t>
                </a:r>
              </a:p>
              <a:p>
                <a:r>
                  <a:rPr lang="en-US" sz="2000" dirty="0">
                    <a:solidFill>
                      <a:schemeClr val="bg1"/>
                    </a:solidFill>
                  </a:rPr>
                  <a:t>Engagement</a:t>
                </a:r>
              </a:p>
            </p:txBody>
          </p:sp>
          <p:sp>
            <p:nvSpPr>
              <p:cNvPr id="96" name="TextBox 95"/>
              <p:cNvSpPr txBox="1"/>
              <p:nvPr/>
            </p:nvSpPr>
            <p:spPr>
              <a:xfrm>
                <a:off x="2027111" y="1672955"/>
                <a:ext cx="880049" cy="553998"/>
              </a:xfrm>
              <a:prstGeom prst="rect">
                <a:avLst/>
              </a:prstGeom>
              <a:noFill/>
            </p:spPr>
            <p:txBody>
              <a:bodyPr wrap="none" lIns="0" tIns="0" rIns="0" bIns="0" rtlCol="0">
                <a:spAutoFit/>
              </a:bodyPr>
              <a:lstStyle/>
              <a:p>
                <a:r>
                  <a:rPr lang="en-US" sz="3600" b="1" dirty="0">
                    <a:solidFill>
                      <a:schemeClr val="bg1"/>
                    </a:solidFill>
                  </a:rPr>
                  <a:t>1467</a:t>
                </a:r>
              </a:p>
            </p:txBody>
          </p:sp>
          <p:grpSp>
            <p:nvGrpSpPr>
              <p:cNvPr id="41" name="Group 40"/>
              <p:cNvGrpSpPr/>
              <p:nvPr/>
            </p:nvGrpSpPr>
            <p:grpSpPr>
              <a:xfrm>
                <a:off x="2219761" y="909911"/>
                <a:ext cx="648489" cy="648488"/>
                <a:chOff x="1072536" y="1083143"/>
                <a:chExt cx="788715" cy="788715"/>
              </a:xfrm>
            </p:grpSpPr>
            <p:sp>
              <p:nvSpPr>
                <p:cNvPr id="42" name="Oval 41"/>
                <p:cNvSpPr/>
                <p:nvPr/>
              </p:nvSpPr>
              <p:spPr>
                <a:xfrm>
                  <a:off x="1072536" y="1083143"/>
                  <a:ext cx="788715" cy="788715"/>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5" name="Group 44"/>
                <p:cNvGrpSpPr/>
                <p:nvPr/>
              </p:nvGrpSpPr>
              <p:grpSpPr>
                <a:xfrm>
                  <a:off x="1276148" y="1369137"/>
                  <a:ext cx="381490" cy="216726"/>
                  <a:chOff x="3283332" y="3275035"/>
                  <a:chExt cx="479215" cy="272245"/>
                </a:xfrm>
              </p:grpSpPr>
              <p:sp>
                <p:nvSpPr>
                  <p:cNvPr id="46" name="Freeform 11"/>
                  <p:cNvSpPr>
                    <a:spLocks noEditPoints="1"/>
                  </p:cNvSpPr>
                  <p:nvPr/>
                </p:nvSpPr>
                <p:spPr bwMode="auto">
                  <a:xfrm>
                    <a:off x="3283332" y="3275035"/>
                    <a:ext cx="479215" cy="272245"/>
                  </a:xfrm>
                  <a:custGeom>
                    <a:avLst/>
                    <a:gdLst>
                      <a:gd name="T0" fmla="*/ 2004 w 2048"/>
                      <a:gd name="T1" fmla="*/ 0 h 1162"/>
                      <a:gd name="T2" fmla="*/ 44 w 2048"/>
                      <a:gd name="T3" fmla="*/ 0 h 1162"/>
                      <a:gd name="T4" fmla="*/ 0 w 2048"/>
                      <a:gd name="T5" fmla="*/ 44 h 1162"/>
                      <a:gd name="T6" fmla="*/ 0 w 2048"/>
                      <a:gd name="T7" fmla="*/ 1118 h 1162"/>
                      <a:gd name="T8" fmla="*/ 44 w 2048"/>
                      <a:gd name="T9" fmla="*/ 1162 h 1162"/>
                      <a:gd name="T10" fmla="*/ 2004 w 2048"/>
                      <a:gd name="T11" fmla="*/ 1162 h 1162"/>
                      <a:gd name="T12" fmla="*/ 2048 w 2048"/>
                      <a:gd name="T13" fmla="*/ 1118 h 1162"/>
                      <a:gd name="T14" fmla="*/ 2048 w 2048"/>
                      <a:gd name="T15" fmla="*/ 44 h 1162"/>
                      <a:gd name="T16" fmla="*/ 2004 w 2048"/>
                      <a:gd name="T17" fmla="*/ 0 h 1162"/>
                      <a:gd name="T18" fmla="*/ 88 w 2048"/>
                      <a:gd name="T19" fmla="*/ 88 h 1162"/>
                      <a:gd name="T20" fmla="*/ 312 w 2048"/>
                      <a:gd name="T21" fmla="*/ 88 h 1162"/>
                      <a:gd name="T22" fmla="*/ 88 w 2048"/>
                      <a:gd name="T23" fmla="*/ 311 h 1162"/>
                      <a:gd name="T24" fmla="*/ 88 w 2048"/>
                      <a:gd name="T25" fmla="*/ 88 h 1162"/>
                      <a:gd name="T26" fmla="*/ 88 w 2048"/>
                      <a:gd name="T27" fmla="*/ 1074 h 1162"/>
                      <a:gd name="T28" fmla="*/ 88 w 2048"/>
                      <a:gd name="T29" fmla="*/ 851 h 1162"/>
                      <a:gd name="T30" fmla="*/ 312 w 2048"/>
                      <a:gd name="T31" fmla="*/ 1074 h 1162"/>
                      <a:gd name="T32" fmla="*/ 88 w 2048"/>
                      <a:gd name="T33" fmla="*/ 1074 h 1162"/>
                      <a:gd name="T34" fmla="*/ 1960 w 2048"/>
                      <a:gd name="T35" fmla="*/ 1074 h 1162"/>
                      <a:gd name="T36" fmla="*/ 1736 w 2048"/>
                      <a:gd name="T37" fmla="*/ 1074 h 1162"/>
                      <a:gd name="T38" fmla="*/ 1960 w 2048"/>
                      <a:gd name="T39" fmla="*/ 851 h 1162"/>
                      <a:gd name="T40" fmla="*/ 1960 w 2048"/>
                      <a:gd name="T41" fmla="*/ 1074 h 1162"/>
                      <a:gd name="T42" fmla="*/ 1960 w 2048"/>
                      <a:gd name="T43" fmla="*/ 762 h 1162"/>
                      <a:gd name="T44" fmla="*/ 1648 w 2048"/>
                      <a:gd name="T45" fmla="*/ 1074 h 1162"/>
                      <a:gd name="T46" fmla="*/ 400 w 2048"/>
                      <a:gd name="T47" fmla="*/ 1074 h 1162"/>
                      <a:gd name="T48" fmla="*/ 88 w 2048"/>
                      <a:gd name="T49" fmla="*/ 762 h 1162"/>
                      <a:gd name="T50" fmla="*/ 88 w 2048"/>
                      <a:gd name="T51" fmla="*/ 400 h 1162"/>
                      <a:gd name="T52" fmla="*/ 400 w 2048"/>
                      <a:gd name="T53" fmla="*/ 88 h 1162"/>
                      <a:gd name="T54" fmla="*/ 1648 w 2048"/>
                      <a:gd name="T55" fmla="*/ 88 h 1162"/>
                      <a:gd name="T56" fmla="*/ 1960 w 2048"/>
                      <a:gd name="T57" fmla="*/ 400 h 1162"/>
                      <a:gd name="T58" fmla="*/ 1960 w 2048"/>
                      <a:gd name="T59" fmla="*/ 762 h 1162"/>
                      <a:gd name="T60" fmla="*/ 1960 w 2048"/>
                      <a:gd name="T61" fmla="*/ 311 h 1162"/>
                      <a:gd name="T62" fmla="*/ 1736 w 2048"/>
                      <a:gd name="T63" fmla="*/ 88 h 1162"/>
                      <a:gd name="T64" fmla="*/ 1960 w 2048"/>
                      <a:gd name="T65" fmla="*/ 88 h 1162"/>
                      <a:gd name="T66" fmla="*/ 1960 w 2048"/>
                      <a:gd name="T67" fmla="*/ 311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48" h="1162">
                        <a:moveTo>
                          <a:pt x="2004" y="0"/>
                        </a:moveTo>
                        <a:cubicBezTo>
                          <a:pt x="44" y="0"/>
                          <a:pt x="44" y="0"/>
                          <a:pt x="44" y="0"/>
                        </a:cubicBezTo>
                        <a:cubicBezTo>
                          <a:pt x="20" y="0"/>
                          <a:pt x="0" y="19"/>
                          <a:pt x="0" y="44"/>
                        </a:cubicBezTo>
                        <a:cubicBezTo>
                          <a:pt x="0" y="1118"/>
                          <a:pt x="0" y="1118"/>
                          <a:pt x="0" y="1118"/>
                        </a:cubicBezTo>
                        <a:cubicBezTo>
                          <a:pt x="0" y="1143"/>
                          <a:pt x="20" y="1162"/>
                          <a:pt x="44" y="1162"/>
                        </a:cubicBezTo>
                        <a:cubicBezTo>
                          <a:pt x="2004" y="1162"/>
                          <a:pt x="2004" y="1162"/>
                          <a:pt x="2004" y="1162"/>
                        </a:cubicBezTo>
                        <a:cubicBezTo>
                          <a:pt x="2028" y="1162"/>
                          <a:pt x="2048" y="1143"/>
                          <a:pt x="2048" y="1118"/>
                        </a:cubicBezTo>
                        <a:cubicBezTo>
                          <a:pt x="2048" y="44"/>
                          <a:pt x="2048" y="44"/>
                          <a:pt x="2048" y="44"/>
                        </a:cubicBezTo>
                        <a:cubicBezTo>
                          <a:pt x="2048" y="19"/>
                          <a:pt x="2028" y="0"/>
                          <a:pt x="2004" y="0"/>
                        </a:cubicBezTo>
                        <a:close/>
                        <a:moveTo>
                          <a:pt x="88" y="88"/>
                        </a:moveTo>
                        <a:cubicBezTo>
                          <a:pt x="312" y="88"/>
                          <a:pt x="312" y="88"/>
                          <a:pt x="312" y="88"/>
                        </a:cubicBezTo>
                        <a:cubicBezTo>
                          <a:pt x="293" y="202"/>
                          <a:pt x="202" y="292"/>
                          <a:pt x="88" y="311"/>
                        </a:cubicBezTo>
                        <a:lnTo>
                          <a:pt x="88" y="88"/>
                        </a:lnTo>
                        <a:close/>
                        <a:moveTo>
                          <a:pt x="88" y="1074"/>
                        </a:moveTo>
                        <a:cubicBezTo>
                          <a:pt x="88" y="851"/>
                          <a:pt x="88" y="851"/>
                          <a:pt x="88" y="851"/>
                        </a:cubicBezTo>
                        <a:cubicBezTo>
                          <a:pt x="202" y="870"/>
                          <a:pt x="293" y="960"/>
                          <a:pt x="312" y="1074"/>
                        </a:cubicBezTo>
                        <a:lnTo>
                          <a:pt x="88" y="1074"/>
                        </a:lnTo>
                        <a:close/>
                        <a:moveTo>
                          <a:pt x="1960" y="1074"/>
                        </a:moveTo>
                        <a:cubicBezTo>
                          <a:pt x="1736" y="1074"/>
                          <a:pt x="1736" y="1074"/>
                          <a:pt x="1736" y="1074"/>
                        </a:cubicBezTo>
                        <a:cubicBezTo>
                          <a:pt x="1755" y="960"/>
                          <a:pt x="1846" y="870"/>
                          <a:pt x="1960" y="851"/>
                        </a:cubicBezTo>
                        <a:lnTo>
                          <a:pt x="1960" y="1074"/>
                        </a:lnTo>
                        <a:close/>
                        <a:moveTo>
                          <a:pt x="1960" y="762"/>
                        </a:moveTo>
                        <a:cubicBezTo>
                          <a:pt x="1797" y="782"/>
                          <a:pt x="1668" y="911"/>
                          <a:pt x="1648" y="1074"/>
                        </a:cubicBezTo>
                        <a:cubicBezTo>
                          <a:pt x="400" y="1074"/>
                          <a:pt x="400" y="1074"/>
                          <a:pt x="400" y="1074"/>
                        </a:cubicBezTo>
                        <a:cubicBezTo>
                          <a:pt x="380" y="911"/>
                          <a:pt x="251" y="782"/>
                          <a:pt x="88" y="762"/>
                        </a:cubicBezTo>
                        <a:cubicBezTo>
                          <a:pt x="88" y="400"/>
                          <a:pt x="88" y="400"/>
                          <a:pt x="88" y="400"/>
                        </a:cubicBezTo>
                        <a:cubicBezTo>
                          <a:pt x="251" y="380"/>
                          <a:pt x="380" y="251"/>
                          <a:pt x="400" y="88"/>
                        </a:cubicBezTo>
                        <a:cubicBezTo>
                          <a:pt x="1648" y="88"/>
                          <a:pt x="1648" y="88"/>
                          <a:pt x="1648" y="88"/>
                        </a:cubicBezTo>
                        <a:cubicBezTo>
                          <a:pt x="1668" y="251"/>
                          <a:pt x="1797" y="380"/>
                          <a:pt x="1960" y="400"/>
                        </a:cubicBezTo>
                        <a:cubicBezTo>
                          <a:pt x="1960" y="762"/>
                          <a:pt x="1960" y="762"/>
                          <a:pt x="1960" y="762"/>
                        </a:cubicBezTo>
                        <a:close/>
                        <a:moveTo>
                          <a:pt x="1960" y="311"/>
                        </a:moveTo>
                        <a:cubicBezTo>
                          <a:pt x="1846" y="292"/>
                          <a:pt x="1755" y="202"/>
                          <a:pt x="1736" y="88"/>
                        </a:cubicBezTo>
                        <a:cubicBezTo>
                          <a:pt x="1960" y="88"/>
                          <a:pt x="1960" y="88"/>
                          <a:pt x="1960" y="88"/>
                        </a:cubicBezTo>
                        <a:lnTo>
                          <a:pt x="1960" y="3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12"/>
                  <p:cNvSpPr>
                    <a:spLocks noEditPoints="1"/>
                  </p:cNvSpPr>
                  <p:nvPr/>
                </p:nvSpPr>
                <p:spPr bwMode="auto">
                  <a:xfrm>
                    <a:off x="3381245" y="3337126"/>
                    <a:ext cx="282594" cy="148859"/>
                  </a:xfrm>
                  <a:custGeom>
                    <a:avLst/>
                    <a:gdLst>
                      <a:gd name="T0" fmla="*/ 1169 w 1208"/>
                      <a:gd name="T1" fmla="*/ 127 h 634"/>
                      <a:gd name="T2" fmla="*/ 1081 w 1208"/>
                      <a:gd name="T3" fmla="*/ 39 h 634"/>
                      <a:gd name="T4" fmla="*/ 1041 w 1208"/>
                      <a:gd name="T5" fmla="*/ 0 h 634"/>
                      <a:gd name="T6" fmla="*/ 167 w 1208"/>
                      <a:gd name="T7" fmla="*/ 0 h 634"/>
                      <a:gd name="T8" fmla="*/ 127 w 1208"/>
                      <a:gd name="T9" fmla="*/ 39 h 634"/>
                      <a:gd name="T10" fmla="*/ 39 w 1208"/>
                      <a:gd name="T11" fmla="*/ 127 h 634"/>
                      <a:gd name="T12" fmla="*/ 0 w 1208"/>
                      <a:gd name="T13" fmla="*/ 167 h 634"/>
                      <a:gd name="T14" fmla="*/ 0 w 1208"/>
                      <a:gd name="T15" fmla="*/ 467 h 634"/>
                      <a:gd name="T16" fmla="*/ 39 w 1208"/>
                      <a:gd name="T17" fmla="*/ 507 h 634"/>
                      <a:gd name="T18" fmla="*/ 127 w 1208"/>
                      <a:gd name="T19" fmla="*/ 595 h 634"/>
                      <a:gd name="T20" fmla="*/ 167 w 1208"/>
                      <a:gd name="T21" fmla="*/ 634 h 634"/>
                      <a:gd name="T22" fmla="*/ 1041 w 1208"/>
                      <a:gd name="T23" fmla="*/ 634 h 634"/>
                      <a:gd name="T24" fmla="*/ 1081 w 1208"/>
                      <a:gd name="T25" fmla="*/ 595 h 634"/>
                      <a:gd name="T26" fmla="*/ 1169 w 1208"/>
                      <a:gd name="T27" fmla="*/ 507 h 634"/>
                      <a:gd name="T28" fmla="*/ 1208 w 1208"/>
                      <a:gd name="T29" fmla="*/ 467 h 634"/>
                      <a:gd name="T30" fmla="*/ 1208 w 1208"/>
                      <a:gd name="T31" fmla="*/ 167 h 634"/>
                      <a:gd name="T32" fmla="*/ 1169 w 1208"/>
                      <a:gd name="T33" fmla="*/ 127 h 634"/>
                      <a:gd name="T34" fmla="*/ 1129 w 1208"/>
                      <a:gd name="T35" fmla="*/ 432 h 634"/>
                      <a:gd name="T36" fmla="*/ 1006 w 1208"/>
                      <a:gd name="T37" fmla="*/ 555 h 634"/>
                      <a:gd name="T38" fmla="*/ 202 w 1208"/>
                      <a:gd name="T39" fmla="*/ 555 h 634"/>
                      <a:gd name="T40" fmla="*/ 79 w 1208"/>
                      <a:gd name="T41" fmla="*/ 432 h 634"/>
                      <a:gd name="T42" fmla="*/ 79 w 1208"/>
                      <a:gd name="T43" fmla="*/ 202 h 634"/>
                      <a:gd name="T44" fmla="*/ 202 w 1208"/>
                      <a:gd name="T45" fmla="*/ 79 h 634"/>
                      <a:gd name="T46" fmla="*/ 1006 w 1208"/>
                      <a:gd name="T47" fmla="*/ 79 h 634"/>
                      <a:gd name="T48" fmla="*/ 1129 w 1208"/>
                      <a:gd name="T49" fmla="*/ 202 h 634"/>
                      <a:gd name="T50" fmla="*/ 1129 w 1208"/>
                      <a:gd name="T51" fmla="*/ 432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08" h="634">
                        <a:moveTo>
                          <a:pt x="1169" y="127"/>
                        </a:moveTo>
                        <a:cubicBezTo>
                          <a:pt x="1120" y="127"/>
                          <a:pt x="1081" y="88"/>
                          <a:pt x="1081" y="39"/>
                        </a:cubicBezTo>
                        <a:cubicBezTo>
                          <a:pt x="1081" y="17"/>
                          <a:pt x="1063" y="0"/>
                          <a:pt x="1041" y="0"/>
                        </a:cubicBezTo>
                        <a:cubicBezTo>
                          <a:pt x="167" y="0"/>
                          <a:pt x="167" y="0"/>
                          <a:pt x="167" y="0"/>
                        </a:cubicBezTo>
                        <a:cubicBezTo>
                          <a:pt x="145" y="0"/>
                          <a:pt x="127" y="17"/>
                          <a:pt x="127" y="39"/>
                        </a:cubicBezTo>
                        <a:cubicBezTo>
                          <a:pt x="127" y="88"/>
                          <a:pt x="88" y="127"/>
                          <a:pt x="39" y="127"/>
                        </a:cubicBezTo>
                        <a:cubicBezTo>
                          <a:pt x="17" y="127"/>
                          <a:pt x="0" y="145"/>
                          <a:pt x="0" y="167"/>
                        </a:cubicBezTo>
                        <a:cubicBezTo>
                          <a:pt x="0" y="467"/>
                          <a:pt x="0" y="467"/>
                          <a:pt x="0" y="467"/>
                        </a:cubicBezTo>
                        <a:cubicBezTo>
                          <a:pt x="0" y="489"/>
                          <a:pt x="17" y="507"/>
                          <a:pt x="39" y="507"/>
                        </a:cubicBezTo>
                        <a:cubicBezTo>
                          <a:pt x="88" y="507"/>
                          <a:pt x="127" y="546"/>
                          <a:pt x="127" y="595"/>
                        </a:cubicBezTo>
                        <a:cubicBezTo>
                          <a:pt x="127" y="617"/>
                          <a:pt x="145" y="634"/>
                          <a:pt x="167" y="634"/>
                        </a:cubicBezTo>
                        <a:cubicBezTo>
                          <a:pt x="1041" y="634"/>
                          <a:pt x="1041" y="634"/>
                          <a:pt x="1041" y="634"/>
                        </a:cubicBezTo>
                        <a:cubicBezTo>
                          <a:pt x="1063" y="634"/>
                          <a:pt x="1081" y="617"/>
                          <a:pt x="1081" y="595"/>
                        </a:cubicBezTo>
                        <a:cubicBezTo>
                          <a:pt x="1081" y="546"/>
                          <a:pt x="1120" y="507"/>
                          <a:pt x="1169" y="507"/>
                        </a:cubicBezTo>
                        <a:cubicBezTo>
                          <a:pt x="1191" y="507"/>
                          <a:pt x="1208" y="489"/>
                          <a:pt x="1208" y="467"/>
                        </a:cubicBezTo>
                        <a:cubicBezTo>
                          <a:pt x="1208" y="167"/>
                          <a:pt x="1208" y="167"/>
                          <a:pt x="1208" y="167"/>
                        </a:cubicBezTo>
                        <a:cubicBezTo>
                          <a:pt x="1208" y="145"/>
                          <a:pt x="1191" y="127"/>
                          <a:pt x="1169" y="127"/>
                        </a:cubicBezTo>
                        <a:close/>
                        <a:moveTo>
                          <a:pt x="1129" y="432"/>
                        </a:moveTo>
                        <a:cubicBezTo>
                          <a:pt x="1069" y="447"/>
                          <a:pt x="1021" y="495"/>
                          <a:pt x="1006" y="555"/>
                        </a:cubicBezTo>
                        <a:cubicBezTo>
                          <a:pt x="202" y="555"/>
                          <a:pt x="202" y="555"/>
                          <a:pt x="202" y="555"/>
                        </a:cubicBezTo>
                        <a:cubicBezTo>
                          <a:pt x="187" y="495"/>
                          <a:pt x="139" y="447"/>
                          <a:pt x="79" y="432"/>
                        </a:cubicBezTo>
                        <a:cubicBezTo>
                          <a:pt x="79" y="202"/>
                          <a:pt x="79" y="202"/>
                          <a:pt x="79" y="202"/>
                        </a:cubicBezTo>
                        <a:cubicBezTo>
                          <a:pt x="139" y="187"/>
                          <a:pt x="187" y="139"/>
                          <a:pt x="202" y="79"/>
                        </a:cubicBezTo>
                        <a:cubicBezTo>
                          <a:pt x="1006" y="79"/>
                          <a:pt x="1006" y="79"/>
                          <a:pt x="1006" y="79"/>
                        </a:cubicBezTo>
                        <a:cubicBezTo>
                          <a:pt x="1021" y="139"/>
                          <a:pt x="1069" y="187"/>
                          <a:pt x="1129" y="202"/>
                        </a:cubicBezTo>
                        <a:cubicBezTo>
                          <a:pt x="1129" y="432"/>
                          <a:pt x="1129" y="432"/>
                          <a:pt x="1129" y="43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13"/>
                  <p:cNvSpPr>
                    <a:spLocks/>
                  </p:cNvSpPr>
                  <p:nvPr/>
                </p:nvSpPr>
                <p:spPr bwMode="auto">
                  <a:xfrm>
                    <a:off x="3464829" y="3368967"/>
                    <a:ext cx="32638" cy="85176"/>
                  </a:xfrm>
                  <a:custGeom>
                    <a:avLst/>
                    <a:gdLst>
                      <a:gd name="T0" fmla="*/ 99 w 139"/>
                      <a:gd name="T1" fmla="*/ 0 h 364"/>
                      <a:gd name="T2" fmla="*/ 39 w 139"/>
                      <a:gd name="T3" fmla="*/ 0 h 364"/>
                      <a:gd name="T4" fmla="*/ 0 w 139"/>
                      <a:gd name="T5" fmla="*/ 40 h 364"/>
                      <a:gd name="T6" fmla="*/ 39 w 139"/>
                      <a:gd name="T7" fmla="*/ 79 h 364"/>
                      <a:gd name="T8" fmla="*/ 59 w 139"/>
                      <a:gd name="T9" fmla="*/ 79 h 364"/>
                      <a:gd name="T10" fmla="*/ 59 w 139"/>
                      <a:gd name="T11" fmla="*/ 324 h 364"/>
                      <a:gd name="T12" fmla="*/ 99 w 139"/>
                      <a:gd name="T13" fmla="*/ 364 h 364"/>
                      <a:gd name="T14" fmla="*/ 139 w 139"/>
                      <a:gd name="T15" fmla="*/ 324 h 364"/>
                      <a:gd name="T16" fmla="*/ 139 w 139"/>
                      <a:gd name="T17" fmla="*/ 40 h 364"/>
                      <a:gd name="T18" fmla="*/ 99 w 139"/>
                      <a:gd name="T19"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364">
                        <a:moveTo>
                          <a:pt x="99" y="0"/>
                        </a:moveTo>
                        <a:cubicBezTo>
                          <a:pt x="39" y="0"/>
                          <a:pt x="39" y="0"/>
                          <a:pt x="39" y="0"/>
                        </a:cubicBezTo>
                        <a:cubicBezTo>
                          <a:pt x="18" y="0"/>
                          <a:pt x="0" y="18"/>
                          <a:pt x="0" y="40"/>
                        </a:cubicBezTo>
                        <a:cubicBezTo>
                          <a:pt x="0" y="62"/>
                          <a:pt x="18" y="79"/>
                          <a:pt x="39" y="79"/>
                        </a:cubicBezTo>
                        <a:cubicBezTo>
                          <a:pt x="59" y="79"/>
                          <a:pt x="59" y="79"/>
                          <a:pt x="59" y="79"/>
                        </a:cubicBezTo>
                        <a:cubicBezTo>
                          <a:pt x="59" y="324"/>
                          <a:pt x="59" y="324"/>
                          <a:pt x="59" y="324"/>
                        </a:cubicBezTo>
                        <a:cubicBezTo>
                          <a:pt x="59" y="346"/>
                          <a:pt x="77" y="364"/>
                          <a:pt x="99" y="364"/>
                        </a:cubicBezTo>
                        <a:cubicBezTo>
                          <a:pt x="121" y="364"/>
                          <a:pt x="139" y="346"/>
                          <a:pt x="139" y="324"/>
                        </a:cubicBezTo>
                        <a:cubicBezTo>
                          <a:pt x="139" y="40"/>
                          <a:pt x="139" y="40"/>
                          <a:pt x="139" y="40"/>
                        </a:cubicBezTo>
                        <a:cubicBezTo>
                          <a:pt x="139" y="18"/>
                          <a:pt x="121" y="0"/>
                          <a:pt x="9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14"/>
                  <p:cNvSpPr>
                    <a:spLocks noEditPoints="1"/>
                  </p:cNvSpPr>
                  <p:nvPr/>
                </p:nvSpPr>
                <p:spPr bwMode="auto">
                  <a:xfrm>
                    <a:off x="3518959" y="3368967"/>
                    <a:ext cx="61295" cy="85176"/>
                  </a:xfrm>
                  <a:custGeom>
                    <a:avLst/>
                    <a:gdLst>
                      <a:gd name="T0" fmla="*/ 222 w 262"/>
                      <a:gd name="T1" fmla="*/ 0 h 364"/>
                      <a:gd name="T2" fmla="*/ 40 w 262"/>
                      <a:gd name="T3" fmla="*/ 0 h 364"/>
                      <a:gd name="T4" fmla="*/ 0 w 262"/>
                      <a:gd name="T5" fmla="*/ 40 h 364"/>
                      <a:gd name="T6" fmla="*/ 0 w 262"/>
                      <a:gd name="T7" fmla="*/ 324 h 364"/>
                      <a:gd name="T8" fmla="*/ 40 w 262"/>
                      <a:gd name="T9" fmla="*/ 364 h 364"/>
                      <a:gd name="T10" fmla="*/ 222 w 262"/>
                      <a:gd name="T11" fmla="*/ 364 h 364"/>
                      <a:gd name="T12" fmla="*/ 262 w 262"/>
                      <a:gd name="T13" fmla="*/ 324 h 364"/>
                      <a:gd name="T14" fmla="*/ 262 w 262"/>
                      <a:gd name="T15" fmla="*/ 40 h 364"/>
                      <a:gd name="T16" fmla="*/ 222 w 262"/>
                      <a:gd name="T17" fmla="*/ 0 h 364"/>
                      <a:gd name="T18" fmla="*/ 183 w 262"/>
                      <a:gd name="T19" fmla="*/ 285 h 364"/>
                      <a:gd name="T20" fmla="*/ 80 w 262"/>
                      <a:gd name="T21" fmla="*/ 285 h 364"/>
                      <a:gd name="T22" fmla="*/ 80 w 262"/>
                      <a:gd name="T23" fmla="*/ 79 h 364"/>
                      <a:gd name="T24" fmla="*/ 183 w 262"/>
                      <a:gd name="T25" fmla="*/ 79 h 364"/>
                      <a:gd name="T26" fmla="*/ 183 w 262"/>
                      <a:gd name="T27" fmla="*/ 285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2" h="364">
                        <a:moveTo>
                          <a:pt x="222" y="0"/>
                        </a:moveTo>
                        <a:cubicBezTo>
                          <a:pt x="40" y="0"/>
                          <a:pt x="40" y="0"/>
                          <a:pt x="40" y="0"/>
                        </a:cubicBezTo>
                        <a:cubicBezTo>
                          <a:pt x="18" y="0"/>
                          <a:pt x="0" y="18"/>
                          <a:pt x="0" y="40"/>
                        </a:cubicBezTo>
                        <a:cubicBezTo>
                          <a:pt x="0" y="324"/>
                          <a:pt x="0" y="324"/>
                          <a:pt x="0" y="324"/>
                        </a:cubicBezTo>
                        <a:cubicBezTo>
                          <a:pt x="0" y="346"/>
                          <a:pt x="18" y="364"/>
                          <a:pt x="40" y="364"/>
                        </a:cubicBezTo>
                        <a:cubicBezTo>
                          <a:pt x="222" y="364"/>
                          <a:pt x="222" y="364"/>
                          <a:pt x="222" y="364"/>
                        </a:cubicBezTo>
                        <a:cubicBezTo>
                          <a:pt x="244" y="364"/>
                          <a:pt x="262" y="346"/>
                          <a:pt x="262" y="324"/>
                        </a:cubicBezTo>
                        <a:cubicBezTo>
                          <a:pt x="262" y="40"/>
                          <a:pt x="262" y="40"/>
                          <a:pt x="262" y="40"/>
                        </a:cubicBezTo>
                        <a:cubicBezTo>
                          <a:pt x="262" y="18"/>
                          <a:pt x="244" y="0"/>
                          <a:pt x="222" y="0"/>
                        </a:cubicBezTo>
                        <a:close/>
                        <a:moveTo>
                          <a:pt x="183" y="285"/>
                        </a:moveTo>
                        <a:cubicBezTo>
                          <a:pt x="80" y="285"/>
                          <a:pt x="80" y="285"/>
                          <a:pt x="80" y="285"/>
                        </a:cubicBezTo>
                        <a:cubicBezTo>
                          <a:pt x="80" y="79"/>
                          <a:pt x="80" y="79"/>
                          <a:pt x="80" y="79"/>
                        </a:cubicBezTo>
                        <a:cubicBezTo>
                          <a:pt x="183" y="79"/>
                          <a:pt x="183" y="79"/>
                          <a:pt x="183" y="79"/>
                        </a:cubicBezTo>
                        <a:lnTo>
                          <a:pt x="183" y="28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145" name="Group 144"/>
            <p:cNvGrpSpPr/>
            <p:nvPr/>
          </p:nvGrpSpPr>
          <p:grpSpPr>
            <a:xfrm>
              <a:off x="4564344" y="909911"/>
              <a:ext cx="3312642" cy="2636547"/>
              <a:chOff x="7964106" y="909911"/>
              <a:chExt cx="3312642" cy="2636547"/>
            </a:xfrm>
          </p:grpSpPr>
          <p:sp>
            <p:nvSpPr>
              <p:cNvPr id="80" name="Rectangle 79"/>
              <p:cNvSpPr/>
              <p:nvPr/>
            </p:nvSpPr>
            <p:spPr>
              <a:xfrm>
                <a:off x="7964106" y="1412950"/>
                <a:ext cx="3312642" cy="2133508"/>
              </a:xfrm>
              <a:prstGeom prst="rect">
                <a:avLst/>
              </a:prstGeom>
              <a:gradFill flip="none" rotWithShape="1">
                <a:gsLst>
                  <a:gs pos="100000">
                    <a:srgbClr val="667181">
                      <a:alpha val="0"/>
                    </a:srgbClr>
                  </a:gs>
                  <a:gs pos="54000">
                    <a:srgbClr val="939CA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1" name="Group 130"/>
              <p:cNvGrpSpPr/>
              <p:nvPr/>
            </p:nvGrpSpPr>
            <p:grpSpPr>
              <a:xfrm>
                <a:off x="9332459" y="909911"/>
                <a:ext cx="648489" cy="648489"/>
                <a:chOff x="9332459" y="909911"/>
                <a:chExt cx="648489" cy="648489"/>
              </a:xfrm>
            </p:grpSpPr>
            <p:sp>
              <p:nvSpPr>
                <p:cNvPr id="52" name="Oval 51"/>
                <p:cNvSpPr/>
                <p:nvPr/>
              </p:nvSpPr>
              <p:spPr>
                <a:xfrm>
                  <a:off x="9332459" y="909911"/>
                  <a:ext cx="648489" cy="648489"/>
                </a:xfrm>
                <a:prstGeom prst="ellipse">
                  <a:avLst/>
                </a:prstGeom>
                <a:solidFill>
                  <a:srgbClr val="43CDD9"/>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52"/>
                <p:cNvGrpSpPr/>
                <p:nvPr/>
              </p:nvGrpSpPr>
              <p:grpSpPr>
                <a:xfrm>
                  <a:off x="9530746" y="1108198"/>
                  <a:ext cx="251914" cy="251915"/>
                  <a:chOff x="8208963" y="3762375"/>
                  <a:chExt cx="306387" cy="306388"/>
                </a:xfrm>
              </p:grpSpPr>
              <p:sp>
                <p:nvSpPr>
                  <p:cNvPr id="54" name="Freeform 27"/>
                  <p:cNvSpPr>
                    <a:spLocks/>
                  </p:cNvSpPr>
                  <p:nvPr/>
                </p:nvSpPr>
                <p:spPr bwMode="auto">
                  <a:xfrm>
                    <a:off x="8424863" y="3943350"/>
                    <a:ext cx="53975" cy="53975"/>
                  </a:xfrm>
                  <a:custGeom>
                    <a:avLst/>
                    <a:gdLst>
                      <a:gd name="T0" fmla="*/ 300 w 360"/>
                      <a:gd name="T1" fmla="*/ 240 h 360"/>
                      <a:gd name="T2" fmla="*/ 120 w 360"/>
                      <a:gd name="T3" fmla="*/ 240 h 360"/>
                      <a:gd name="T4" fmla="*/ 120 w 360"/>
                      <a:gd name="T5" fmla="*/ 60 h 360"/>
                      <a:gd name="T6" fmla="*/ 60 w 360"/>
                      <a:gd name="T7" fmla="*/ 0 h 360"/>
                      <a:gd name="T8" fmla="*/ 0 w 360"/>
                      <a:gd name="T9" fmla="*/ 60 h 360"/>
                      <a:gd name="T10" fmla="*/ 0 w 360"/>
                      <a:gd name="T11" fmla="*/ 300 h 360"/>
                      <a:gd name="T12" fmla="*/ 60 w 360"/>
                      <a:gd name="T13" fmla="*/ 360 h 360"/>
                      <a:gd name="T14" fmla="*/ 300 w 360"/>
                      <a:gd name="T15" fmla="*/ 360 h 360"/>
                      <a:gd name="T16" fmla="*/ 360 w 360"/>
                      <a:gd name="T17" fmla="*/ 300 h 360"/>
                      <a:gd name="T18" fmla="*/ 300 w 360"/>
                      <a:gd name="T19"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360">
                        <a:moveTo>
                          <a:pt x="300" y="240"/>
                        </a:moveTo>
                        <a:cubicBezTo>
                          <a:pt x="120" y="240"/>
                          <a:pt x="120" y="240"/>
                          <a:pt x="120" y="240"/>
                        </a:cubicBezTo>
                        <a:cubicBezTo>
                          <a:pt x="120" y="60"/>
                          <a:pt x="120" y="60"/>
                          <a:pt x="120" y="60"/>
                        </a:cubicBezTo>
                        <a:cubicBezTo>
                          <a:pt x="120" y="27"/>
                          <a:pt x="93" y="0"/>
                          <a:pt x="60" y="0"/>
                        </a:cubicBezTo>
                        <a:cubicBezTo>
                          <a:pt x="27" y="0"/>
                          <a:pt x="0" y="27"/>
                          <a:pt x="0" y="60"/>
                        </a:cubicBezTo>
                        <a:cubicBezTo>
                          <a:pt x="0" y="300"/>
                          <a:pt x="0" y="300"/>
                          <a:pt x="0" y="300"/>
                        </a:cubicBezTo>
                        <a:cubicBezTo>
                          <a:pt x="0" y="333"/>
                          <a:pt x="27" y="360"/>
                          <a:pt x="60" y="360"/>
                        </a:cubicBezTo>
                        <a:cubicBezTo>
                          <a:pt x="300" y="360"/>
                          <a:pt x="300" y="360"/>
                          <a:pt x="300" y="360"/>
                        </a:cubicBezTo>
                        <a:cubicBezTo>
                          <a:pt x="333" y="360"/>
                          <a:pt x="360" y="333"/>
                          <a:pt x="360" y="300"/>
                        </a:cubicBezTo>
                        <a:cubicBezTo>
                          <a:pt x="360" y="267"/>
                          <a:pt x="333" y="240"/>
                          <a:pt x="300" y="2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28"/>
                  <p:cNvSpPr>
                    <a:spLocks/>
                  </p:cNvSpPr>
                  <p:nvPr/>
                </p:nvSpPr>
                <p:spPr bwMode="auto">
                  <a:xfrm>
                    <a:off x="8245475" y="3925888"/>
                    <a:ext cx="53975" cy="17463"/>
                  </a:xfrm>
                  <a:custGeom>
                    <a:avLst/>
                    <a:gdLst>
                      <a:gd name="T0" fmla="*/ 300 w 360"/>
                      <a:gd name="T1" fmla="*/ 0 h 120"/>
                      <a:gd name="T2" fmla="*/ 60 w 360"/>
                      <a:gd name="T3" fmla="*/ 0 h 120"/>
                      <a:gd name="T4" fmla="*/ 0 w 360"/>
                      <a:gd name="T5" fmla="*/ 60 h 120"/>
                      <a:gd name="T6" fmla="*/ 60 w 360"/>
                      <a:gd name="T7" fmla="*/ 120 h 120"/>
                      <a:gd name="T8" fmla="*/ 300 w 360"/>
                      <a:gd name="T9" fmla="*/ 120 h 120"/>
                      <a:gd name="T10" fmla="*/ 360 w 360"/>
                      <a:gd name="T11" fmla="*/ 60 h 120"/>
                      <a:gd name="T12" fmla="*/ 300 w 360"/>
                      <a:gd name="T13" fmla="*/ 0 h 120"/>
                    </a:gdLst>
                    <a:ahLst/>
                    <a:cxnLst>
                      <a:cxn ang="0">
                        <a:pos x="T0" y="T1"/>
                      </a:cxn>
                      <a:cxn ang="0">
                        <a:pos x="T2" y="T3"/>
                      </a:cxn>
                      <a:cxn ang="0">
                        <a:pos x="T4" y="T5"/>
                      </a:cxn>
                      <a:cxn ang="0">
                        <a:pos x="T6" y="T7"/>
                      </a:cxn>
                      <a:cxn ang="0">
                        <a:pos x="T8" y="T9"/>
                      </a:cxn>
                      <a:cxn ang="0">
                        <a:pos x="T10" y="T11"/>
                      </a:cxn>
                      <a:cxn ang="0">
                        <a:pos x="T12" y="T13"/>
                      </a:cxn>
                    </a:cxnLst>
                    <a:rect l="0" t="0" r="r" b="b"/>
                    <a:pathLst>
                      <a:path w="360" h="120">
                        <a:moveTo>
                          <a:pt x="300" y="0"/>
                        </a:moveTo>
                        <a:cubicBezTo>
                          <a:pt x="60" y="0"/>
                          <a:pt x="60" y="0"/>
                          <a:pt x="60" y="0"/>
                        </a:cubicBezTo>
                        <a:cubicBezTo>
                          <a:pt x="27" y="0"/>
                          <a:pt x="0" y="27"/>
                          <a:pt x="0" y="60"/>
                        </a:cubicBezTo>
                        <a:cubicBezTo>
                          <a:pt x="0" y="93"/>
                          <a:pt x="27" y="120"/>
                          <a:pt x="60" y="120"/>
                        </a:cubicBezTo>
                        <a:cubicBezTo>
                          <a:pt x="300" y="120"/>
                          <a:pt x="300" y="120"/>
                          <a:pt x="300" y="120"/>
                        </a:cubicBezTo>
                        <a:cubicBezTo>
                          <a:pt x="333" y="120"/>
                          <a:pt x="360" y="93"/>
                          <a:pt x="360" y="60"/>
                        </a:cubicBezTo>
                        <a:cubicBezTo>
                          <a:pt x="360" y="27"/>
                          <a:pt x="333" y="0"/>
                          <a:pt x="30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29"/>
                  <p:cNvSpPr>
                    <a:spLocks/>
                  </p:cNvSpPr>
                  <p:nvPr/>
                </p:nvSpPr>
                <p:spPr bwMode="auto">
                  <a:xfrm>
                    <a:off x="8245475" y="3979863"/>
                    <a:ext cx="53975" cy="17463"/>
                  </a:xfrm>
                  <a:custGeom>
                    <a:avLst/>
                    <a:gdLst>
                      <a:gd name="T0" fmla="*/ 300 w 360"/>
                      <a:gd name="T1" fmla="*/ 0 h 120"/>
                      <a:gd name="T2" fmla="*/ 60 w 360"/>
                      <a:gd name="T3" fmla="*/ 0 h 120"/>
                      <a:gd name="T4" fmla="*/ 0 w 360"/>
                      <a:gd name="T5" fmla="*/ 60 h 120"/>
                      <a:gd name="T6" fmla="*/ 60 w 360"/>
                      <a:gd name="T7" fmla="*/ 120 h 120"/>
                      <a:gd name="T8" fmla="*/ 300 w 360"/>
                      <a:gd name="T9" fmla="*/ 120 h 120"/>
                      <a:gd name="T10" fmla="*/ 360 w 360"/>
                      <a:gd name="T11" fmla="*/ 60 h 120"/>
                      <a:gd name="T12" fmla="*/ 300 w 360"/>
                      <a:gd name="T13" fmla="*/ 0 h 120"/>
                    </a:gdLst>
                    <a:ahLst/>
                    <a:cxnLst>
                      <a:cxn ang="0">
                        <a:pos x="T0" y="T1"/>
                      </a:cxn>
                      <a:cxn ang="0">
                        <a:pos x="T2" y="T3"/>
                      </a:cxn>
                      <a:cxn ang="0">
                        <a:pos x="T4" y="T5"/>
                      </a:cxn>
                      <a:cxn ang="0">
                        <a:pos x="T6" y="T7"/>
                      </a:cxn>
                      <a:cxn ang="0">
                        <a:pos x="T8" y="T9"/>
                      </a:cxn>
                      <a:cxn ang="0">
                        <a:pos x="T10" y="T11"/>
                      </a:cxn>
                      <a:cxn ang="0">
                        <a:pos x="T12" y="T13"/>
                      </a:cxn>
                    </a:cxnLst>
                    <a:rect l="0" t="0" r="r" b="b"/>
                    <a:pathLst>
                      <a:path w="360" h="120">
                        <a:moveTo>
                          <a:pt x="300" y="0"/>
                        </a:moveTo>
                        <a:cubicBezTo>
                          <a:pt x="60" y="0"/>
                          <a:pt x="60" y="0"/>
                          <a:pt x="60" y="0"/>
                        </a:cubicBezTo>
                        <a:cubicBezTo>
                          <a:pt x="27" y="0"/>
                          <a:pt x="0" y="27"/>
                          <a:pt x="0" y="60"/>
                        </a:cubicBezTo>
                        <a:cubicBezTo>
                          <a:pt x="0" y="93"/>
                          <a:pt x="27" y="120"/>
                          <a:pt x="60" y="120"/>
                        </a:cubicBezTo>
                        <a:cubicBezTo>
                          <a:pt x="300" y="120"/>
                          <a:pt x="300" y="120"/>
                          <a:pt x="300" y="120"/>
                        </a:cubicBezTo>
                        <a:cubicBezTo>
                          <a:pt x="333" y="120"/>
                          <a:pt x="360" y="93"/>
                          <a:pt x="360" y="60"/>
                        </a:cubicBezTo>
                        <a:cubicBezTo>
                          <a:pt x="360" y="27"/>
                          <a:pt x="333" y="0"/>
                          <a:pt x="30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30"/>
                  <p:cNvSpPr>
                    <a:spLocks noEditPoints="1"/>
                  </p:cNvSpPr>
                  <p:nvPr/>
                </p:nvSpPr>
                <p:spPr bwMode="auto">
                  <a:xfrm>
                    <a:off x="8208963" y="3762375"/>
                    <a:ext cx="306387" cy="306388"/>
                  </a:xfrm>
                  <a:custGeom>
                    <a:avLst/>
                    <a:gdLst>
                      <a:gd name="T0" fmla="*/ 1808 w 2048"/>
                      <a:gd name="T1" fmla="*/ 240 h 2048"/>
                      <a:gd name="T2" fmla="*/ 1628 w 2048"/>
                      <a:gd name="T3" fmla="*/ 0 h 2048"/>
                      <a:gd name="T4" fmla="*/ 1448 w 2048"/>
                      <a:gd name="T5" fmla="*/ 240 h 2048"/>
                      <a:gd name="T6" fmla="*/ 1208 w 2048"/>
                      <a:gd name="T7" fmla="*/ 180 h 2048"/>
                      <a:gd name="T8" fmla="*/ 848 w 2048"/>
                      <a:gd name="T9" fmla="*/ 180 h 2048"/>
                      <a:gd name="T10" fmla="*/ 600 w 2048"/>
                      <a:gd name="T11" fmla="*/ 240 h 2048"/>
                      <a:gd name="T12" fmla="*/ 420 w 2048"/>
                      <a:gd name="T13" fmla="*/ 0 h 2048"/>
                      <a:gd name="T14" fmla="*/ 240 w 2048"/>
                      <a:gd name="T15" fmla="*/ 240 h 2048"/>
                      <a:gd name="T16" fmla="*/ 0 w 2048"/>
                      <a:gd name="T17" fmla="*/ 420 h 2048"/>
                      <a:gd name="T18" fmla="*/ 180 w 2048"/>
                      <a:gd name="T19" fmla="*/ 1928 h 2048"/>
                      <a:gd name="T20" fmla="*/ 1508 w 2048"/>
                      <a:gd name="T21" fmla="*/ 2048 h 2048"/>
                      <a:gd name="T22" fmla="*/ 2048 w 2048"/>
                      <a:gd name="T23" fmla="*/ 420 h 2048"/>
                      <a:gd name="T24" fmla="*/ 1568 w 2048"/>
                      <a:gd name="T25" fmla="*/ 180 h 2048"/>
                      <a:gd name="T26" fmla="*/ 1688 w 2048"/>
                      <a:gd name="T27" fmla="*/ 180 h 2048"/>
                      <a:gd name="T28" fmla="*/ 1628 w 2048"/>
                      <a:gd name="T29" fmla="*/ 480 h 2048"/>
                      <a:gd name="T30" fmla="*/ 1568 w 2048"/>
                      <a:gd name="T31" fmla="*/ 180 h 2048"/>
                      <a:gd name="T32" fmla="*/ 968 w 2048"/>
                      <a:gd name="T33" fmla="*/ 300 h 2048"/>
                      <a:gd name="T34" fmla="*/ 968 w 2048"/>
                      <a:gd name="T35" fmla="*/ 180 h 2048"/>
                      <a:gd name="T36" fmla="*/ 1088 w 2048"/>
                      <a:gd name="T37" fmla="*/ 180 h 2048"/>
                      <a:gd name="T38" fmla="*/ 1028 w 2048"/>
                      <a:gd name="T39" fmla="*/ 480 h 2048"/>
                      <a:gd name="T40" fmla="*/ 968 w 2048"/>
                      <a:gd name="T41" fmla="*/ 300 h 2048"/>
                      <a:gd name="T42" fmla="*/ 420 w 2048"/>
                      <a:gd name="T43" fmla="*/ 120 h 2048"/>
                      <a:gd name="T44" fmla="*/ 480 w 2048"/>
                      <a:gd name="T45" fmla="*/ 420 h 2048"/>
                      <a:gd name="T46" fmla="*/ 360 w 2048"/>
                      <a:gd name="T47" fmla="*/ 420 h 2048"/>
                      <a:gd name="T48" fmla="*/ 1508 w 2048"/>
                      <a:gd name="T49" fmla="*/ 1928 h 2048"/>
                      <a:gd name="T50" fmla="*/ 1508 w 2048"/>
                      <a:gd name="T51" fmla="*/ 1088 h 2048"/>
                      <a:gd name="T52" fmla="*/ 1508 w 2048"/>
                      <a:gd name="T53" fmla="*/ 1928 h 2048"/>
                      <a:gd name="T54" fmla="*/ 1508 w 2048"/>
                      <a:gd name="T55" fmla="*/ 968 h 2048"/>
                      <a:gd name="T56" fmla="*/ 1148 w 2048"/>
                      <a:gd name="T57" fmla="*/ 1088 h 2048"/>
                      <a:gd name="T58" fmla="*/ 848 w 2048"/>
                      <a:gd name="T59" fmla="*/ 1148 h 2048"/>
                      <a:gd name="T60" fmla="*/ 1059 w 2048"/>
                      <a:gd name="T61" fmla="*/ 1208 h 2048"/>
                      <a:gd name="T62" fmla="*/ 908 w 2048"/>
                      <a:gd name="T63" fmla="*/ 1448 h 2048"/>
                      <a:gd name="T64" fmla="*/ 908 w 2048"/>
                      <a:gd name="T65" fmla="*/ 1568 h 2048"/>
                      <a:gd name="T66" fmla="*/ 1059 w 2048"/>
                      <a:gd name="T67" fmla="*/ 1808 h 2048"/>
                      <a:gd name="T68" fmla="*/ 120 w 2048"/>
                      <a:gd name="T69" fmla="*/ 1748 h 2048"/>
                      <a:gd name="T70" fmla="*/ 1928 w 2048"/>
                      <a:gd name="T71" fmla="*/ 848 h 2048"/>
                      <a:gd name="T72" fmla="*/ 1928 w 2048"/>
                      <a:gd name="T73" fmla="*/ 728 h 2048"/>
                      <a:gd name="T74" fmla="*/ 120 w 2048"/>
                      <a:gd name="T75" fmla="*/ 420 h 2048"/>
                      <a:gd name="T76" fmla="*/ 240 w 2048"/>
                      <a:gd name="T77" fmla="*/ 360 h 2048"/>
                      <a:gd name="T78" fmla="*/ 420 w 2048"/>
                      <a:gd name="T79" fmla="*/ 600 h 2048"/>
                      <a:gd name="T80" fmla="*/ 600 w 2048"/>
                      <a:gd name="T81" fmla="*/ 360 h 2048"/>
                      <a:gd name="T82" fmla="*/ 848 w 2048"/>
                      <a:gd name="T83" fmla="*/ 420 h 2048"/>
                      <a:gd name="T84" fmla="*/ 1208 w 2048"/>
                      <a:gd name="T85" fmla="*/ 420 h 2048"/>
                      <a:gd name="T86" fmla="*/ 1448 w 2048"/>
                      <a:gd name="T87" fmla="*/ 360 h 2048"/>
                      <a:gd name="T88" fmla="*/ 1628 w 2048"/>
                      <a:gd name="T89" fmla="*/ 600 h 2048"/>
                      <a:gd name="T90" fmla="*/ 1808 w 2048"/>
                      <a:gd name="T91" fmla="*/ 360 h 2048"/>
                      <a:gd name="T92" fmla="*/ 1928 w 2048"/>
                      <a:gd name="T93" fmla="*/ 42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48" h="2048">
                        <a:moveTo>
                          <a:pt x="1868" y="240"/>
                        </a:moveTo>
                        <a:cubicBezTo>
                          <a:pt x="1808" y="240"/>
                          <a:pt x="1808" y="240"/>
                          <a:pt x="1808" y="240"/>
                        </a:cubicBezTo>
                        <a:cubicBezTo>
                          <a:pt x="1808" y="180"/>
                          <a:pt x="1808" y="180"/>
                          <a:pt x="1808" y="180"/>
                        </a:cubicBezTo>
                        <a:cubicBezTo>
                          <a:pt x="1808" y="81"/>
                          <a:pt x="1727" y="0"/>
                          <a:pt x="1628" y="0"/>
                        </a:cubicBezTo>
                        <a:cubicBezTo>
                          <a:pt x="1529" y="0"/>
                          <a:pt x="1448" y="81"/>
                          <a:pt x="1448" y="180"/>
                        </a:cubicBezTo>
                        <a:cubicBezTo>
                          <a:pt x="1448" y="240"/>
                          <a:pt x="1448" y="240"/>
                          <a:pt x="1448" y="240"/>
                        </a:cubicBezTo>
                        <a:cubicBezTo>
                          <a:pt x="1208" y="240"/>
                          <a:pt x="1208" y="240"/>
                          <a:pt x="1208" y="240"/>
                        </a:cubicBezTo>
                        <a:cubicBezTo>
                          <a:pt x="1208" y="180"/>
                          <a:pt x="1208" y="180"/>
                          <a:pt x="1208" y="180"/>
                        </a:cubicBezTo>
                        <a:cubicBezTo>
                          <a:pt x="1208" y="81"/>
                          <a:pt x="1127" y="0"/>
                          <a:pt x="1028" y="0"/>
                        </a:cubicBezTo>
                        <a:cubicBezTo>
                          <a:pt x="929" y="0"/>
                          <a:pt x="848" y="81"/>
                          <a:pt x="848" y="180"/>
                        </a:cubicBezTo>
                        <a:cubicBezTo>
                          <a:pt x="848" y="240"/>
                          <a:pt x="848" y="240"/>
                          <a:pt x="848" y="240"/>
                        </a:cubicBezTo>
                        <a:cubicBezTo>
                          <a:pt x="600" y="240"/>
                          <a:pt x="600" y="240"/>
                          <a:pt x="600" y="240"/>
                        </a:cubicBezTo>
                        <a:cubicBezTo>
                          <a:pt x="600" y="180"/>
                          <a:pt x="600" y="180"/>
                          <a:pt x="600" y="180"/>
                        </a:cubicBezTo>
                        <a:cubicBezTo>
                          <a:pt x="600" y="81"/>
                          <a:pt x="519" y="0"/>
                          <a:pt x="420" y="0"/>
                        </a:cubicBezTo>
                        <a:cubicBezTo>
                          <a:pt x="321" y="0"/>
                          <a:pt x="240" y="81"/>
                          <a:pt x="240" y="180"/>
                        </a:cubicBezTo>
                        <a:cubicBezTo>
                          <a:pt x="240" y="240"/>
                          <a:pt x="240" y="240"/>
                          <a:pt x="240" y="240"/>
                        </a:cubicBezTo>
                        <a:cubicBezTo>
                          <a:pt x="180" y="240"/>
                          <a:pt x="180" y="240"/>
                          <a:pt x="180" y="240"/>
                        </a:cubicBezTo>
                        <a:cubicBezTo>
                          <a:pt x="81" y="240"/>
                          <a:pt x="0" y="321"/>
                          <a:pt x="0" y="420"/>
                        </a:cubicBezTo>
                        <a:cubicBezTo>
                          <a:pt x="0" y="1748"/>
                          <a:pt x="0" y="1748"/>
                          <a:pt x="0" y="1748"/>
                        </a:cubicBezTo>
                        <a:cubicBezTo>
                          <a:pt x="0" y="1847"/>
                          <a:pt x="81" y="1928"/>
                          <a:pt x="180" y="1928"/>
                        </a:cubicBezTo>
                        <a:cubicBezTo>
                          <a:pt x="1169" y="1928"/>
                          <a:pt x="1169" y="1928"/>
                          <a:pt x="1169" y="1928"/>
                        </a:cubicBezTo>
                        <a:cubicBezTo>
                          <a:pt x="1262" y="2003"/>
                          <a:pt x="1380" y="2048"/>
                          <a:pt x="1508" y="2048"/>
                        </a:cubicBezTo>
                        <a:cubicBezTo>
                          <a:pt x="1806" y="2048"/>
                          <a:pt x="2048" y="1806"/>
                          <a:pt x="2048" y="1508"/>
                        </a:cubicBezTo>
                        <a:cubicBezTo>
                          <a:pt x="2048" y="420"/>
                          <a:pt x="2048" y="420"/>
                          <a:pt x="2048" y="420"/>
                        </a:cubicBezTo>
                        <a:cubicBezTo>
                          <a:pt x="2048" y="321"/>
                          <a:pt x="1967" y="240"/>
                          <a:pt x="1868" y="240"/>
                        </a:cubicBezTo>
                        <a:close/>
                        <a:moveTo>
                          <a:pt x="1568" y="180"/>
                        </a:moveTo>
                        <a:cubicBezTo>
                          <a:pt x="1568" y="147"/>
                          <a:pt x="1595" y="120"/>
                          <a:pt x="1628" y="120"/>
                        </a:cubicBezTo>
                        <a:cubicBezTo>
                          <a:pt x="1661" y="120"/>
                          <a:pt x="1688" y="147"/>
                          <a:pt x="1688" y="180"/>
                        </a:cubicBezTo>
                        <a:cubicBezTo>
                          <a:pt x="1688" y="420"/>
                          <a:pt x="1688" y="420"/>
                          <a:pt x="1688" y="420"/>
                        </a:cubicBezTo>
                        <a:cubicBezTo>
                          <a:pt x="1688" y="453"/>
                          <a:pt x="1661" y="480"/>
                          <a:pt x="1628" y="480"/>
                        </a:cubicBezTo>
                        <a:cubicBezTo>
                          <a:pt x="1595" y="480"/>
                          <a:pt x="1568" y="453"/>
                          <a:pt x="1568" y="420"/>
                        </a:cubicBezTo>
                        <a:lnTo>
                          <a:pt x="1568" y="180"/>
                        </a:lnTo>
                        <a:close/>
                        <a:moveTo>
                          <a:pt x="968" y="300"/>
                        </a:moveTo>
                        <a:cubicBezTo>
                          <a:pt x="968" y="300"/>
                          <a:pt x="968" y="300"/>
                          <a:pt x="968" y="300"/>
                        </a:cubicBezTo>
                        <a:cubicBezTo>
                          <a:pt x="968" y="300"/>
                          <a:pt x="968" y="300"/>
                          <a:pt x="968" y="300"/>
                        </a:cubicBezTo>
                        <a:cubicBezTo>
                          <a:pt x="968" y="180"/>
                          <a:pt x="968" y="180"/>
                          <a:pt x="968" y="180"/>
                        </a:cubicBezTo>
                        <a:cubicBezTo>
                          <a:pt x="968" y="147"/>
                          <a:pt x="995" y="120"/>
                          <a:pt x="1028" y="120"/>
                        </a:cubicBezTo>
                        <a:cubicBezTo>
                          <a:pt x="1061" y="120"/>
                          <a:pt x="1088" y="147"/>
                          <a:pt x="1088" y="180"/>
                        </a:cubicBezTo>
                        <a:cubicBezTo>
                          <a:pt x="1088" y="420"/>
                          <a:pt x="1088" y="420"/>
                          <a:pt x="1088" y="420"/>
                        </a:cubicBezTo>
                        <a:cubicBezTo>
                          <a:pt x="1088" y="453"/>
                          <a:pt x="1061" y="480"/>
                          <a:pt x="1028" y="480"/>
                        </a:cubicBezTo>
                        <a:cubicBezTo>
                          <a:pt x="995" y="480"/>
                          <a:pt x="968" y="453"/>
                          <a:pt x="968" y="420"/>
                        </a:cubicBezTo>
                        <a:lnTo>
                          <a:pt x="968" y="300"/>
                        </a:lnTo>
                        <a:close/>
                        <a:moveTo>
                          <a:pt x="360" y="180"/>
                        </a:moveTo>
                        <a:cubicBezTo>
                          <a:pt x="360" y="147"/>
                          <a:pt x="387" y="120"/>
                          <a:pt x="420" y="120"/>
                        </a:cubicBezTo>
                        <a:cubicBezTo>
                          <a:pt x="453" y="120"/>
                          <a:pt x="480" y="147"/>
                          <a:pt x="480" y="180"/>
                        </a:cubicBezTo>
                        <a:cubicBezTo>
                          <a:pt x="480" y="420"/>
                          <a:pt x="480" y="420"/>
                          <a:pt x="480" y="420"/>
                        </a:cubicBezTo>
                        <a:cubicBezTo>
                          <a:pt x="480" y="453"/>
                          <a:pt x="453" y="480"/>
                          <a:pt x="420" y="480"/>
                        </a:cubicBezTo>
                        <a:cubicBezTo>
                          <a:pt x="387" y="480"/>
                          <a:pt x="360" y="453"/>
                          <a:pt x="360" y="420"/>
                        </a:cubicBezTo>
                        <a:lnTo>
                          <a:pt x="360" y="180"/>
                        </a:lnTo>
                        <a:close/>
                        <a:moveTo>
                          <a:pt x="1508" y="1928"/>
                        </a:moveTo>
                        <a:cubicBezTo>
                          <a:pt x="1276" y="1928"/>
                          <a:pt x="1088" y="1740"/>
                          <a:pt x="1088" y="1508"/>
                        </a:cubicBezTo>
                        <a:cubicBezTo>
                          <a:pt x="1088" y="1276"/>
                          <a:pt x="1276" y="1088"/>
                          <a:pt x="1508" y="1088"/>
                        </a:cubicBezTo>
                        <a:cubicBezTo>
                          <a:pt x="1740" y="1088"/>
                          <a:pt x="1928" y="1276"/>
                          <a:pt x="1928" y="1508"/>
                        </a:cubicBezTo>
                        <a:cubicBezTo>
                          <a:pt x="1928" y="1740"/>
                          <a:pt x="1740" y="1928"/>
                          <a:pt x="1508" y="1928"/>
                        </a:cubicBezTo>
                        <a:close/>
                        <a:moveTo>
                          <a:pt x="1928" y="1169"/>
                        </a:moveTo>
                        <a:cubicBezTo>
                          <a:pt x="1829" y="1046"/>
                          <a:pt x="1677" y="968"/>
                          <a:pt x="1508" y="968"/>
                        </a:cubicBezTo>
                        <a:cubicBezTo>
                          <a:pt x="1378" y="968"/>
                          <a:pt x="1259" y="1014"/>
                          <a:pt x="1166" y="1091"/>
                        </a:cubicBezTo>
                        <a:cubicBezTo>
                          <a:pt x="1160" y="1089"/>
                          <a:pt x="1154" y="1088"/>
                          <a:pt x="1148" y="1088"/>
                        </a:cubicBezTo>
                        <a:cubicBezTo>
                          <a:pt x="908" y="1088"/>
                          <a:pt x="908" y="1088"/>
                          <a:pt x="908" y="1088"/>
                        </a:cubicBezTo>
                        <a:cubicBezTo>
                          <a:pt x="875" y="1088"/>
                          <a:pt x="848" y="1115"/>
                          <a:pt x="848" y="1148"/>
                        </a:cubicBezTo>
                        <a:cubicBezTo>
                          <a:pt x="848" y="1181"/>
                          <a:pt x="875" y="1208"/>
                          <a:pt x="908" y="1208"/>
                        </a:cubicBezTo>
                        <a:cubicBezTo>
                          <a:pt x="1059" y="1208"/>
                          <a:pt x="1059" y="1208"/>
                          <a:pt x="1059" y="1208"/>
                        </a:cubicBezTo>
                        <a:cubicBezTo>
                          <a:pt x="1012" y="1278"/>
                          <a:pt x="981" y="1360"/>
                          <a:pt x="971" y="1448"/>
                        </a:cubicBezTo>
                        <a:cubicBezTo>
                          <a:pt x="908" y="1448"/>
                          <a:pt x="908" y="1448"/>
                          <a:pt x="908" y="1448"/>
                        </a:cubicBezTo>
                        <a:cubicBezTo>
                          <a:pt x="875" y="1448"/>
                          <a:pt x="848" y="1475"/>
                          <a:pt x="848" y="1508"/>
                        </a:cubicBezTo>
                        <a:cubicBezTo>
                          <a:pt x="848" y="1541"/>
                          <a:pt x="875" y="1568"/>
                          <a:pt x="908" y="1568"/>
                        </a:cubicBezTo>
                        <a:cubicBezTo>
                          <a:pt x="971" y="1568"/>
                          <a:pt x="971" y="1568"/>
                          <a:pt x="971" y="1568"/>
                        </a:cubicBezTo>
                        <a:cubicBezTo>
                          <a:pt x="981" y="1656"/>
                          <a:pt x="1012" y="1738"/>
                          <a:pt x="1059" y="1808"/>
                        </a:cubicBezTo>
                        <a:cubicBezTo>
                          <a:pt x="180" y="1808"/>
                          <a:pt x="180" y="1808"/>
                          <a:pt x="180" y="1808"/>
                        </a:cubicBezTo>
                        <a:cubicBezTo>
                          <a:pt x="147" y="1808"/>
                          <a:pt x="120" y="1781"/>
                          <a:pt x="120" y="1748"/>
                        </a:cubicBezTo>
                        <a:cubicBezTo>
                          <a:pt x="120" y="848"/>
                          <a:pt x="120" y="848"/>
                          <a:pt x="120" y="848"/>
                        </a:cubicBezTo>
                        <a:cubicBezTo>
                          <a:pt x="1928" y="848"/>
                          <a:pt x="1928" y="848"/>
                          <a:pt x="1928" y="848"/>
                        </a:cubicBezTo>
                        <a:lnTo>
                          <a:pt x="1928" y="1169"/>
                        </a:lnTo>
                        <a:close/>
                        <a:moveTo>
                          <a:pt x="1928" y="728"/>
                        </a:moveTo>
                        <a:cubicBezTo>
                          <a:pt x="120" y="728"/>
                          <a:pt x="120" y="728"/>
                          <a:pt x="120" y="728"/>
                        </a:cubicBezTo>
                        <a:cubicBezTo>
                          <a:pt x="120" y="420"/>
                          <a:pt x="120" y="420"/>
                          <a:pt x="120" y="420"/>
                        </a:cubicBezTo>
                        <a:cubicBezTo>
                          <a:pt x="120" y="387"/>
                          <a:pt x="147" y="360"/>
                          <a:pt x="180" y="360"/>
                        </a:cubicBezTo>
                        <a:cubicBezTo>
                          <a:pt x="240" y="360"/>
                          <a:pt x="240" y="360"/>
                          <a:pt x="240" y="360"/>
                        </a:cubicBezTo>
                        <a:cubicBezTo>
                          <a:pt x="240" y="420"/>
                          <a:pt x="240" y="420"/>
                          <a:pt x="240" y="420"/>
                        </a:cubicBezTo>
                        <a:cubicBezTo>
                          <a:pt x="240" y="519"/>
                          <a:pt x="321" y="600"/>
                          <a:pt x="420" y="600"/>
                        </a:cubicBezTo>
                        <a:cubicBezTo>
                          <a:pt x="519" y="600"/>
                          <a:pt x="600" y="519"/>
                          <a:pt x="600" y="420"/>
                        </a:cubicBezTo>
                        <a:cubicBezTo>
                          <a:pt x="600" y="360"/>
                          <a:pt x="600" y="360"/>
                          <a:pt x="600" y="360"/>
                        </a:cubicBezTo>
                        <a:cubicBezTo>
                          <a:pt x="848" y="360"/>
                          <a:pt x="848" y="360"/>
                          <a:pt x="848" y="360"/>
                        </a:cubicBezTo>
                        <a:cubicBezTo>
                          <a:pt x="848" y="420"/>
                          <a:pt x="848" y="420"/>
                          <a:pt x="848" y="420"/>
                        </a:cubicBezTo>
                        <a:cubicBezTo>
                          <a:pt x="848" y="519"/>
                          <a:pt x="929" y="600"/>
                          <a:pt x="1028" y="600"/>
                        </a:cubicBezTo>
                        <a:cubicBezTo>
                          <a:pt x="1127" y="600"/>
                          <a:pt x="1208" y="519"/>
                          <a:pt x="1208" y="420"/>
                        </a:cubicBezTo>
                        <a:cubicBezTo>
                          <a:pt x="1208" y="360"/>
                          <a:pt x="1208" y="360"/>
                          <a:pt x="1208" y="360"/>
                        </a:cubicBezTo>
                        <a:cubicBezTo>
                          <a:pt x="1448" y="360"/>
                          <a:pt x="1448" y="360"/>
                          <a:pt x="1448" y="360"/>
                        </a:cubicBezTo>
                        <a:cubicBezTo>
                          <a:pt x="1448" y="420"/>
                          <a:pt x="1448" y="420"/>
                          <a:pt x="1448" y="420"/>
                        </a:cubicBezTo>
                        <a:cubicBezTo>
                          <a:pt x="1448" y="519"/>
                          <a:pt x="1529" y="600"/>
                          <a:pt x="1628" y="600"/>
                        </a:cubicBezTo>
                        <a:cubicBezTo>
                          <a:pt x="1727" y="600"/>
                          <a:pt x="1808" y="519"/>
                          <a:pt x="1808" y="420"/>
                        </a:cubicBezTo>
                        <a:cubicBezTo>
                          <a:pt x="1808" y="360"/>
                          <a:pt x="1808" y="360"/>
                          <a:pt x="1808" y="360"/>
                        </a:cubicBezTo>
                        <a:cubicBezTo>
                          <a:pt x="1868" y="360"/>
                          <a:pt x="1868" y="360"/>
                          <a:pt x="1868" y="360"/>
                        </a:cubicBezTo>
                        <a:cubicBezTo>
                          <a:pt x="1901" y="360"/>
                          <a:pt x="1928" y="387"/>
                          <a:pt x="1928" y="420"/>
                        </a:cubicBezTo>
                        <a:lnTo>
                          <a:pt x="1928" y="7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100" name="Straight Connector 99"/>
              <p:cNvCxnSpPr>
                <a:cxnSpLocks/>
              </p:cNvCxnSpPr>
              <p:nvPr/>
            </p:nvCxnSpPr>
            <p:spPr>
              <a:xfrm>
                <a:off x="9282183" y="1695026"/>
                <a:ext cx="0" cy="80395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8" name="Group 127"/>
              <p:cNvGrpSpPr/>
              <p:nvPr/>
            </p:nvGrpSpPr>
            <p:grpSpPr>
              <a:xfrm>
                <a:off x="8653729" y="1574753"/>
                <a:ext cx="328034" cy="859542"/>
                <a:chOff x="8653730" y="1574753"/>
                <a:chExt cx="328034" cy="859542"/>
              </a:xfrm>
            </p:grpSpPr>
            <p:sp>
              <p:nvSpPr>
                <p:cNvPr id="99" name="TextBox 98"/>
                <p:cNvSpPr txBox="1"/>
                <p:nvPr/>
              </p:nvSpPr>
              <p:spPr>
                <a:xfrm>
                  <a:off x="8654302" y="1574753"/>
                  <a:ext cx="327462" cy="215444"/>
                </a:xfrm>
                <a:prstGeom prst="rect">
                  <a:avLst/>
                </a:prstGeom>
                <a:noFill/>
              </p:spPr>
              <p:txBody>
                <a:bodyPr wrap="none" lIns="0" tIns="0" rIns="0" bIns="0" rtlCol="0">
                  <a:spAutoFit/>
                </a:bodyPr>
                <a:lstStyle/>
                <a:p>
                  <a:r>
                    <a:rPr lang="en-US" sz="1400" b="1" dirty="0">
                      <a:solidFill>
                        <a:schemeClr val="bg1"/>
                      </a:solidFill>
                    </a:rPr>
                    <a:t>Year</a:t>
                  </a:r>
                </a:p>
              </p:txBody>
            </p:sp>
            <p:grpSp>
              <p:nvGrpSpPr>
                <p:cNvPr id="125" name="Group 124"/>
                <p:cNvGrpSpPr/>
                <p:nvPr/>
              </p:nvGrpSpPr>
              <p:grpSpPr>
                <a:xfrm>
                  <a:off x="8653730" y="1883425"/>
                  <a:ext cx="302391" cy="550870"/>
                  <a:chOff x="8447180" y="1883425"/>
                  <a:chExt cx="302391" cy="550870"/>
                </a:xfrm>
              </p:grpSpPr>
              <p:sp>
                <p:nvSpPr>
                  <p:cNvPr id="106" name="TextBox 105"/>
                  <p:cNvSpPr txBox="1"/>
                  <p:nvPr/>
                </p:nvSpPr>
                <p:spPr>
                  <a:xfrm>
                    <a:off x="8459427" y="1883425"/>
                    <a:ext cx="290144" cy="184666"/>
                  </a:xfrm>
                  <a:prstGeom prst="rect">
                    <a:avLst/>
                  </a:prstGeom>
                  <a:noFill/>
                </p:spPr>
                <p:txBody>
                  <a:bodyPr wrap="none" lIns="0" tIns="0" rIns="0" bIns="0" rtlCol="0">
                    <a:spAutoFit/>
                  </a:bodyPr>
                  <a:lstStyle/>
                  <a:p>
                    <a:r>
                      <a:rPr lang="en-US" sz="1200" dirty="0">
                        <a:solidFill>
                          <a:schemeClr val="bg1"/>
                        </a:solidFill>
                      </a:rPr>
                      <a:t>2013</a:t>
                    </a:r>
                  </a:p>
                </p:txBody>
              </p:sp>
              <p:sp>
                <p:nvSpPr>
                  <p:cNvPr id="120" name="TextBox 119"/>
                  <p:cNvSpPr txBox="1"/>
                  <p:nvPr/>
                </p:nvSpPr>
                <p:spPr>
                  <a:xfrm>
                    <a:off x="8447180" y="2249629"/>
                    <a:ext cx="293350" cy="184666"/>
                  </a:xfrm>
                  <a:prstGeom prst="rect">
                    <a:avLst/>
                  </a:prstGeom>
                  <a:noFill/>
                </p:spPr>
                <p:txBody>
                  <a:bodyPr wrap="none" lIns="0" tIns="0" rIns="0" bIns="0" rtlCol="0">
                    <a:spAutoFit/>
                  </a:bodyPr>
                  <a:lstStyle/>
                  <a:p>
                    <a:r>
                      <a:rPr lang="en-US" sz="1200" dirty="0">
                        <a:solidFill>
                          <a:schemeClr val="bg1"/>
                        </a:solidFill>
                      </a:rPr>
                      <a:t>2014</a:t>
                    </a:r>
                  </a:p>
                </p:txBody>
              </p:sp>
            </p:grpSp>
          </p:grpSp>
          <p:grpSp>
            <p:nvGrpSpPr>
              <p:cNvPr id="129" name="Group 128"/>
              <p:cNvGrpSpPr/>
              <p:nvPr/>
            </p:nvGrpSpPr>
            <p:grpSpPr>
              <a:xfrm>
                <a:off x="9421061" y="1585120"/>
                <a:ext cx="1053594" cy="816070"/>
                <a:chOff x="9421062" y="1585120"/>
                <a:chExt cx="1053594" cy="816070"/>
              </a:xfrm>
            </p:grpSpPr>
            <p:sp>
              <p:nvSpPr>
                <p:cNvPr id="95" name="TextBox 94"/>
                <p:cNvSpPr txBox="1"/>
                <p:nvPr/>
              </p:nvSpPr>
              <p:spPr>
                <a:xfrm>
                  <a:off x="9421062" y="1585120"/>
                  <a:ext cx="416717" cy="215444"/>
                </a:xfrm>
                <a:prstGeom prst="rect">
                  <a:avLst/>
                </a:prstGeom>
                <a:noFill/>
              </p:spPr>
              <p:txBody>
                <a:bodyPr wrap="none" lIns="0" tIns="0" rIns="0" bIns="0" rtlCol="0">
                  <a:spAutoFit/>
                </a:bodyPr>
                <a:lstStyle/>
                <a:p>
                  <a:r>
                    <a:rPr lang="en-US" sz="1400" b="1" dirty="0">
                      <a:solidFill>
                        <a:schemeClr val="bg1"/>
                      </a:solidFill>
                    </a:rPr>
                    <a:t>Week</a:t>
                  </a:r>
                </a:p>
              </p:txBody>
            </p:sp>
            <p:grpSp>
              <p:nvGrpSpPr>
                <p:cNvPr id="126" name="Group 125"/>
                <p:cNvGrpSpPr/>
                <p:nvPr/>
              </p:nvGrpSpPr>
              <p:grpSpPr>
                <a:xfrm>
                  <a:off x="9564559" y="1862664"/>
                  <a:ext cx="910097" cy="538526"/>
                  <a:chOff x="9522440" y="1862664"/>
                  <a:chExt cx="910097" cy="538526"/>
                </a:xfrm>
              </p:grpSpPr>
              <p:sp>
                <p:nvSpPr>
                  <p:cNvPr id="107" name="TextBox 106"/>
                  <p:cNvSpPr txBox="1"/>
                  <p:nvPr/>
                </p:nvSpPr>
                <p:spPr>
                  <a:xfrm>
                    <a:off x="9580003" y="1869628"/>
                    <a:ext cx="54502" cy="184666"/>
                  </a:xfrm>
                  <a:prstGeom prst="rect">
                    <a:avLst/>
                  </a:prstGeom>
                  <a:noFill/>
                </p:spPr>
                <p:txBody>
                  <a:bodyPr wrap="none" lIns="0" tIns="0" rIns="0" bIns="0" rtlCol="0">
                    <a:spAutoFit/>
                  </a:bodyPr>
                  <a:lstStyle/>
                  <a:p>
                    <a:r>
                      <a:rPr lang="en-US" sz="1200" dirty="0">
                        <a:solidFill>
                          <a:schemeClr val="bg1"/>
                        </a:solidFill>
                      </a:rPr>
                      <a:t>1</a:t>
                    </a:r>
                  </a:p>
                </p:txBody>
              </p:sp>
              <p:sp>
                <p:nvSpPr>
                  <p:cNvPr id="108" name="TextBox 107"/>
                  <p:cNvSpPr txBox="1"/>
                  <p:nvPr/>
                </p:nvSpPr>
                <p:spPr>
                  <a:xfrm>
                    <a:off x="9522440" y="2216524"/>
                    <a:ext cx="157094" cy="184666"/>
                  </a:xfrm>
                  <a:prstGeom prst="rect">
                    <a:avLst/>
                  </a:prstGeom>
                  <a:noFill/>
                </p:spPr>
                <p:txBody>
                  <a:bodyPr wrap="none" lIns="0" tIns="0" rIns="0" bIns="0" rtlCol="0">
                    <a:spAutoFit/>
                  </a:bodyPr>
                  <a:lstStyle/>
                  <a:p>
                    <a:r>
                      <a:rPr lang="en-US" sz="1200" dirty="0">
                        <a:solidFill>
                          <a:schemeClr val="bg1"/>
                        </a:solidFill>
                      </a:rPr>
                      <a:t>35</a:t>
                    </a:r>
                  </a:p>
                </p:txBody>
              </p:sp>
              <p:sp>
                <p:nvSpPr>
                  <p:cNvPr id="109" name="TextBox 108"/>
                  <p:cNvSpPr txBox="1"/>
                  <p:nvPr/>
                </p:nvSpPr>
                <p:spPr>
                  <a:xfrm>
                    <a:off x="10210906" y="1862664"/>
                    <a:ext cx="157094" cy="184666"/>
                  </a:xfrm>
                  <a:prstGeom prst="rect">
                    <a:avLst/>
                  </a:prstGeom>
                  <a:noFill/>
                </p:spPr>
                <p:txBody>
                  <a:bodyPr wrap="none" lIns="0" tIns="0" rIns="0" bIns="0" rtlCol="0">
                    <a:spAutoFit/>
                  </a:bodyPr>
                  <a:lstStyle/>
                  <a:p>
                    <a:r>
                      <a:rPr lang="en-US" sz="1200" dirty="0">
                        <a:solidFill>
                          <a:schemeClr val="bg1"/>
                        </a:solidFill>
                      </a:rPr>
                      <a:t>23</a:t>
                    </a:r>
                  </a:p>
                </p:txBody>
              </p:sp>
              <p:sp>
                <p:nvSpPr>
                  <p:cNvPr id="121" name="TextBox 120"/>
                  <p:cNvSpPr txBox="1"/>
                  <p:nvPr/>
                </p:nvSpPr>
                <p:spPr>
                  <a:xfrm>
                    <a:off x="10142393" y="2216524"/>
                    <a:ext cx="290144" cy="184666"/>
                  </a:xfrm>
                  <a:prstGeom prst="rect">
                    <a:avLst/>
                  </a:prstGeom>
                  <a:noFill/>
                </p:spPr>
                <p:txBody>
                  <a:bodyPr wrap="none" lIns="0" tIns="0" rIns="0" bIns="0" rtlCol="0">
                    <a:spAutoFit/>
                  </a:bodyPr>
                  <a:lstStyle/>
                  <a:p>
                    <a:r>
                      <a:rPr lang="en-US" sz="1200" dirty="0">
                        <a:solidFill>
                          <a:schemeClr val="bg1"/>
                        </a:solidFill>
                      </a:rPr>
                      <a:t>9381</a:t>
                    </a:r>
                  </a:p>
                </p:txBody>
              </p:sp>
            </p:grpSp>
          </p:grpSp>
        </p:grpSp>
        <p:grpSp>
          <p:nvGrpSpPr>
            <p:cNvPr id="155" name="Group 154"/>
            <p:cNvGrpSpPr/>
            <p:nvPr/>
          </p:nvGrpSpPr>
          <p:grpSpPr>
            <a:xfrm>
              <a:off x="8293784" y="909911"/>
              <a:ext cx="3312642" cy="2536782"/>
              <a:chOff x="8594812" y="909911"/>
              <a:chExt cx="3312642" cy="2536782"/>
            </a:xfrm>
          </p:grpSpPr>
          <p:sp>
            <p:nvSpPr>
              <p:cNvPr id="146" name="Rectangle 145"/>
              <p:cNvSpPr/>
              <p:nvPr/>
            </p:nvSpPr>
            <p:spPr>
              <a:xfrm>
                <a:off x="8594812" y="1313186"/>
                <a:ext cx="3312642" cy="2133507"/>
              </a:xfrm>
              <a:prstGeom prst="rect">
                <a:avLst/>
              </a:prstGeom>
              <a:gradFill flip="none" rotWithShape="1">
                <a:gsLst>
                  <a:gs pos="100000">
                    <a:srgbClr val="667181">
                      <a:alpha val="0"/>
                    </a:srgbClr>
                  </a:gs>
                  <a:gs pos="54000">
                    <a:srgbClr val="939CA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7" name="Group 146"/>
              <p:cNvGrpSpPr/>
              <p:nvPr/>
            </p:nvGrpSpPr>
            <p:grpSpPr>
              <a:xfrm>
                <a:off x="9926921" y="909911"/>
                <a:ext cx="648489" cy="648489"/>
                <a:chOff x="3752994" y="2076676"/>
                <a:chExt cx="702967" cy="702967"/>
              </a:xfrm>
            </p:grpSpPr>
            <p:sp>
              <p:nvSpPr>
                <p:cNvPr id="148" name="Oval 147"/>
                <p:cNvSpPr/>
                <p:nvPr/>
              </p:nvSpPr>
              <p:spPr>
                <a:xfrm>
                  <a:off x="3752994" y="2076676"/>
                  <a:ext cx="702967" cy="702967"/>
                </a:xfrm>
                <a:prstGeom prst="ellipse">
                  <a:avLst/>
                </a:prstGeom>
                <a:solidFill>
                  <a:srgbClr val="BABABA"/>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9" name="Group 148"/>
                <p:cNvGrpSpPr/>
                <p:nvPr/>
              </p:nvGrpSpPr>
              <p:grpSpPr>
                <a:xfrm>
                  <a:off x="3919769" y="2340342"/>
                  <a:ext cx="369417" cy="175634"/>
                  <a:chOff x="4254500" y="2100263"/>
                  <a:chExt cx="1906588" cy="906463"/>
                </a:xfrm>
              </p:grpSpPr>
              <p:sp>
                <p:nvSpPr>
                  <p:cNvPr id="150"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1"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2"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153" name="TextBox 152"/>
              <p:cNvSpPr txBox="1"/>
              <p:nvPr/>
            </p:nvSpPr>
            <p:spPr>
              <a:xfrm>
                <a:off x="8627332" y="1617269"/>
                <a:ext cx="3085075" cy="1569660"/>
              </a:xfrm>
              <a:prstGeom prst="rect">
                <a:avLst/>
              </a:prstGeom>
              <a:noFill/>
            </p:spPr>
            <p:txBody>
              <a:bodyPr wrap="square" lIns="0" tIns="0" rIns="0" bIns="0" rtlCol="0">
                <a:spAutoFit/>
              </a:bodyPr>
              <a:lstStyle/>
              <a:p>
                <a:pPr algn="r"/>
                <a:r>
                  <a:rPr lang="en-US" sz="2000" dirty="0">
                    <a:solidFill>
                      <a:schemeClr val="bg1"/>
                    </a:solidFill>
                  </a:rPr>
                  <a:t>Weekly Retention Analysis</a:t>
                </a:r>
              </a:p>
              <a:p>
                <a:pPr algn="r"/>
                <a:endParaRPr lang="en-US" sz="2000" dirty="0">
                  <a:solidFill>
                    <a:schemeClr val="bg1"/>
                  </a:solidFill>
                </a:endParaRPr>
              </a:p>
              <a:p>
                <a:pPr algn="ctr"/>
                <a:r>
                  <a:rPr lang="en-US" sz="1400" dirty="0">
                    <a:solidFill>
                      <a:schemeClr val="bg1"/>
                    </a:solidFill>
                  </a:rPr>
                  <a:t>The weekly retention analysis</a:t>
                </a:r>
              </a:p>
              <a:p>
                <a:pPr algn="ctr"/>
                <a:r>
                  <a:rPr lang="en-US" sz="1400" dirty="0">
                    <a:solidFill>
                      <a:schemeClr val="bg1"/>
                    </a:solidFill>
                  </a:rPr>
                  <a:t>Highlights the need to retain the existing customers.</a:t>
                </a:r>
              </a:p>
              <a:p>
                <a:pPr algn="r"/>
                <a:endParaRPr lang="en-US" sz="2000" dirty="0">
                  <a:solidFill>
                    <a:schemeClr val="bg1"/>
                  </a:solidFill>
                </a:endParaRPr>
              </a:p>
            </p:txBody>
          </p:sp>
        </p:grpSp>
      </p:grpSp>
      <p:grpSp>
        <p:nvGrpSpPr>
          <p:cNvPr id="160" name="Group 159">
            <a:extLst>
              <a:ext uri="{C183D7F6-B498-43B3-948B-1728B52AA6E4}">
                <adec:decorative xmlns:adec="http://schemas.microsoft.com/office/drawing/2017/decorative" val="1"/>
              </a:ext>
            </a:extLst>
          </p:cNvPr>
          <p:cNvGrpSpPr/>
          <p:nvPr/>
        </p:nvGrpSpPr>
        <p:grpSpPr>
          <a:xfrm>
            <a:off x="867915" y="3813731"/>
            <a:ext cx="10456171" cy="2332715"/>
            <a:chOff x="867913" y="3748096"/>
            <a:chExt cx="10456171" cy="2332715"/>
          </a:xfrm>
        </p:grpSpPr>
        <p:grpSp>
          <p:nvGrpSpPr>
            <p:cNvPr id="159" name="Group 158"/>
            <p:cNvGrpSpPr/>
            <p:nvPr/>
          </p:nvGrpSpPr>
          <p:grpSpPr>
            <a:xfrm>
              <a:off x="6420243" y="3748096"/>
              <a:ext cx="4903841" cy="2332715"/>
              <a:chOff x="6420243" y="3748096"/>
              <a:chExt cx="4903841" cy="2332715"/>
            </a:xfrm>
          </p:grpSpPr>
          <p:sp>
            <p:nvSpPr>
              <p:cNvPr id="76" name="Rectangle 75"/>
              <p:cNvSpPr/>
              <p:nvPr/>
            </p:nvSpPr>
            <p:spPr>
              <a:xfrm>
                <a:off x="6420243" y="3748096"/>
                <a:ext cx="4903841" cy="2332715"/>
              </a:xfrm>
              <a:prstGeom prst="rect">
                <a:avLst/>
              </a:prstGeom>
              <a:solidFill>
                <a:srgbClr val="CFCFC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4" name="Chart 73"/>
              <p:cNvGraphicFramePr/>
              <p:nvPr>
                <p:extLst>
                  <p:ext uri="{D42A27DB-BD31-4B8C-83A1-F6EECF244321}">
                    <p14:modId xmlns:p14="http://schemas.microsoft.com/office/powerpoint/2010/main" val="3519297322"/>
                  </p:ext>
                </p:extLst>
              </p:nvPr>
            </p:nvGraphicFramePr>
            <p:xfrm>
              <a:off x="6730617" y="3884587"/>
              <a:ext cx="4572304" cy="2125215"/>
            </p:xfrm>
            <a:graphic>
              <a:graphicData uri="http://schemas.openxmlformats.org/drawingml/2006/chart">
                <c:chart xmlns:c="http://schemas.openxmlformats.org/drawingml/2006/chart" xmlns:r="http://schemas.openxmlformats.org/officeDocument/2006/relationships" r:id="rId2"/>
              </a:graphicData>
            </a:graphic>
          </p:graphicFrame>
        </p:grpSp>
        <p:grpSp>
          <p:nvGrpSpPr>
            <p:cNvPr id="158" name="Group 157"/>
            <p:cNvGrpSpPr/>
            <p:nvPr/>
          </p:nvGrpSpPr>
          <p:grpSpPr>
            <a:xfrm>
              <a:off x="867913" y="3748096"/>
              <a:ext cx="4924290" cy="2332715"/>
              <a:chOff x="867913" y="3748096"/>
              <a:chExt cx="4924290" cy="2332715"/>
            </a:xfrm>
          </p:grpSpPr>
          <p:sp>
            <p:nvSpPr>
              <p:cNvPr id="82" name="Rectangle 81"/>
              <p:cNvSpPr/>
              <p:nvPr/>
            </p:nvSpPr>
            <p:spPr>
              <a:xfrm>
                <a:off x="867913" y="3748096"/>
                <a:ext cx="4903841" cy="2332715"/>
              </a:xfrm>
              <a:prstGeom prst="rect">
                <a:avLst/>
              </a:prstGeom>
              <a:solidFill>
                <a:srgbClr val="CFCFC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9" name="Group 88"/>
              <p:cNvGrpSpPr/>
              <p:nvPr/>
            </p:nvGrpSpPr>
            <p:grpSpPr>
              <a:xfrm>
                <a:off x="1031809" y="4580194"/>
                <a:ext cx="4760394" cy="1107996"/>
                <a:chOff x="956839" y="4250293"/>
                <a:chExt cx="4760394" cy="1107996"/>
              </a:xfrm>
            </p:grpSpPr>
            <p:sp>
              <p:nvSpPr>
                <p:cNvPr id="83" name="TextBox 82"/>
                <p:cNvSpPr txBox="1"/>
                <p:nvPr/>
              </p:nvSpPr>
              <p:spPr>
                <a:xfrm>
                  <a:off x="3784011" y="4250293"/>
                  <a:ext cx="1933222" cy="1107996"/>
                </a:xfrm>
                <a:prstGeom prst="rect">
                  <a:avLst/>
                </a:prstGeom>
                <a:noFill/>
              </p:spPr>
              <p:txBody>
                <a:bodyPr wrap="none" lIns="0" tIns="0" rIns="0" bIns="0" rtlCol="0">
                  <a:spAutoFit/>
                </a:bodyPr>
                <a:lstStyle/>
                <a:p>
                  <a:r>
                    <a:rPr lang="en-US" sz="7200" b="1" dirty="0"/>
                    <a:t>4943</a:t>
                  </a:r>
                </a:p>
              </p:txBody>
            </p:sp>
            <p:cxnSp>
              <p:nvCxnSpPr>
                <p:cNvPr id="85" name="Straight Connector 84"/>
                <p:cNvCxnSpPr/>
                <p:nvPr/>
              </p:nvCxnSpPr>
              <p:spPr>
                <a:xfrm>
                  <a:off x="3664578" y="4397098"/>
                  <a:ext cx="0" cy="814387"/>
                </a:xfrm>
                <a:prstGeom prst="line">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956839" y="4311849"/>
                  <a:ext cx="2588306" cy="738664"/>
                </a:xfrm>
                <a:prstGeom prst="rect">
                  <a:avLst/>
                </a:prstGeom>
                <a:noFill/>
              </p:spPr>
              <p:txBody>
                <a:bodyPr wrap="square" lIns="0" tIns="0" rIns="0" bIns="0" rtlCol="0">
                  <a:spAutoFit/>
                </a:bodyPr>
                <a:lstStyle/>
                <a:p>
                  <a:pPr algn="r"/>
                  <a:r>
                    <a:rPr lang="en-US" sz="1600" dirty="0">
                      <a:solidFill>
                        <a:srgbClr val="30353F"/>
                      </a:solidFill>
                    </a:rPr>
                    <a:t>MacBook Pro is the highest </a:t>
                  </a:r>
                </a:p>
                <a:p>
                  <a:pPr algn="r"/>
                  <a:r>
                    <a:rPr lang="en-US" sz="1600" dirty="0">
                      <a:solidFill>
                        <a:srgbClr val="30353F"/>
                      </a:solidFill>
                    </a:rPr>
                    <a:t>Used device among the </a:t>
                  </a:r>
                </a:p>
                <a:p>
                  <a:pPr algn="r"/>
                  <a:r>
                    <a:rPr lang="en-US" sz="1600" dirty="0">
                      <a:solidFill>
                        <a:srgbClr val="30353F"/>
                      </a:solidFill>
                    </a:rPr>
                    <a:t>List of Users.</a:t>
                  </a:r>
                </a:p>
              </p:txBody>
            </p:sp>
          </p:grpSp>
          <p:sp>
            <p:nvSpPr>
              <p:cNvPr id="157" name="TextBox 156"/>
              <p:cNvSpPr txBox="1"/>
              <p:nvPr/>
            </p:nvSpPr>
            <p:spPr>
              <a:xfrm>
                <a:off x="1681665" y="3870144"/>
                <a:ext cx="3202800" cy="738664"/>
              </a:xfrm>
              <a:prstGeom prst="rect">
                <a:avLst/>
              </a:prstGeom>
              <a:noFill/>
            </p:spPr>
            <p:txBody>
              <a:bodyPr wrap="none" lIns="0" tIns="0" rIns="0" bIns="0" rtlCol="0">
                <a:spAutoFit/>
              </a:bodyPr>
              <a:lstStyle/>
              <a:p>
                <a:pPr algn="ctr">
                  <a:tabLst>
                    <a:tab pos="347663" algn="l"/>
                  </a:tabLst>
                </a:pPr>
                <a:r>
                  <a:rPr lang="en-US" sz="2400" dirty="0">
                    <a:solidFill>
                      <a:srgbClr val="30353F"/>
                    </a:solidFill>
                    <a:latin typeface="+mj-lt"/>
                  </a:rPr>
                  <a:t>Weekly Engagement </a:t>
                </a:r>
              </a:p>
              <a:p>
                <a:pPr algn="ctr">
                  <a:tabLst>
                    <a:tab pos="347663" algn="l"/>
                  </a:tabLst>
                </a:pPr>
                <a:r>
                  <a:rPr lang="en-US" sz="2400" dirty="0">
                    <a:solidFill>
                      <a:srgbClr val="30353F"/>
                    </a:solidFill>
                    <a:latin typeface="+mj-lt"/>
                  </a:rPr>
                  <a:t>Per Device</a:t>
                </a:r>
              </a:p>
            </p:txBody>
          </p:sp>
        </p:grpSp>
      </p:grpSp>
      <p:sp>
        <p:nvSpPr>
          <p:cNvPr id="62" name="TextBox 61">
            <a:extLst>
              <a:ext uri="{FF2B5EF4-FFF2-40B4-BE49-F238E27FC236}">
                <a16:creationId xmlns:a16="http://schemas.microsoft.com/office/drawing/2014/main" id="{5313BB7D-C5A8-4D5C-B6B7-D0CB9B8FB44E}"/>
              </a:ext>
            </a:extLst>
          </p:cNvPr>
          <p:cNvSpPr txBox="1"/>
          <p:nvPr/>
        </p:nvSpPr>
        <p:spPr>
          <a:xfrm>
            <a:off x="3060717" y="165381"/>
            <a:ext cx="6070573"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DATA DRIVEN 	for Case Study 2 </a:t>
            </a:r>
          </a:p>
        </p:txBody>
      </p:sp>
      <p:sp>
        <p:nvSpPr>
          <p:cNvPr id="2" name="Title 1" hidden="1">
            <a:extLst>
              <a:ext uri="{FF2B5EF4-FFF2-40B4-BE49-F238E27FC236}">
                <a16:creationId xmlns:a16="http://schemas.microsoft.com/office/drawing/2014/main" id="{622A5C56-DFFD-4557-A19C-A250AFFB1D6C}"/>
              </a:ext>
            </a:extLst>
          </p:cNvPr>
          <p:cNvSpPr>
            <a:spLocks noGrp="1"/>
          </p:cNvSpPr>
          <p:nvPr>
            <p:ph type="title"/>
          </p:nvPr>
        </p:nvSpPr>
        <p:spPr/>
        <p:txBody>
          <a:bodyPr/>
          <a:lstStyle/>
          <a:p>
            <a:r>
              <a:rPr lang="en-US" dirty="0"/>
              <a:t>Slide 6</a:t>
            </a:r>
          </a:p>
        </p:txBody>
      </p:sp>
      <p:sp>
        <p:nvSpPr>
          <p:cNvPr id="5" name="TextBox 4">
            <a:extLst>
              <a:ext uri="{FF2B5EF4-FFF2-40B4-BE49-F238E27FC236}">
                <a16:creationId xmlns:a16="http://schemas.microsoft.com/office/drawing/2014/main" id="{0BC33A2C-BDEB-7CD7-363B-747632BF7AFE}"/>
              </a:ext>
            </a:extLst>
          </p:cNvPr>
          <p:cNvSpPr txBox="1"/>
          <p:nvPr/>
        </p:nvSpPr>
        <p:spPr>
          <a:xfrm>
            <a:off x="6561056" y="1405025"/>
            <a:ext cx="592372" cy="307777"/>
          </a:xfrm>
          <a:prstGeom prst="rect">
            <a:avLst/>
          </a:prstGeom>
          <a:noFill/>
        </p:spPr>
        <p:txBody>
          <a:bodyPr wrap="square" rtlCol="0">
            <a:spAutoFit/>
          </a:bodyPr>
          <a:lstStyle/>
          <a:p>
            <a:r>
              <a:rPr lang="en-IN" sz="1400" b="1" dirty="0">
                <a:solidFill>
                  <a:schemeClr val="bg1"/>
                </a:solidFill>
              </a:rPr>
              <a:t>Users</a:t>
            </a:r>
          </a:p>
        </p:txBody>
      </p:sp>
      <p:cxnSp>
        <p:nvCxnSpPr>
          <p:cNvPr id="8" name="Straight Connector 7">
            <a:extLst>
              <a:ext uri="{FF2B5EF4-FFF2-40B4-BE49-F238E27FC236}">
                <a16:creationId xmlns:a16="http://schemas.microsoft.com/office/drawing/2014/main" id="{4D1DF62F-AB82-6D2C-4662-489C575281D8}"/>
              </a:ext>
            </a:extLst>
          </p:cNvPr>
          <p:cNvCxnSpPr/>
          <p:nvPr/>
        </p:nvCxnSpPr>
        <p:spPr>
          <a:xfrm>
            <a:off x="6440014" y="1548547"/>
            <a:ext cx="0" cy="816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8BDBE88-4BBA-8F28-67B9-B21FE50B94C9}"/>
              </a:ext>
            </a:extLst>
          </p:cNvPr>
          <p:cNvSpPr txBox="1"/>
          <p:nvPr/>
        </p:nvSpPr>
        <p:spPr>
          <a:xfrm>
            <a:off x="4911365" y="2487292"/>
            <a:ext cx="2555199" cy="400110"/>
          </a:xfrm>
          <a:prstGeom prst="rect">
            <a:avLst/>
          </a:prstGeom>
          <a:noFill/>
        </p:spPr>
        <p:txBody>
          <a:bodyPr wrap="square" rtlCol="0">
            <a:spAutoFit/>
          </a:bodyPr>
          <a:lstStyle/>
          <a:p>
            <a:r>
              <a:rPr lang="en-IN" sz="2000" dirty="0">
                <a:solidFill>
                  <a:schemeClr val="bg1"/>
                </a:solidFill>
              </a:rPr>
              <a:t>User Growth Analysis</a:t>
            </a:r>
          </a:p>
        </p:txBody>
      </p:sp>
      <p:graphicFrame>
        <p:nvGraphicFramePr>
          <p:cNvPr id="10" name="Diagram 9">
            <a:extLst>
              <a:ext uri="{FF2B5EF4-FFF2-40B4-BE49-F238E27FC236}">
                <a16:creationId xmlns:a16="http://schemas.microsoft.com/office/drawing/2014/main" id="{292E745F-E4E7-FEF3-BFE8-58416AA10B77}"/>
              </a:ext>
            </a:extLst>
          </p:cNvPr>
          <p:cNvGraphicFramePr/>
          <p:nvPr>
            <p:extLst>
              <p:ext uri="{D42A27DB-BD31-4B8C-83A1-F6EECF244321}">
                <p14:modId xmlns:p14="http://schemas.microsoft.com/office/powerpoint/2010/main" val="1688892650"/>
              </p:ext>
            </p:extLst>
          </p:nvPr>
        </p:nvGraphicFramePr>
        <p:xfrm>
          <a:off x="6857241" y="3400450"/>
          <a:ext cx="4466843" cy="33731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4DD297D5-4618-1C83-41F6-238DFB383495}"/>
              </a:ext>
            </a:extLst>
          </p:cNvPr>
          <p:cNvSpPr txBox="1"/>
          <p:nvPr/>
        </p:nvSpPr>
        <p:spPr>
          <a:xfrm>
            <a:off x="7296346" y="3813731"/>
            <a:ext cx="3733015" cy="369332"/>
          </a:xfrm>
          <a:prstGeom prst="rect">
            <a:avLst/>
          </a:prstGeom>
          <a:noFill/>
        </p:spPr>
        <p:txBody>
          <a:bodyPr wrap="square" rtlCol="0">
            <a:spAutoFit/>
          </a:bodyPr>
          <a:lstStyle/>
          <a:p>
            <a:r>
              <a:rPr lang="en-IN" dirty="0">
                <a:solidFill>
                  <a:srgbClr val="30353F"/>
                </a:solidFill>
                <a:latin typeface="+mj-lt"/>
              </a:rPr>
              <a:t>Email Engagement Analysis</a:t>
            </a:r>
          </a:p>
        </p:txBody>
      </p:sp>
    </p:spTree>
    <p:extLst>
      <p:ext uri="{BB962C8B-B14F-4D97-AF65-F5344CB8AC3E}">
        <p14:creationId xmlns:p14="http://schemas.microsoft.com/office/powerpoint/2010/main" val="198162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42B2-3388-4C0B-0896-CF4937A4295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4A310C6-6056-72B5-DB7C-88D809423FB4}"/>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A0B3DEA6-7BF8-D1A0-B767-810B767A68CD}"/>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A0A06D74-5F98-4203-A4BA-74869ACC2E79}"/>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D3BF4ED6-2CE5-E1A7-E57B-2A6F7328DC2C}"/>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A50A2680-6088-3ADB-F7EA-DD5D126C5D71}"/>
              </a:ext>
            </a:extLst>
          </p:cNvPr>
          <p:cNvSpPr txBox="1"/>
          <p:nvPr/>
        </p:nvSpPr>
        <p:spPr>
          <a:xfrm>
            <a:off x="348791" y="936691"/>
            <a:ext cx="11304141" cy="646331"/>
          </a:xfrm>
          <a:prstGeom prst="rect">
            <a:avLst/>
          </a:prstGeom>
          <a:noFill/>
        </p:spPr>
        <p:txBody>
          <a:bodyPr wrap="square" rtlCol="0">
            <a:spAutoFit/>
          </a:bodyPr>
          <a:lstStyle/>
          <a:p>
            <a:pPr algn="ctr"/>
            <a:r>
              <a:rPr lang="en-IN" sz="3600" dirty="0">
                <a:solidFill>
                  <a:schemeClr val="bg1"/>
                </a:solidFill>
              </a:rPr>
              <a:t>RESULT</a:t>
            </a:r>
          </a:p>
        </p:txBody>
      </p:sp>
      <p:sp>
        <p:nvSpPr>
          <p:cNvPr id="4" name="TextBox 3">
            <a:extLst>
              <a:ext uri="{FF2B5EF4-FFF2-40B4-BE49-F238E27FC236}">
                <a16:creationId xmlns:a16="http://schemas.microsoft.com/office/drawing/2014/main" id="{1DC6ED61-58CA-86C0-AB7E-02C75FB6D355}"/>
              </a:ext>
            </a:extLst>
          </p:cNvPr>
          <p:cNvSpPr txBox="1"/>
          <p:nvPr/>
        </p:nvSpPr>
        <p:spPr>
          <a:xfrm>
            <a:off x="11840066" y="6476214"/>
            <a:ext cx="499621" cy="369332"/>
          </a:xfrm>
          <a:prstGeom prst="rect">
            <a:avLst/>
          </a:prstGeom>
          <a:noFill/>
        </p:spPr>
        <p:txBody>
          <a:bodyPr wrap="square" rtlCol="0">
            <a:spAutoFit/>
          </a:bodyPr>
          <a:lstStyle/>
          <a:p>
            <a:r>
              <a:rPr lang="en-IN" dirty="0">
                <a:solidFill>
                  <a:schemeClr val="bg1"/>
                </a:solidFill>
              </a:rPr>
              <a:t>44</a:t>
            </a:r>
          </a:p>
        </p:txBody>
      </p:sp>
      <p:sp>
        <p:nvSpPr>
          <p:cNvPr id="8" name="TextBox 7">
            <a:extLst>
              <a:ext uri="{FF2B5EF4-FFF2-40B4-BE49-F238E27FC236}">
                <a16:creationId xmlns:a16="http://schemas.microsoft.com/office/drawing/2014/main" id="{BD3F5BB8-27E7-7ADE-6979-BE8AC5DCCEC2}"/>
              </a:ext>
            </a:extLst>
          </p:cNvPr>
          <p:cNvSpPr txBox="1"/>
          <p:nvPr/>
        </p:nvSpPr>
        <p:spPr>
          <a:xfrm>
            <a:off x="612742" y="1923068"/>
            <a:ext cx="10708850" cy="4401205"/>
          </a:xfrm>
          <a:prstGeom prst="rect">
            <a:avLst/>
          </a:prstGeom>
          <a:solidFill>
            <a:schemeClr val="accent4">
              <a:lumMod val="20000"/>
              <a:lumOff val="80000"/>
            </a:schemeClr>
          </a:solidFill>
        </p:spPr>
        <p:txBody>
          <a:bodyPr wrap="square" rtlCol="0">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The “Operation Analytics and Investigating Metric Spike” project has helped me to gain hands-on experience in various important skills, such as importing a huge dataset in MySQL Workbench. This project has helped me to understand the use of queries in SQL. The use of creating a database and then sorting the data into various tables helps to clean the data. Data cleaning is a very important step in Data Analysis. It helps us to neatly organise the data. This organised data can then be used to find out certain valuable hidden insights in the collected raw data.</a:t>
            </a:r>
          </a:p>
          <a:p>
            <a:r>
              <a:rPr lang="en-IN" sz="2800" dirty="0">
                <a:latin typeface="Calibri" panose="020F0502020204030204" pitchFamily="34" charset="0"/>
                <a:ea typeface="Calibri" panose="020F0502020204030204" pitchFamily="34" charset="0"/>
                <a:cs typeface="Calibri" panose="020F0502020204030204" pitchFamily="34" charset="0"/>
              </a:rPr>
              <a:t>In the first case study, the amount of data was small, but this case study was mainly focused on the time management aspect of a company. </a:t>
            </a:r>
            <a:endParaRPr lang="en-IN" dirty="0"/>
          </a:p>
        </p:txBody>
      </p:sp>
      <p:sp>
        <p:nvSpPr>
          <p:cNvPr id="9" name="TextBox 8">
            <a:extLst>
              <a:ext uri="{FF2B5EF4-FFF2-40B4-BE49-F238E27FC236}">
                <a16:creationId xmlns:a16="http://schemas.microsoft.com/office/drawing/2014/main" id="{675CDDD3-F1CD-15D5-9153-75FFC9479580}"/>
              </a:ext>
            </a:extLst>
          </p:cNvPr>
          <p:cNvSpPr txBox="1"/>
          <p:nvPr/>
        </p:nvSpPr>
        <p:spPr>
          <a:xfrm>
            <a:off x="3011078" y="112278"/>
            <a:ext cx="6169842" cy="646331"/>
          </a:xfrm>
          <a:prstGeom prst="rect">
            <a:avLst/>
          </a:prstGeom>
          <a:noFill/>
        </p:spPr>
        <p:txBody>
          <a:bodyPr wrap="square">
            <a:spAutoFit/>
          </a:bodyPr>
          <a:lstStyle/>
          <a:p>
            <a:pPr algn="ctr"/>
            <a:r>
              <a:rPr lang="en-US" b="1" dirty="0">
                <a:solidFill>
                  <a:schemeClr val="bg1"/>
                </a:solidFill>
              </a:rPr>
              <a:t>Project 3</a:t>
            </a:r>
            <a:r>
              <a:rPr lang="en-US" b="1" u="sng" dirty="0">
                <a:solidFill>
                  <a:schemeClr val="bg1"/>
                </a:solidFill>
              </a:rPr>
              <a:t>: </a:t>
            </a:r>
            <a:r>
              <a:rPr lang="en-US" b="1" dirty="0">
                <a:solidFill>
                  <a:schemeClr val="bg1"/>
                </a:solidFill>
              </a:rPr>
              <a:t>Operation Analytics and Investigating Metric Spike</a:t>
            </a:r>
          </a:p>
          <a:p>
            <a:pPr algn="ctr"/>
            <a:endParaRPr lang="en-IN" sz="1800" b="1" u="sng" dirty="0">
              <a:solidFill>
                <a:schemeClr val="bg1"/>
              </a:solidFill>
            </a:endParaRPr>
          </a:p>
        </p:txBody>
      </p:sp>
    </p:spTree>
    <p:extLst>
      <p:ext uri="{BB962C8B-B14F-4D97-AF65-F5344CB8AC3E}">
        <p14:creationId xmlns:p14="http://schemas.microsoft.com/office/powerpoint/2010/main" val="1735899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EFD0B-68AD-5457-9DA1-11844168F27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133F68-F79A-9715-6CF1-E806B2E124B5}"/>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416CAAC3-B270-FEE1-E0D7-6819082F0418}"/>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219F3D31-F3DA-42FB-9FF1-6379C952B472}"/>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7CA1354C-DF07-34EA-E97C-86BB2485324E}"/>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208DA5EF-1E81-B4E3-90AD-ADDD7A4504D7}"/>
              </a:ext>
            </a:extLst>
          </p:cNvPr>
          <p:cNvSpPr txBox="1"/>
          <p:nvPr/>
        </p:nvSpPr>
        <p:spPr>
          <a:xfrm>
            <a:off x="348791" y="936691"/>
            <a:ext cx="11304141" cy="646331"/>
          </a:xfrm>
          <a:prstGeom prst="rect">
            <a:avLst/>
          </a:prstGeom>
          <a:noFill/>
        </p:spPr>
        <p:txBody>
          <a:bodyPr wrap="square" rtlCol="0">
            <a:spAutoFit/>
          </a:bodyPr>
          <a:lstStyle/>
          <a:p>
            <a:pPr algn="ctr"/>
            <a:r>
              <a:rPr lang="en-IN" sz="3600" dirty="0">
                <a:solidFill>
                  <a:schemeClr val="bg1"/>
                </a:solidFill>
              </a:rPr>
              <a:t>RESULT</a:t>
            </a:r>
          </a:p>
        </p:txBody>
      </p:sp>
      <p:sp>
        <p:nvSpPr>
          <p:cNvPr id="10" name="TextBox 9">
            <a:extLst>
              <a:ext uri="{FF2B5EF4-FFF2-40B4-BE49-F238E27FC236}">
                <a16:creationId xmlns:a16="http://schemas.microsoft.com/office/drawing/2014/main" id="{FC3CC1C9-6901-4FF4-3DE7-A8EA2F0BC4EA}"/>
              </a:ext>
            </a:extLst>
          </p:cNvPr>
          <p:cNvSpPr txBox="1"/>
          <p:nvPr/>
        </p:nvSpPr>
        <p:spPr>
          <a:xfrm>
            <a:off x="3011078" y="112278"/>
            <a:ext cx="6169842" cy="646331"/>
          </a:xfrm>
          <a:prstGeom prst="rect">
            <a:avLst/>
          </a:prstGeom>
          <a:noFill/>
        </p:spPr>
        <p:txBody>
          <a:bodyPr wrap="square">
            <a:spAutoFit/>
          </a:bodyPr>
          <a:lstStyle/>
          <a:p>
            <a:pPr algn="ctr"/>
            <a:r>
              <a:rPr lang="en-US" b="1" dirty="0">
                <a:solidFill>
                  <a:schemeClr val="bg1"/>
                </a:solidFill>
              </a:rPr>
              <a:t>Project 3</a:t>
            </a:r>
            <a:r>
              <a:rPr lang="en-US" b="1" u="sng" dirty="0">
                <a:solidFill>
                  <a:schemeClr val="bg1"/>
                </a:solidFill>
              </a:rPr>
              <a:t>: </a:t>
            </a:r>
            <a:r>
              <a:rPr lang="en-US" b="1" dirty="0">
                <a:solidFill>
                  <a:schemeClr val="bg1"/>
                </a:solidFill>
              </a:rPr>
              <a:t>Operation Analytics and Investigating Metric Spike</a:t>
            </a:r>
          </a:p>
          <a:p>
            <a:pPr algn="ctr"/>
            <a:endParaRPr lang="en-IN" sz="1800" b="1" u="sng" dirty="0">
              <a:solidFill>
                <a:schemeClr val="bg1"/>
              </a:solidFill>
            </a:endParaRPr>
          </a:p>
        </p:txBody>
      </p:sp>
      <p:sp>
        <p:nvSpPr>
          <p:cNvPr id="4" name="TextBox 3">
            <a:extLst>
              <a:ext uri="{FF2B5EF4-FFF2-40B4-BE49-F238E27FC236}">
                <a16:creationId xmlns:a16="http://schemas.microsoft.com/office/drawing/2014/main" id="{46BBEEE8-D88A-3CDF-3A3A-52051D8A6079}"/>
              </a:ext>
            </a:extLst>
          </p:cNvPr>
          <p:cNvSpPr txBox="1"/>
          <p:nvPr/>
        </p:nvSpPr>
        <p:spPr>
          <a:xfrm>
            <a:off x="11840066" y="6476214"/>
            <a:ext cx="499621" cy="369332"/>
          </a:xfrm>
          <a:prstGeom prst="rect">
            <a:avLst/>
          </a:prstGeom>
          <a:noFill/>
        </p:spPr>
        <p:txBody>
          <a:bodyPr wrap="square" rtlCol="0">
            <a:spAutoFit/>
          </a:bodyPr>
          <a:lstStyle/>
          <a:p>
            <a:r>
              <a:rPr lang="en-IN" dirty="0">
                <a:solidFill>
                  <a:schemeClr val="bg1"/>
                </a:solidFill>
              </a:rPr>
              <a:t>45</a:t>
            </a:r>
          </a:p>
        </p:txBody>
      </p:sp>
      <p:sp>
        <p:nvSpPr>
          <p:cNvPr id="8" name="TextBox 7">
            <a:extLst>
              <a:ext uri="{FF2B5EF4-FFF2-40B4-BE49-F238E27FC236}">
                <a16:creationId xmlns:a16="http://schemas.microsoft.com/office/drawing/2014/main" id="{16034EB0-2938-5887-A882-6849E29106C7}"/>
              </a:ext>
            </a:extLst>
          </p:cNvPr>
          <p:cNvSpPr txBox="1"/>
          <p:nvPr/>
        </p:nvSpPr>
        <p:spPr>
          <a:xfrm>
            <a:off x="612742" y="1923068"/>
            <a:ext cx="10708850" cy="4093428"/>
          </a:xfrm>
          <a:prstGeom prst="rect">
            <a:avLst/>
          </a:prstGeom>
          <a:solidFill>
            <a:schemeClr val="accent4">
              <a:lumMod val="20000"/>
              <a:lumOff val="80000"/>
            </a:schemeClr>
          </a:solidFill>
        </p:spPr>
        <p:txBody>
          <a:bodyPr wrap="square" rtlCol="0">
            <a:spAutoFit/>
          </a:bodyPr>
          <a:lstStyle/>
          <a:p>
            <a:endParaRPr lang="en-IN" dirty="0"/>
          </a:p>
          <a:p>
            <a:r>
              <a:rPr lang="en-IN" sz="2800" dirty="0">
                <a:latin typeface="Calibri" panose="020F0502020204030204" pitchFamily="34" charset="0"/>
                <a:ea typeface="Calibri" panose="020F0502020204030204" pitchFamily="34" charset="0"/>
                <a:cs typeface="Calibri" panose="020F0502020204030204" pitchFamily="34" charset="0"/>
              </a:rPr>
              <a:t>The jobs reviewed per hour and 7-day rolling average show the amount of work being done per hour. This can be useful to understand the current rate at which work is being done and identify further improvements needed. The percentage of languages used gives us important insight into the communication process of the employees, which can help increase employee satisfaction. This case study also prompts to find out duplicate rows in the data, as the data might not always be properly cleaned and sorted.</a:t>
            </a:r>
          </a:p>
          <a:p>
            <a:endParaRPr lang="en-IN" dirty="0"/>
          </a:p>
        </p:txBody>
      </p:sp>
    </p:spTree>
    <p:extLst>
      <p:ext uri="{BB962C8B-B14F-4D97-AF65-F5344CB8AC3E}">
        <p14:creationId xmlns:p14="http://schemas.microsoft.com/office/powerpoint/2010/main" val="1840570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984A2-E7AF-D9EF-F243-C2DEA8E2276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2DADF82-B310-F157-AA81-1E3B7430C9E0}"/>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0D150A9C-D1F7-899F-8691-BA417BD5F347}"/>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775C484E-38E2-7A4C-770B-90E3ECE3A58D}"/>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40E178F5-8C87-E052-564F-2A308BF66E5C}"/>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EB6271C9-2301-D2BA-EE8E-951F682C42A9}"/>
              </a:ext>
            </a:extLst>
          </p:cNvPr>
          <p:cNvSpPr txBox="1"/>
          <p:nvPr/>
        </p:nvSpPr>
        <p:spPr>
          <a:xfrm>
            <a:off x="348791" y="936691"/>
            <a:ext cx="11304141" cy="646331"/>
          </a:xfrm>
          <a:prstGeom prst="rect">
            <a:avLst/>
          </a:prstGeom>
          <a:noFill/>
        </p:spPr>
        <p:txBody>
          <a:bodyPr wrap="square" rtlCol="0">
            <a:spAutoFit/>
          </a:bodyPr>
          <a:lstStyle/>
          <a:p>
            <a:pPr algn="ctr"/>
            <a:r>
              <a:rPr lang="en-IN" sz="3600" dirty="0">
                <a:solidFill>
                  <a:schemeClr val="bg1"/>
                </a:solidFill>
              </a:rPr>
              <a:t>RESULT</a:t>
            </a:r>
          </a:p>
        </p:txBody>
      </p:sp>
      <p:sp>
        <p:nvSpPr>
          <p:cNvPr id="4" name="TextBox 3">
            <a:extLst>
              <a:ext uri="{FF2B5EF4-FFF2-40B4-BE49-F238E27FC236}">
                <a16:creationId xmlns:a16="http://schemas.microsoft.com/office/drawing/2014/main" id="{A8BAE63B-8E90-D788-FF41-4F2D320BEBEF}"/>
              </a:ext>
            </a:extLst>
          </p:cNvPr>
          <p:cNvSpPr txBox="1"/>
          <p:nvPr/>
        </p:nvSpPr>
        <p:spPr>
          <a:xfrm>
            <a:off x="11840066" y="6476214"/>
            <a:ext cx="499621" cy="369332"/>
          </a:xfrm>
          <a:prstGeom prst="rect">
            <a:avLst/>
          </a:prstGeom>
          <a:noFill/>
        </p:spPr>
        <p:txBody>
          <a:bodyPr wrap="square" rtlCol="0">
            <a:spAutoFit/>
          </a:bodyPr>
          <a:lstStyle/>
          <a:p>
            <a:r>
              <a:rPr lang="en-IN" dirty="0">
                <a:solidFill>
                  <a:schemeClr val="bg1"/>
                </a:solidFill>
              </a:rPr>
              <a:t>46</a:t>
            </a:r>
          </a:p>
        </p:txBody>
      </p:sp>
      <p:sp>
        <p:nvSpPr>
          <p:cNvPr id="8" name="TextBox 7">
            <a:extLst>
              <a:ext uri="{FF2B5EF4-FFF2-40B4-BE49-F238E27FC236}">
                <a16:creationId xmlns:a16="http://schemas.microsoft.com/office/drawing/2014/main" id="{C43843D6-DEE8-B38D-2C48-9BCF6658B571}"/>
              </a:ext>
            </a:extLst>
          </p:cNvPr>
          <p:cNvSpPr txBox="1"/>
          <p:nvPr/>
        </p:nvSpPr>
        <p:spPr>
          <a:xfrm>
            <a:off x="612742" y="1923068"/>
            <a:ext cx="10708850" cy="3970318"/>
          </a:xfrm>
          <a:prstGeom prst="rect">
            <a:avLst/>
          </a:prstGeom>
          <a:solidFill>
            <a:schemeClr val="accent4">
              <a:lumMod val="20000"/>
              <a:lumOff val="80000"/>
            </a:schemeClr>
          </a:solidFill>
        </p:spPr>
        <p:txBody>
          <a:bodyPr wrap="square" rtlCol="0">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In the second case study, the users’ data is given. It mainly focuses on finding out insights such as Weekly User Engagement, for measuring activeness of a user on a weekly basis. We also find out the growth of users overtime and weekly retention of users is necessary to find out how many users the company is able to retain The weekly engagement per device metric helps to find out the device majorly used by the users. Email engagement analysis gives insight into how users are engaging with the email service.</a:t>
            </a:r>
          </a:p>
          <a:p>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4B6C21A7-3EBC-9417-D7D7-DCB978EACD39}"/>
              </a:ext>
            </a:extLst>
          </p:cNvPr>
          <p:cNvSpPr txBox="1"/>
          <p:nvPr/>
        </p:nvSpPr>
        <p:spPr>
          <a:xfrm>
            <a:off x="3011078" y="112278"/>
            <a:ext cx="6169842" cy="646331"/>
          </a:xfrm>
          <a:prstGeom prst="rect">
            <a:avLst/>
          </a:prstGeom>
          <a:noFill/>
        </p:spPr>
        <p:txBody>
          <a:bodyPr wrap="square">
            <a:spAutoFit/>
          </a:bodyPr>
          <a:lstStyle/>
          <a:p>
            <a:pPr algn="ctr"/>
            <a:r>
              <a:rPr lang="en-US" b="1" dirty="0">
                <a:solidFill>
                  <a:schemeClr val="bg1"/>
                </a:solidFill>
              </a:rPr>
              <a:t>Project 3</a:t>
            </a:r>
            <a:r>
              <a:rPr lang="en-US" b="1" u="sng" dirty="0">
                <a:solidFill>
                  <a:schemeClr val="bg1"/>
                </a:solidFill>
              </a:rPr>
              <a:t>: </a:t>
            </a:r>
            <a:r>
              <a:rPr lang="en-US" b="1" dirty="0">
                <a:solidFill>
                  <a:schemeClr val="bg1"/>
                </a:solidFill>
              </a:rPr>
              <a:t>Operation Analytics and Investigating Metric Spike</a:t>
            </a:r>
          </a:p>
          <a:p>
            <a:pPr algn="ctr"/>
            <a:endParaRPr lang="en-IN" sz="1800" b="1" u="sng" dirty="0">
              <a:solidFill>
                <a:schemeClr val="bg1"/>
              </a:solidFill>
            </a:endParaRPr>
          </a:p>
        </p:txBody>
      </p:sp>
    </p:spTree>
    <p:extLst>
      <p:ext uri="{BB962C8B-B14F-4D97-AF65-F5344CB8AC3E}">
        <p14:creationId xmlns:p14="http://schemas.microsoft.com/office/powerpoint/2010/main" val="21545746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CFEE-A430-74CA-2888-8E7036A583A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1E81AA0-B830-9D37-8808-36D0256D8FA1}"/>
              </a:ext>
            </a:extLst>
          </p:cNvPr>
          <p:cNvPicPr>
            <a:picLocks noChangeAspect="1"/>
          </p:cNvPicPr>
          <p:nvPr/>
        </p:nvPicPr>
        <p:blipFill>
          <a:blip r:embed="rId2"/>
          <a:stretch>
            <a:fillRect/>
          </a:stretch>
        </p:blipFill>
        <p:spPr>
          <a:xfrm>
            <a:off x="0" y="0"/>
            <a:ext cx="12192000" cy="785149"/>
          </a:xfrm>
          <a:prstGeom prst="rect">
            <a:avLst/>
          </a:prstGeom>
        </p:spPr>
      </p:pic>
      <p:pic>
        <p:nvPicPr>
          <p:cNvPr id="5" name="Picture 4">
            <a:extLst>
              <a:ext uri="{FF2B5EF4-FFF2-40B4-BE49-F238E27FC236}">
                <a16:creationId xmlns:a16="http://schemas.microsoft.com/office/drawing/2014/main" id="{88935442-2B48-4C2D-B868-2D1EA97C3C62}"/>
              </a:ext>
            </a:extLst>
          </p:cNvPr>
          <p:cNvPicPr>
            <a:picLocks noChangeAspect="1"/>
          </p:cNvPicPr>
          <p:nvPr/>
        </p:nvPicPr>
        <p:blipFill>
          <a:blip r:embed="rId3"/>
          <a:stretch>
            <a:fillRect/>
          </a:stretch>
        </p:blipFill>
        <p:spPr>
          <a:xfrm>
            <a:off x="0" y="1"/>
            <a:ext cx="12192000" cy="785148"/>
          </a:xfrm>
          <a:prstGeom prst="rect">
            <a:avLst/>
          </a:prstGeom>
        </p:spPr>
      </p:pic>
      <p:pic>
        <p:nvPicPr>
          <p:cNvPr id="2" name="Picture 1">
            <a:extLst>
              <a:ext uri="{FF2B5EF4-FFF2-40B4-BE49-F238E27FC236}">
                <a16:creationId xmlns:a16="http://schemas.microsoft.com/office/drawing/2014/main" id="{FBDA2AE3-D019-84D8-298D-1876B7BAFE8E}"/>
              </a:ext>
            </a:extLst>
          </p:cNvPr>
          <p:cNvPicPr>
            <a:picLocks noChangeAspect="1"/>
          </p:cNvPicPr>
          <p:nvPr/>
        </p:nvPicPr>
        <p:blipFill>
          <a:blip r:embed="rId4"/>
          <a:stretch>
            <a:fillRect/>
          </a:stretch>
        </p:blipFill>
        <p:spPr>
          <a:xfrm>
            <a:off x="-1" y="936691"/>
            <a:ext cx="12192000" cy="587358"/>
          </a:xfrm>
          <a:prstGeom prst="rect">
            <a:avLst/>
          </a:prstGeom>
        </p:spPr>
      </p:pic>
      <p:sp>
        <p:nvSpPr>
          <p:cNvPr id="3" name="Freeform 1">
            <a:extLst>
              <a:ext uri="{FF2B5EF4-FFF2-40B4-BE49-F238E27FC236}">
                <a16:creationId xmlns:a16="http://schemas.microsoft.com/office/drawing/2014/main" id="{E4469E96-FA0E-868A-CC25-4987A0949DAB}"/>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7" name="TextBox 6">
            <a:extLst>
              <a:ext uri="{FF2B5EF4-FFF2-40B4-BE49-F238E27FC236}">
                <a16:creationId xmlns:a16="http://schemas.microsoft.com/office/drawing/2014/main" id="{C6494748-3B70-17DA-3BE3-21BCD929D708}"/>
              </a:ext>
            </a:extLst>
          </p:cNvPr>
          <p:cNvSpPr txBox="1"/>
          <p:nvPr/>
        </p:nvSpPr>
        <p:spPr>
          <a:xfrm>
            <a:off x="348791" y="936691"/>
            <a:ext cx="11304141" cy="646331"/>
          </a:xfrm>
          <a:prstGeom prst="rect">
            <a:avLst/>
          </a:prstGeom>
          <a:noFill/>
        </p:spPr>
        <p:txBody>
          <a:bodyPr wrap="square" rtlCol="0">
            <a:spAutoFit/>
          </a:bodyPr>
          <a:lstStyle/>
          <a:p>
            <a:pPr algn="ctr"/>
            <a:r>
              <a:rPr lang="en-IN" sz="3600" dirty="0">
                <a:solidFill>
                  <a:schemeClr val="bg1"/>
                </a:solidFill>
              </a:rPr>
              <a:t>RESULT</a:t>
            </a:r>
          </a:p>
        </p:txBody>
      </p:sp>
      <p:sp>
        <p:nvSpPr>
          <p:cNvPr id="4" name="TextBox 3">
            <a:extLst>
              <a:ext uri="{FF2B5EF4-FFF2-40B4-BE49-F238E27FC236}">
                <a16:creationId xmlns:a16="http://schemas.microsoft.com/office/drawing/2014/main" id="{64784486-A1E0-F1A0-EA31-FDB94C6B83CC}"/>
              </a:ext>
            </a:extLst>
          </p:cNvPr>
          <p:cNvSpPr txBox="1"/>
          <p:nvPr/>
        </p:nvSpPr>
        <p:spPr>
          <a:xfrm>
            <a:off x="11840066" y="6476214"/>
            <a:ext cx="499621" cy="369332"/>
          </a:xfrm>
          <a:prstGeom prst="rect">
            <a:avLst/>
          </a:prstGeom>
          <a:noFill/>
        </p:spPr>
        <p:txBody>
          <a:bodyPr wrap="square" rtlCol="0">
            <a:spAutoFit/>
          </a:bodyPr>
          <a:lstStyle/>
          <a:p>
            <a:r>
              <a:rPr lang="en-IN" dirty="0">
                <a:solidFill>
                  <a:schemeClr val="bg1"/>
                </a:solidFill>
              </a:rPr>
              <a:t>47</a:t>
            </a:r>
          </a:p>
        </p:txBody>
      </p:sp>
      <p:sp>
        <p:nvSpPr>
          <p:cNvPr id="8" name="TextBox 7">
            <a:extLst>
              <a:ext uri="{FF2B5EF4-FFF2-40B4-BE49-F238E27FC236}">
                <a16:creationId xmlns:a16="http://schemas.microsoft.com/office/drawing/2014/main" id="{4F738FEC-3679-AE76-C4AA-25CED58135DC}"/>
              </a:ext>
            </a:extLst>
          </p:cNvPr>
          <p:cNvSpPr txBox="1"/>
          <p:nvPr/>
        </p:nvSpPr>
        <p:spPr>
          <a:xfrm>
            <a:off x="612742" y="1923068"/>
            <a:ext cx="10708850" cy="3970318"/>
          </a:xfrm>
          <a:prstGeom prst="rect">
            <a:avLst/>
          </a:prstGeom>
          <a:solidFill>
            <a:schemeClr val="accent4">
              <a:lumMod val="20000"/>
              <a:lumOff val="80000"/>
            </a:schemeClr>
          </a:solidFill>
        </p:spPr>
        <p:txBody>
          <a:bodyPr wrap="square" rtlCol="0">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For me, the most challenging part of the project was to change the datetime format of the given data. Eventually, I was able to find out the process with the help of which the datetime format was converted into the date and time format accepted by SQL. Firstly, I had to create a temporary column, then put criteria for the format of date and time, and then again insert the correctly obtained data into the existing datetime column. This process felt hard at first but after repeating it for other tables, I found it to be a very useful skill to have been learnt. </a:t>
            </a:r>
          </a:p>
          <a:p>
            <a:endParaRPr lang="en-IN" sz="2800" dirty="0"/>
          </a:p>
        </p:txBody>
      </p:sp>
      <p:sp>
        <p:nvSpPr>
          <p:cNvPr id="9" name="TextBox 8">
            <a:extLst>
              <a:ext uri="{FF2B5EF4-FFF2-40B4-BE49-F238E27FC236}">
                <a16:creationId xmlns:a16="http://schemas.microsoft.com/office/drawing/2014/main" id="{E7DE9FA5-10F7-76D5-52D9-BE49BD8E346F}"/>
              </a:ext>
            </a:extLst>
          </p:cNvPr>
          <p:cNvSpPr txBox="1"/>
          <p:nvPr/>
        </p:nvSpPr>
        <p:spPr>
          <a:xfrm>
            <a:off x="3011078" y="112278"/>
            <a:ext cx="6169842" cy="646331"/>
          </a:xfrm>
          <a:prstGeom prst="rect">
            <a:avLst/>
          </a:prstGeom>
          <a:noFill/>
        </p:spPr>
        <p:txBody>
          <a:bodyPr wrap="square">
            <a:spAutoFit/>
          </a:bodyPr>
          <a:lstStyle/>
          <a:p>
            <a:pPr algn="ctr"/>
            <a:r>
              <a:rPr lang="en-US" b="1" dirty="0">
                <a:solidFill>
                  <a:schemeClr val="bg1"/>
                </a:solidFill>
              </a:rPr>
              <a:t>Project 3</a:t>
            </a:r>
            <a:r>
              <a:rPr lang="en-US" b="1" u="sng" dirty="0">
                <a:solidFill>
                  <a:schemeClr val="bg1"/>
                </a:solidFill>
              </a:rPr>
              <a:t>: </a:t>
            </a:r>
            <a:r>
              <a:rPr lang="en-US" b="1" dirty="0">
                <a:solidFill>
                  <a:schemeClr val="bg1"/>
                </a:solidFill>
              </a:rPr>
              <a:t>Operation Analytics and Investigating Metric Spike</a:t>
            </a:r>
          </a:p>
          <a:p>
            <a:pPr algn="ctr"/>
            <a:endParaRPr lang="en-IN" sz="1800" b="1" u="sng" dirty="0">
              <a:solidFill>
                <a:schemeClr val="bg1"/>
              </a:solidFill>
            </a:endParaRPr>
          </a:p>
        </p:txBody>
      </p:sp>
    </p:spTree>
    <p:extLst>
      <p:ext uri="{BB962C8B-B14F-4D97-AF65-F5344CB8AC3E}">
        <p14:creationId xmlns:p14="http://schemas.microsoft.com/office/powerpoint/2010/main" val="38439730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0" y="2"/>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2000" h="6857999">
                <a:moveTo>
                  <a:pt x="0" y="0"/>
                </a:moveTo>
                <a:lnTo>
                  <a:pt x="12192000" y="0"/>
                </a:lnTo>
                <a:lnTo>
                  <a:pt x="12192000" y="6857999"/>
                </a:lnTo>
                <a:lnTo>
                  <a:pt x="0" y="6857999"/>
                </a:lnTo>
                <a:close/>
              </a:path>
            </a:pathLst>
          </a:custGeom>
        </p:spPr>
      </p:pic>
      <p:sp>
        <p:nvSpPr>
          <p:cNvPr id="5" name="Rectangle 4">
            <a:extLs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0">
            <a:gsLst>
              <a:gs pos="100000">
                <a:srgbClr val="1F2229">
                  <a:alpha val="60000"/>
                </a:srgbClr>
              </a:gs>
              <a:gs pos="2000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C183D7F6-B498-43B3-948B-1728B52AA6E4}">
                <adec:decorative xmlns:adec="http://schemas.microsoft.com/office/drawing/2017/decorative" val="1"/>
              </a:ext>
            </a:extLst>
          </p:cNvPr>
          <p:cNvGrpSpPr/>
          <p:nvPr/>
        </p:nvGrpSpPr>
        <p:grpSpPr>
          <a:xfrm>
            <a:off x="2757714" y="1626921"/>
            <a:ext cx="6676572" cy="3604160"/>
            <a:chOff x="2162629" y="1305681"/>
            <a:chExt cx="7866742" cy="4246640"/>
          </a:xfrm>
        </p:grpSpPr>
        <p:sp>
          <p:nvSpPr>
            <p:cNvPr id="17" name="Oval 16"/>
            <p:cNvSpPr/>
            <p:nvPr/>
          </p:nvSpPr>
          <p:spPr>
            <a:xfrm>
              <a:off x="5782715"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2162629"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Oval 15">
            <a:extLst>
              <a:ext uri="{C183D7F6-B498-43B3-948B-1728B52AA6E4}">
                <adec:decorative xmlns:adec="http://schemas.microsoft.com/office/drawing/2017/decorative" val="1"/>
              </a:ext>
            </a:extLst>
          </p:cNvPr>
          <p:cNvSpPr/>
          <p:nvPr/>
        </p:nvSpPr>
        <p:spPr>
          <a:xfrm>
            <a:off x="3456507" y="789512"/>
            <a:ext cx="5278993" cy="5278976"/>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Oval 18">
            <a:extLst>
              <a:ext uri="{C183D7F6-B498-43B3-948B-1728B52AA6E4}">
                <adec:decorative xmlns:adec="http://schemas.microsoft.com/office/drawing/2017/decorative" val="1"/>
              </a:ext>
            </a:extLst>
          </p:cNvPr>
          <p:cNvSpPr/>
          <p:nvPr/>
        </p:nvSpPr>
        <p:spPr>
          <a:xfrm>
            <a:off x="3879010" y="1212017"/>
            <a:ext cx="4433981" cy="4433966"/>
          </a:xfrm>
          <a:prstGeom prst="ellipse">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TextBox 12"/>
          <p:cNvSpPr txBox="1"/>
          <p:nvPr/>
        </p:nvSpPr>
        <p:spPr>
          <a:xfrm>
            <a:off x="4381588" y="3059668"/>
            <a:ext cx="3428824" cy="738664"/>
          </a:xfrm>
          <a:prstGeom prst="rect">
            <a:avLst/>
          </a:prstGeom>
          <a:noFill/>
        </p:spPr>
        <p:txBody>
          <a:bodyPr wrap="none" lIns="0" tIns="0" rIns="0" bIns="0" rtlCol="0">
            <a:spAutoFit/>
          </a:bodyPr>
          <a:lstStyle/>
          <a:p>
            <a:pPr algn="ctr">
              <a:tabLst>
                <a:tab pos="347663" algn="l"/>
              </a:tabLst>
            </a:pPr>
            <a:r>
              <a:rPr lang="en-US" sz="4800" b="1" dirty="0">
                <a:solidFill>
                  <a:srgbClr val="FFFFFF"/>
                </a:solidFill>
                <a:latin typeface="+mj-lt"/>
              </a:rPr>
              <a:t>THANK YOU</a:t>
            </a:r>
          </a:p>
        </p:txBody>
      </p:sp>
      <p:sp>
        <p:nvSpPr>
          <p:cNvPr id="2" name="Title 1" hidden="1">
            <a:extLst>
              <a:ext uri="{FF2B5EF4-FFF2-40B4-BE49-F238E27FC236}">
                <a16:creationId xmlns:a16="http://schemas.microsoft.com/office/drawing/2014/main" id="{10E603A3-B905-4FE4-AF3D-7ABD07598BAD}"/>
              </a:ext>
            </a:extLst>
          </p:cNvPr>
          <p:cNvSpPr>
            <a:spLocks noGrp="1"/>
          </p:cNvSpPr>
          <p:nvPr>
            <p:ph type="title"/>
          </p:nvPr>
        </p:nvSpPr>
        <p:spPr/>
        <p:txBody>
          <a:bodyPr/>
          <a:lstStyle/>
          <a:p>
            <a:r>
              <a:rPr lang="en-US" dirty="0"/>
              <a:t>Slide 11</a:t>
            </a:r>
          </a:p>
        </p:txBody>
      </p:sp>
      <p:pic>
        <p:nvPicPr>
          <p:cNvPr id="22" name="Picture 21">
            <a:extLst>
              <a:ext uri="{FF2B5EF4-FFF2-40B4-BE49-F238E27FC236}">
                <a16:creationId xmlns:a16="http://schemas.microsoft.com/office/drawing/2014/main" id="{5ED997AC-582B-7C5A-A483-2D84C5F93352}"/>
              </a:ext>
            </a:extLst>
          </p:cNvPr>
          <p:cNvPicPr>
            <a:picLocks noChangeAspect="1"/>
          </p:cNvPicPr>
          <p:nvPr/>
        </p:nvPicPr>
        <p:blipFill>
          <a:blip r:embed="rId3"/>
          <a:stretch>
            <a:fillRect/>
          </a:stretch>
        </p:blipFill>
        <p:spPr>
          <a:xfrm>
            <a:off x="4712968" y="6070332"/>
            <a:ext cx="2766063" cy="841321"/>
          </a:xfrm>
          <a:prstGeom prst="rect">
            <a:avLst/>
          </a:prstGeom>
        </p:spPr>
      </p:pic>
    </p:spTree>
    <p:extLst>
      <p:ext uri="{BB962C8B-B14F-4D97-AF65-F5344CB8AC3E}">
        <p14:creationId xmlns:p14="http://schemas.microsoft.com/office/powerpoint/2010/main" val="334562822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odern 01">
      <a:majorFont>
        <a:latin typeface="Century Gothic"/>
        <a:ea typeface=""/>
        <a:cs typeface=""/>
      </a:majorFont>
      <a:minorFont>
        <a:latin typeface="Segoe U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crosoft_Data_Driven_Financial_Corporate.potx" id="{AF0BB5A1-6D8A-4FE6-8E42-5BDD7830AEFF}" vid="{0057B11C-41A7-4209-873B-0AFB0F6811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Data-driven PowerPoint, from 24Slides</Template>
  <TotalTime>3678</TotalTime>
  <Words>5604</Words>
  <Application>Microsoft Office PowerPoint</Application>
  <PresentationFormat>Widescreen</PresentationFormat>
  <Paragraphs>566</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Cambria</vt:lpstr>
      <vt:lpstr>Century Gothic</vt:lpstr>
      <vt:lpstr>Segoe UI Light</vt:lpstr>
      <vt:lpstr>Wingdings</vt:lpstr>
      <vt:lpstr>Office Theme</vt:lpstr>
      <vt:lpstr>Slide 1</vt:lpstr>
      <vt:lpstr>Slide 10</vt:lpstr>
      <vt:lpstr>Slide 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Slide 5</vt:lpstr>
      <vt:lpstr>Slide 6</vt:lpstr>
      <vt:lpstr>PowerPoint Presentation</vt:lpstr>
      <vt:lpstr>PowerPoint Presentation</vt:lpstr>
      <vt:lpstr>PowerPoint Presentation</vt:lpstr>
      <vt:lpstr>PowerPoint Presentation</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 k</dc:creator>
  <cp:lastModifiedBy>d k</cp:lastModifiedBy>
  <cp:revision>17</cp:revision>
  <dcterms:created xsi:type="dcterms:W3CDTF">2025-06-07T06:45:36Z</dcterms:created>
  <dcterms:modified xsi:type="dcterms:W3CDTF">2025-06-28T12:35:13Z</dcterms:modified>
</cp:coreProperties>
</file>